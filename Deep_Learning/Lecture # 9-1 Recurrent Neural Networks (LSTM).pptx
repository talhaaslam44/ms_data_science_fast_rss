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36"/>
  </p:notesMasterIdLst>
  <p:sldIdLst>
    <p:sldId id="352" r:id="rId2"/>
    <p:sldId id="421" r:id="rId3"/>
    <p:sldId id="1627" r:id="rId4"/>
    <p:sldId id="1579" r:id="rId5"/>
    <p:sldId id="1630" r:id="rId6"/>
    <p:sldId id="1638" r:id="rId7"/>
    <p:sldId id="1632" r:id="rId8"/>
    <p:sldId id="1633" r:id="rId9"/>
    <p:sldId id="1634" r:id="rId10"/>
    <p:sldId id="1639" r:id="rId11"/>
    <p:sldId id="1640" r:id="rId12"/>
    <p:sldId id="1641" r:id="rId13"/>
    <p:sldId id="296" r:id="rId14"/>
    <p:sldId id="297" r:id="rId15"/>
    <p:sldId id="298" r:id="rId16"/>
    <p:sldId id="299" r:id="rId17"/>
    <p:sldId id="1643" r:id="rId18"/>
    <p:sldId id="1774" r:id="rId19"/>
    <p:sldId id="267" r:id="rId20"/>
    <p:sldId id="1636" r:id="rId21"/>
    <p:sldId id="268" r:id="rId22"/>
    <p:sldId id="269" r:id="rId23"/>
    <p:sldId id="270" r:id="rId24"/>
    <p:sldId id="1782" r:id="rId25"/>
    <p:sldId id="257" r:id="rId26"/>
    <p:sldId id="259" r:id="rId27"/>
    <p:sldId id="260" r:id="rId28"/>
    <p:sldId id="261" r:id="rId29"/>
    <p:sldId id="263" r:id="rId30"/>
    <p:sldId id="264" r:id="rId31"/>
    <p:sldId id="265" r:id="rId32"/>
    <p:sldId id="266" r:id="rId33"/>
    <p:sldId id="308" r:id="rId34"/>
    <p:sldId id="158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>
      <p:cViewPr varScale="1">
        <p:scale>
          <a:sx n="82" d="100"/>
          <a:sy n="82" d="100"/>
        </p:scale>
        <p:origin x="850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77DDB53-96C3-4093-B51C-4C5B3489B8B1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0820-1C47-402B-A040-838C211C204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ED643-C876-498B-BE51-CE4766B4F85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5E655-8A54-4A78-A8D5-8634CDEA6CB1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ADA-2F3F-4DA6-BA1E-27E6AF6A1B46}" type="datetime1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3976-BEBC-4B69-BCAC-A43864EA7FD5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10507-2874-486F-A350-59BF52941D5F}" type="datetime1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91F9-0497-4292-90A8-1C41D64B7C5E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7BF-F5EF-41CA-877B-3B028AF27219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5D9C-FAC0-415E-8EDB-A45C78521253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A8C-1BC2-4BEC-A8C2-8E47358ABE0C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8834" y="250146"/>
            <a:ext cx="113943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2"/>
            <a:ext cx="8534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E9F4C-DAA9-4217-AD62-808740570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9DA9-637B-4177-AEF0-97C0C04A0D21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7D653-2D55-42BC-9001-D013167B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28C4A-F59F-419F-8126-1BC342FC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16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BD6FB11-A445-4D9E-8195-658B85C17E84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34" Type="http://schemas.openxmlformats.org/officeDocument/2006/relationships/image" Target="../media/image49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33" Type="http://schemas.openxmlformats.org/officeDocument/2006/relationships/image" Target="../media/image48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32" Type="http://schemas.openxmlformats.org/officeDocument/2006/relationships/image" Target="../media/image47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36" Type="http://schemas.openxmlformats.org/officeDocument/2006/relationships/image" Target="../media/image51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46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50.png"/><Relationship Id="rId8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56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55.png"/><Relationship Id="rId17" Type="http://schemas.openxmlformats.org/officeDocument/2006/relationships/image" Target="../media/image58.png"/><Relationship Id="rId2" Type="http://schemas.openxmlformats.org/officeDocument/2006/relationships/image" Target="../media/image17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54.png"/><Relationship Id="rId5" Type="http://schemas.openxmlformats.org/officeDocument/2006/relationships/image" Target="../media/image20.png"/><Relationship Id="rId15" Type="http://schemas.openxmlformats.org/officeDocument/2006/relationships/image" Target="../media/image50.png"/><Relationship Id="rId10" Type="http://schemas.openxmlformats.org/officeDocument/2006/relationships/image" Target="../media/image53.png"/><Relationship Id="rId4" Type="http://schemas.openxmlformats.org/officeDocument/2006/relationships/image" Target="../media/image19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6.png"/><Relationship Id="rId18" Type="http://schemas.openxmlformats.org/officeDocument/2006/relationships/image" Target="../media/image56.png"/><Relationship Id="rId3" Type="http://schemas.openxmlformats.org/officeDocument/2006/relationships/image" Target="../media/image18.png"/><Relationship Id="rId21" Type="http://schemas.openxmlformats.org/officeDocument/2006/relationships/image" Target="../media/image28.png"/><Relationship Id="rId7" Type="http://schemas.openxmlformats.org/officeDocument/2006/relationships/image" Target="../media/image22.png"/><Relationship Id="rId12" Type="http://schemas.openxmlformats.org/officeDocument/2006/relationships/image" Target="../media/image25.png"/><Relationship Id="rId17" Type="http://schemas.openxmlformats.org/officeDocument/2006/relationships/image" Target="../media/image60.png"/><Relationship Id="rId2" Type="http://schemas.openxmlformats.org/officeDocument/2006/relationships/image" Target="../media/image17.png"/><Relationship Id="rId16" Type="http://schemas.openxmlformats.org/officeDocument/2006/relationships/image" Target="../media/image54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5" Type="http://schemas.openxmlformats.org/officeDocument/2006/relationships/image" Target="../media/image20.png"/><Relationship Id="rId15" Type="http://schemas.openxmlformats.org/officeDocument/2006/relationships/image" Target="../media/image59.png"/><Relationship Id="rId10" Type="http://schemas.openxmlformats.org/officeDocument/2006/relationships/image" Target="../media/image51.png"/><Relationship Id="rId19" Type="http://schemas.openxmlformats.org/officeDocument/2006/relationships/image" Target="../media/image57.png"/><Relationship Id="rId4" Type="http://schemas.openxmlformats.org/officeDocument/2006/relationships/image" Target="../media/image19.png"/><Relationship Id="rId9" Type="http://schemas.openxmlformats.org/officeDocument/2006/relationships/image" Target="../media/image50.png"/><Relationship Id="rId14" Type="http://schemas.openxmlformats.org/officeDocument/2006/relationships/image" Target="../media/image52.png"/><Relationship Id="rId22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7.png"/><Relationship Id="rId18" Type="http://schemas.openxmlformats.org/officeDocument/2006/relationships/image" Target="../media/image59.png"/><Relationship Id="rId3" Type="http://schemas.openxmlformats.org/officeDocument/2006/relationships/image" Target="../media/image18.png"/><Relationship Id="rId21" Type="http://schemas.openxmlformats.org/officeDocument/2006/relationships/image" Target="../media/image56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17" Type="http://schemas.openxmlformats.org/officeDocument/2006/relationships/image" Target="../media/image29.png"/><Relationship Id="rId2" Type="http://schemas.openxmlformats.org/officeDocument/2006/relationships/image" Target="../media/image17.png"/><Relationship Id="rId16" Type="http://schemas.openxmlformats.org/officeDocument/2006/relationships/image" Target="../media/image52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51.png"/><Relationship Id="rId10" Type="http://schemas.openxmlformats.org/officeDocument/2006/relationships/image" Target="../media/image24.png"/><Relationship Id="rId19" Type="http://schemas.openxmlformats.org/officeDocument/2006/relationships/image" Target="../media/image61.png"/><Relationship Id="rId4" Type="http://schemas.openxmlformats.org/officeDocument/2006/relationships/image" Target="../media/image19.png"/><Relationship Id="rId9" Type="http://schemas.openxmlformats.org/officeDocument/2006/relationships/image" Target="../media/image50.png"/><Relationship Id="rId14" Type="http://schemas.openxmlformats.org/officeDocument/2006/relationships/image" Target="../media/image28.png"/><Relationship Id="rId22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jp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3.png"/><Relationship Id="rId18" Type="http://schemas.openxmlformats.org/officeDocument/2006/relationships/image" Target="../media/image98.png"/><Relationship Id="rId26" Type="http://schemas.openxmlformats.org/officeDocument/2006/relationships/image" Target="../media/image106.png"/><Relationship Id="rId39" Type="http://schemas.openxmlformats.org/officeDocument/2006/relationships/image" Target="../media/image119.png"/><Relationship Id="rId21" Type="http://schemas.openxmlformats.org/officeDocument/2006/relationships/image" Target="../media/image101.png"/><Relationship Id="rId34" Type="http://schemas.openxmlformats.org/officeDocument/2006/relationships/image" Target="../media/image114.png"/><Relationship Id="rId42" Type="http://schemas.openxmlformats.org/officeDocument/2006/relationships/image" Target="../media/image122.png"/><Relationship Id="rId47" Type="http://schemas.openxmlformats.org/officeDocument/2006/relationships/image" Target="../media/image127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6" Type="http://schemas.openxmlformats.org/officeDocument/2006/relationships/image" Target="../media/image96.png"/><Relationship Id="rId29" Type="http://schemas.openxmlformats.org/officeDocument/2006/relationships/image" Target="../media/image109.png"/><Relationship Id="rId11" Type="http://schemas.openxmlformats.org/officeDocument/2006/relationships/image" Target="../media/image91.png"/><Relationship Id="rId24" Type="http://schemas.openxmlformats.org/officeDocument/2006/relationships/image" Target="../media/image104.png"/><Relationship Id="rId32" Type="http://schemas.openxmlformats.org/officeDocument/2006/relationships/image" Target="../media/image112.png"/><Relationship Id="rId37" Type="http://schemas.openxmlformats.org/officeDocument/2006/relationships/image" Target="../media/image117.png"/><Relationship Id="rId40" Type="http://schemas.openxmlformats.org/officeDocument/2006/relationships/image" Target="../media/image120.png"/><Relationship Id="rId45" Type="http://schemas.openxmlformats.org/officeDocument/2006/relationships/image" Target="../media/image125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23" Type="http://schemas.openxmlformats.org/officeDocument/2006/relationships/image" Target="../media/image103.png"/><Relationship Id="rId28" Type="http://schemas.openxmlformats.org/officeDocument/2006/relationships/image" Target="../media/image108.png"/><Relationship Id="rId36" Type="http://schemas.openxmlformats.org/officeDocument/2006/relationships/image" Target="../media/image116.png"/><Relationship Id="rId49" Type="http://schemas.openxmlformats.org/officeDocument/2006/relationships/image" Target="../media/image129.png"/><Relationship Id="rId10" Type="http://schemas.openxmlformats.org/officeDocument/2006/relationships/image" Target="../media/image90.png"/><Relationship Id="rId19" Type="http://schemas.openxmlformats.org/officeDocument/2006/relationships/image" Target="../media/image99.png"/><Relationship Id="rId31" Type="http://schemas.openxmlformats.org/officeDocument/2006/relationships/image" Target="../media/image111.png"/><Relationship Id="rId44" Type="http://schemas.openxmlformats.org/officeDocument/2006/relationships/image" Target="../media/image124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Relationship Id="rId22" Type="http://schemas.openxmlformats.org/officeDocument/2006/relationships/image" Target="../media/image102.png"/><Relationship Id="rId27" Type="http://schemas.openxmlformats.org/officeDocument/2006/relationships/image" Target="../media/image107.png"/><Relationship Id="rId30" Type="http://schemas.openxmlformats.org/officeDocument/2006/relationships/image" Target="../media/image110.png"/><Relationship Id="rId35" Type="http://schemas.openxmlformats.org/officeDocument/2006/relationships/image" Target="../media/image115.png"/><Relationship Id="rId43" Type="http://schemas.openxmlformats.org/officeDocument/2006/relationships/image" Target="../media/image123.png"/><Relationship Id="rId48" Type="http://schemas.openxmlformats.org/officeDocument/2006/relationships/image" Target="../media/image128.png"/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5" Type="http://schemas.openxmlformats.org/officeDocument/2006/relationships/image" Target="../media/image105.png"/><Relationship Id="rId33" Type="http://schemas.openxmlformats.org/officeDocument/2006/relationships/image" Target="../media/image113.png"/><Relationship Id="rId38" Type="http://schemas.openxmlformats.org/officeDocument/2006/relationships/image" Target="../media/image118.png"/><Relationship Id="rId46" Type="http://schemas.openxmlformats.org/officeDocument/2006/relationships/image" Target="../media/image126.png"/><Relationship Id="rId20" Type="http://schemas.openxmlformats.org/officeDocument/2006/relationships/image" Target="../media/image100.png"/><Relationship Id="rId41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g"/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57D9-D15E-4741-AB25-3502766365B1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355841" y="840211"/>
            <a:ext cx="7239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rgbClr val="0099CC"/>
                </a:solidFill>
                <a:latin typeface="arial" panose="020B0604020202020204" pitchFamily="34" charset="0"/>
              </a:rPr>
              <a:t>The National University of Computer and Emerging Sciences</a:t>
            </a:r>
            <a:endParaRPr lang="en-US" sz="2800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400301" y="2589242"/>
            <a:ext cx="7391399" cy="72985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Recurrent </a:t>
            </a:r>
            <a:r>
              <a:rPr lang="en-US" sz="3200">
                <a:solidFill>
                  <a:schemeClr val="bg1"/>
                </a:solidFill>
              </a:rPr>
              <a:t>Neural Networks (LSTM)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 err="1">
                <a:solidFill>
                  <a:srgbClr val="002060"/>
                </a:solidFill>
                <a:latin typeface="Arial" charset="0"/>
              </a:rPr>
              <a:t>Dr.</a:t>
            </a: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 Akhtar Jamil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Computer Science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Deep Learning for Perception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53085"/>
            <a:ext cx="1864889" cy="1864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dirty="0"/>
              <a:t>Recurrent Neural Networks</a:t>
            </a:r>
          </a:p>
          <a:p>
            <a:pPr lvl="1"/>
            <a:r>
              <a:rPr lang="en-US" dirty="0"/>
              <a:t>Long-Short Term Memory (LSTM)</a:t>
            </a:r>
          </a:p>
          <a:p>
            <a:pPr lvl="1"/>
            <a:r>
              <a:rPr lang="en-US" dirty="0"/>
              <a:t>Gated Recurrent Units (GRU)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89B6-D088-4198-A947-B5BDF486B9E8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35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1" y="638453"/>
            <a:ext cx="6989920" cy="608851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z="3883" spc="-13" dirty="0"/>
              <a:t>Training RNN: Backward Pass</a:t>
            </a:r>
            <a:endParaRPr lang="en-US" sz="3883" dirty="0"/>
          </a:p>
        </p:txBody>
      </p:sp>
      <p:sp>
        <p:nvSpPr>
          <p:cNvPr id="3" name="object 3"/>
          <p:cNvSpPr/>
          <p:nvPr/>
        </p:nvSpPr>
        <p:spPr>
          <a:xfrm>
            <a:off x="3581400" y="5560360"/>
            <a:ext cx="121024" cy="1344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3824624" y="5615492"/>
            <a:ext cx="121584" cy="0"/>
          </a:xfrm>
          <a:custGeom>
            <a:avLst/>
            <a:gdLst/>
            <a:ahLst/>
            <a:cxnLst/>
            <a:rect l="l" t="t" r="r" b="b"/>
            <a:pathLst>
              <a:path w="137794">
                <a:moveTo>
                  <a:pt x="0" y="0"/>
                </a:moveTo>
                <a:lnTo>
                  <a:pt x="137541" y="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3824624" y="5658522"/>
            <a:ext cx="121584" cy="0"/>
          </a:xfrm>
          <a:custGeom>
            <a:avLst/>
            <a:gdLst/>
            <a:ahLst/>
            <a:cxnLst/>
            <a:rect l="l" t="t" r="r" b="b"/>
            <a:pathLst>
              <a:path w="137794">
                <a:moveTo>
                  <a:pt x="0" y="0"/>
                </a:moveTo>
                <a:lnTo>
                  <a:pt x="137541" y="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4027339" y="5560359"/>
            <a:ext cx="109761" cy="1344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/>
          <p:nvPr/>
        </p:nvSpPr>
        <p:spPr>
          <a:xfrm>
            <a:off x="4288716" y="5671970"/>
            <a:ext cx="29696" cy="49866"/>
          </a:xfrm>
          <a:custGeom>
            <a:avLst/>
            <a:gdLst/>
            <a:ahLst/>
            <a:cxnLst/>
            <a:rect l="l" t="t" r="r" b="b"/>
            <a:pathLst>
              <a:path w="33655" h="56514">
                <a:moveTo>
                  <a:pt x="6000" y="56388"/>
                </a:moveTo>
                <a:lnTo>
                  <a:pt x="0" y="49625"/>
                </a:lnTo>
                <a:lnTo>
                  <a:pt x="4000" y="46101"/>
                </a:lnTo>
                <a:lnTo>
                  <a:pt x="6858" y="42957"/>
                </a:lnTo>
                <a:lnTo>
                  <a:pt x="10477" y="37242"/>
                </a:lnTo>
                <a:lnTo>
                  <a:pt x="11811" y="34004"/>
                </a:lnTo>
                <a:lnTo>
                  <a:pt x="13335" y="26765"/>
                </a:lnTo>
                <a:lnTo>
                  <a:pt x="13716" y="22193"/>
                </a:lnTo>
                <a:lnTo>
                  <a:pt x="13650" y="10382"/>
                </a:lnTo>
                <a:lnTo>
                  <a:pt x="13239" y="5619"/>
                </a:lnTo>
                <a:lnTo>
                  <a:pt x="12192" y="0"/>
                </a:lnTo>
                <a:lnTo>
                  <a:pt x="31908" y="0"/>
                </a:lnTo>
                <a:lnTo>
                  <a:pt x="33051" y="5334"/>
                </a:lnTo>
                <a:lnTo>
                  <a:pt x="33528" y="10382"/>
                </a:lnTo>
                <a:lnTo>
                  <a:pt x="33528" y="20669"/>
                </a:lnTo>
                <a:lnTo>
                  <a:pt x="32670" y="25431"/>
                </a:lnTo>
                <a:lnTo>
                  <a:pt x="30861" y="29622"/>
                </a:lnTo>
                <a:lnTo>
                  <a:pt x="29051" y="33909"/>
                </a:lnTo>
                <a:lnTo>
                  <a:pt x="26193" y="38195"/>
                </a:lnTo>
                <a:lnTo>
                  <a:pt x="22193" y="42386"/>
                </a:lnTo>
                <a:lnTo>
                  <a:pt x="18288" y="46672"/>
                </a:lnTo>
                <a:lnTo>
                  <a:pt x="12858" y="51339"/>
                </a:lnTo>
                <a:lnTo>
                  <a:pt x="6000" y="56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/>
          <p:nvPr/>
        </p:nvSpPr>
        <p:spPr>
          <a:xfrm>
            <a:off x="4386880" y="5671971"/>
            <a:ext cx="20171" cy="22971"/>
          </a:xfrm>
          <a:custGeom>
            <a:avLst/>
            <a:gdLst/>
            <a:ahLst/>
            <a:cxnLst/>
            <a:rect l="l" t="t" r="r" b="b"/>
            <a:pathLst>
              <a:path w="22860" h="26035">
                <a:moveTo>
                  <a:pt x="22860" y="25908"/>
                </a:moveTo>
                <a:lnTo>
                  <a:pt x="0" y="25908"/>
                </a:lnTo>
                <a:lnTo>
                  <a:pt x="0" y="0"/>
                </a:lnTo>
                <a:lnTo>
                  <a:pt x="22860" y="0"/>
                </a:lnTo>
                <a:lnTo>
                  <a:pt x="2286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/>
          <p:nvPr/>
        </p:nvSpPr>
        <p:spPr>
          <a:xfrm>
            <a:off x="4435289" y="5671971"/>
            <a:ext cx="20171" cy="22971"/>
          </a:xfrm>
          <a:custGeom>
            <a:avLst/>
            <a:gdLst/>
            <a:ahLst/>
            <a:cxnLst/>
            <a:rect l="l" t="t" r="r" b="b"/>
            <a:pathLst>
              <a:path w="22860" h="26035">
                <a:moveTo>
                  <a:pt x="22860" y="25908"/>
                </a:moveTo>
                <a:lnTo>
                  <a:pt x="0" y="25908"/>
                </a:lnTo>
                <a:lnTo>
                  <a:pt x="0" y="0"/>
                </a:lnTo>
                <a:lnTo>
                  <a:pt x="22860" y="0"/>
                </a:lnTo>
                <a:lnTo>
                  <a:pt x="2286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/>
          <p:nvPr/>
        </p:nvSpPr>
        <p:spPr>
          <a:xfrm>
            <a:off x="4483698" y="5671971"/>
            <a:ext cx="20171" cy="22971"/>
          </a:xfrm>
          <a:custGeom>
            <a:avLst/>
            <a:gdLst/>
            <a:ahLst/>
            <a:cxnLst/>
            <a:rect l="l" t="t" r="r" b="b"/>
            <a:pathLst>
              <a:path w="22860" h="26035">
                <a:moveTo>
                  <a:pt x="22860" y="25908"/>
                </a:moveTo>
                <a:lnTo>
                  <a:pt x="0" y="25908"/>
                </a:lnTo>
                <a:lnTo>
                  <a:pt x="0" y="0"/>
                </a:lnTo>
                <a:lnTo>
                  <a:pt x="22860" y="0"/>
                </a:lnTo>
                <a:lnTo>
                  <a:pt x="2286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object 11"/>
          <p:cNvSpPr/>
          <p:nvPr/>
        </p:nvSpPr>
        <p:spPr>
          <a:xfrm>
            <a:off x="4548244" y="5671970"/>
            <a:ext cx="29696" cy="49866"/>
          </a:xfrm>
          <a:custGeom>
            <a:avLst/>
            <a:gdLst/>
            <a:ahLst/>
            <a:cxnLst/>
            <a:rect l="l" t="t" r="r" b="b"/>
            <a:pathLst>
              <a:path w="33654" h="56514">
                <a:moveTo>
                  <a:pt x="6000" y="56388"/>
                </a:moveTo>
                <a:lnTo>
                  <a:pt x="0" y="49625"/>
                </a:lnTo>
                <a:lnTo>
                  <a:pt x="4000" y="46101"/>
                </a:lnTo>
                <a:lnTo>
                  <a:pt x="6858" y="42957"/>
                </a:lnTo>
                <a:lnTo>
                  <a:pt x="10477" y="37242"/>
                </a:lnTo>
                <a:lnTo>
                  <a:pt x="11811" y="34004"/>
                </a:lnTo>
                <a:lnTo>
                  <a:pt x="13335" y="26765"/>
                </a:lnTo>
                <a:lnTo>
                  <a:pt x="13716" y="22193"/>
                </a:lnTo>
                <a:lnTo>
                  <a:pt x="13650" y="10382"/>
                </a:lnTo>
                <a:lnTo>
                  <a:pt x="13239" y="5619"/>
                </a:lnTo>
                <a:lnTo>
                  <a:pt x="12192" y="0"/>
                </a:lnTo>
                <a:lnTo>
                  <a:pt x="31908" y="0"/>
                </a:lnTo>
                <a:lnTo>
                  <a:pt x="33051" y="5334"/>
                </a:lnTo>
                <a:lnTo>
                  <a:pt x="33528" y="10382"/>
                </a:lnTo>
                <a:lnTo>
                  <a:pt x="33528" y="20669"/>
                </a:lnTo>
                <a:lnTo>
                  <a:pt x="32670" y="25431"/>
                </a:lnTo>
                <a:lnTo>
                  <a:pt x="30861" y="29622"/>
                </a:lnTo>
                <a:lnTo>
                  <a:pt x="29051" y="33909"/>
                </a:lnTo>
                <a:lnTo>
                  <a:pt x="26193" y="38195"/>
                </a:lnTo>
                <a:lnTo>
                  <a:pt x="22193" y="42386"/>
                </a:lnTo>
                <a:lnTo>
                  <a:pt x="18288" y="46672"/>
                </a:lnTo>
                <a:lnTo>
                  <a:pt x="12858" y="51339"/>
                </a:lnTo>
                <a:lnTo>
                  <a:pt x="6000" y="56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/>
          <p:nvPr/>
        </p:nvSpPr>
        <p:spPr>
          <a:xfrm>
            <a:off x="4633801" y="5560359"/>
            <a:ext cx="109761" cy="1344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3" name="object 13"/>
          <p:cNvSpPr txBox="1"/>
          <p:nvPr/>
        </p:nvSpPr>
        <p:spPr>
          <a:xfrm>
            <a:off x="2810435" y="5515860"/>
            <a:ext cx="6405282" cy="774492"/>
          </a:xfrm>
          <a:prstGeom prst="rect">
            <a:avLst/>
          </a:prstGeom>
        </p:spPr>
        <p:txBody>
          <a:bodyPr vert="horz" wrap="square" lIns="0" tIns="70597" rIns="0" bIns="0" rtlCol="0">
            <a:spAutoFit/>
          </a:bodyPr>
          <a:lstStyle/>
          <a:p>
            <a:pPr marL="56032">
              <a:spcBef>
                <a:spcPts val="556"/>
              </a:spcBef>
              <a:tabLst>
                <a:tab pos="895958" algn="l"/>
                <a:tab pos="1311718" algn="l"/>
                <a:tab pos="1917989" algn="l"/>
              </a:tabLst>
            </a:pPr>
            <a:r>
              <a:rPr sz="1588" spc="-9" dirty="0">
                <a:latin typeface="Calibri"/>
                <a:cs typeface="Calibri"/>
              </a:rPr>
              <a:t>network	</a:t>
            </a:r>
            <a:r>
              <a:rPr sz="1721" spc="92" baseline="-14957" dirty="0">
                <a:latin typeface="Bookman Old Style"/>
                <a:cs typeface="Bookman Old Style"/>
              </a:rPr>
              <a:t>i	</a:t>
            </a:r>
            <a:r>
              <a:rPr sz="1721" spc="-26" baseline="-14957" dirty="0">
                <a:latin typeface="Bookman Old Style"/>
                <a:cs typeface="Bookman Old Style"/>
              </a:rPr>
              <a:t>i,0	</a:t>
            </a:r>
            <a:r>
              <a:rPr sz="1721" spc="-6" baseline="-14957" dirty="0">
                <a:latin typeface="Bookman Old Style"/>
                <a:cs typeface="Bookman Old Style"/>
              </a:rPr>
              <a:t>i,T </a:t>
            </a:r>
            <a:r>
              <a:rPr sz="1588" dirty="0">
                <a:latin typeface="Calibri"/>
                <a:cs typeface="Calibri"/>
              </a:rPr>
              <a:t>and </a:t>
            </a:r>
            <a:r>
              <a:rPr sz="1588" spc="-4" dirty="0">
                <a:latin typeface="Calibri"/>
                <a:cs typeface="Calibri"/>
              </a:rPr>
              <a:t>the desired</a:t>
            </a:r>
            <a:r>
              <a:rPr sz="1588" spc="115" dirty="0">
                <a:latin typeface="Calibri"/>
                <a:cs typeface="Calibri"/>
              </a:rPr>
              <a:t> </a:t>
            </a:r>
            <a:r>
              <a:rPr sz="1588" spc="-4" dirty="0">
                <a:latin typeface="Calibri"/>
                <a:cs typeface="Calibri"/>
              </a:rPr>
              <a:t>outputs</a:t>
            </a:r>
            <a:endParaRPr sz="1588" dirty="0">
              <a:latin typeface="Calibri"/>
              <a:cs typeface="Calibri"/>
            </a:endParaRPr>
          </a:p>
          <a:p>
            <a:pPr marL="409596" marR="26896" indent="-253266">
              <a:spcBef>
                <a:spcPts val="393"/>
              </a:spcBef>
              <a:tabLst>
                <a:tab pos="409596" algn="l"/>
              </a:tabLst>
            </a:pPr>
            <a:r>
              <a:rPr sz="1324" dirty="0">
                <a:latin typeface="Arial"/>
                <a:cs typeface="Arial"/>
              </a:rPr>
              <a:t>–	</a:t>
            </a:r>
            <a:r>
              <a:rPr sz="1324" dirty="0">
                <a:latin typeface="Calibri"/>
                <a:cs typeface="Calibri"/>
              </a:rPr>
              <a:t>This is the </a:t>
            </a:r>
            <a:r>
              <a:rPr sz="1324" spc="-4" dirty="0">
                <a:latin typeface="Calibri"/>
                <a:cs typeface="Calibri"/>
              </a:rPr>
              <a:t>most generic </a:t>
            </a:r>
            <a:r>
              <a:rPr sz="1324" spc="-9" dirty="0">
                <a:latin typeface="Calibri"/>
                <a:cs typeface="Calibri"/>
              </a:rPr>
              <a:t>setting. </a:t>
            </a:r>
            <a:r>
              <a:rPr sz="1324" spc="-4" dirty="0">
                <a:latin typeface="Calibri"/>
                <a:cs typeface="Calibri"/>
              </a:rPr>
              <a:t>In other settings </a:t>
            </a:r>
            <a:r>
              <a:rPr sz="1324" spc="-13" dirty="0">
                <a:latin typeface="Calibri"/>
                <a:cs typeface="Calibri"/>
              </a:rPr>
              <a:t>we </a:t>
            </a:r>
            <a:r>
              <a:rPr sz="1324" spc="-4" dirty="0">
                <a:latin typeface="Calibri"/>
                <a:cs typeface="Calibri"/>
              </a:rPr>
              <a:t>just </a:t>
            </a:r>
            <a:r>
              <a:rPr sz="1324" spc="-9" dirty="0">
                <a:latin typeface="Calibri"/>
                <a:cs typeface="Calibri"/>
              </a:rPr>
              <a:t>“remove” </a:t>
            </a:r>
            <a:r>
              <a:rPr sz="1324" spc="-4" dirty="0">
                <a:latin typeface="Calibri"/>
                <a:cs typeface="Calibri"/>
              </a:rPr>
              <a:t>some </a:t>
            </a:r>
            <a:r>
              <a:rPr sz="1324" dirty="0">
                <a:latin typeface="Calibri"/>
                <a:cs typeface="Calibri"/>
              </a:rPr>
              <a:t>of </a:t>
            </a:r>
            <a:r>
              <a:rPr sz="1324" spc="-4" dirty="0">
                <a:latin typeface="Calibri"/>
                <a:cs typeface="Calibri"/>
              </a:rPr>
              <a:t>the </a:t>
            </a:r>
            <a:r>
              <a:rPr sz="1324" dirty="0">
                <a:latin typeface="Calibri"/>
                <a:cs typeface="Calibri"/>
              </a:rPr>
              <a:t>input or  output</a:t>
            </a:r>
            <a:r>
              <a:rPr sz="1324" spc="-35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entries</a:t>
            </a:r>
            <a:endParaRPr sz="1324" dirty="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45094" y="282388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/>
          <p:nvPr/>
        </p:nvSpPr>
        <p:spPr>
          <a:xfrm>
            <a:off x="3543750" y="2822537"/>
            <a:ext cx="271743" cy="273424"/>
          </a:xfrm>
          <a:custGeom>
            <a:avLst/>
            <a:gdLst/>
            <a:ahLst/>
            <a:cxnLst/>
            <a:rect l="l" t="t" r="r" b="b"/>
            <a:pathLst>
              <a:path w="307975" h="309879">
                <a:moveTo>
                  <a:pt x="306324" y="309372"/>
                </a:moveTo>
                <a:lnTo>
                  <a:pt x="0" y="309372"/>
                </a:lnTo>
                <a:lnTo>
                  <a:pt x="0" y="0"/>
                </a:lnTo>
                <a:lnTo>
                  <a:pt x="306324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4572"/>
                </a:lnTo>
                <a:lnTo>
                  <a:pt x="3048" y="4572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lnTo>
                  <a:pt x="306324" y="309372"/>
                </a:lnTo>
                <a:close/>
              </a:path>
              <a:path w="307975" h="309879">
                <a:moveTo>
                  <a:pt x="3048" y="4572"/>
                </a:moveTo>
                <a:lnTo>
                  <a:pt x="1524" y="4572"/>
                </a:lnTo>
                <a:lnTo>
                  <a:pt x="3048" y="1524"/>
                </a:lnTo>
                <a:lnTo>
                  <a:pt x="3048" y="4572"/>
                </a:lnTo>
                <a:close/>
              </a:path>
              <a:path w="307975" h="309879">
                <a:moveTo>
                  <a:pt x="304800" y="4572"/>
                </a:moveTo>
                <a:lnTo>
                  <a:pt x="3048" y="4572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7975" h="309879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7848" y="4572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9879">
                <a:moveTo>
                  <a:pt x="307848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4572"/>
                </a:lnTo>
                <a:close/>
              </a:path>
              <a:path w="307975" h="309879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9879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9879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4415119" y="282388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/>
          <p:nvPr/>
        </p:nvSpPr>
        <p:spPr>
          <a:xfrm>
            <a:off x="4413772" y="2822537"/>
            <a:ext cx="273424" cy="273424"/>
          </a:xfrm>
          <a:custGeom>
            <a:avLst/>
            <a:gdLst/>
            <a:ahLst/>
            <a:cxnLst/>
            <a:rect l="l" t="t" r="r" b="b"/>
            <a:pathLst>
              <a:path w="309879" h="309879">
                <a:moveTo>
                  <a:pt x="307848" y="309372"/>
                </a:moveTo>
                <a:lnTo>
                  <a:pt x="1524" y="309372"/>
                </a:ln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9372" y="1524"/>
                </a:lnTo>
                <a:lnTo>
                  <a:pt x="4572" y="1524"/>
                </a:lnTo>
                <a:lnTo>
                  <a:pt x="1524" y="4572"/>
                </a:lnTo>
                <a:lnTo>
                  <a:pt x="4572" y="4572"/>
                </a:lnTo>
                <a:lnTo>
                  <a:pt x="4572" y="304800"/>
                </a:lnTo>
                <a:lnTo>
                  <a:pt x="1524" y="304800"/>
                </a:lnTo>
                <a:lnTo>
                  <a:pt x="4572" y="306324"/>
                </a:lnTo>
                <a:lnTo>
                  <a:pt x="309372" y="306324"/>
                </a:lnTo>
                <a:lnTo>
                  <a:pt x="309372" y="307848"/>
                </a:lnTo>
                <a:lnTo>
                  <a:pt x="307848" y="309372"/>
                </a:lnTo>
                <a:close/>
              </a:path>
              <a:path w="309879" h="309879">
                <a:moveTo>
                  <a:pt x="4572" y="4572"/>
                </a:moveTo>
                <a:lnTo>
                  <a:pt x="1524" y="4572"/>
                </a:lnTo>
                <a:lnTo>
                  <a:pt x="4572" y="1524"/>
                </a:lnTo>
                <a:lnTo>
                  <a:pt x="4572" y="4572"/>
                </a:lnTo>
                <a:close/>
              </a:path>
              <a:path w="309879" h="309879">
                <a:moveTo>
                  <a:pt x="304800" y="4572"/>
                </a:moveTo>
                <a:lnTo>
                  <a:pt x="4572" y="4572"/>
                </a:lnTo>
                <a:lnTo>
                  <a:pt x="4572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9879" h="309879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9372" y="4572"/>
                </a:lnTo>
                <a:lnTo>
                  <a:pt x="309372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9879" h="309879">
                <a:moveTo>
                  <a:pt x="309372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9372" y="1524"/>
                </a:lnTo>
                <a:lnTo>
                  <a:pt x="309372" y="4572"/>
                </a:lnTo>
                <a:close/>
              </a:path>
              <a:path w="309879" h="309879">
                <a:moveTo>
                  <a:pt x="4572" y="306324"/>
                </a:moveTo>
                <a:lnTo>
                  <a:pt x="1524" y="304800"/>
                </a:lnTo>
                <a:lnTo>
                  <a:pt x="4572" y="304800"/>
                </a:lnTo>
                <a:lnTo>
                  <a:pt x="4572" y="306324"/>
                </a:lnTo>
                <a:close/>
              </a:path>
              <a:path w="309879" h="309879">
                <a:moveTo>
                  <a:pt x="304800" y="306324"/>
                </a:moveTo>
                <a:lnTo>
                  <a:pt x="4572" y="306324"/>
                </a:lnTo>
                <a:lnTo>
                  <a:pt x="4572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9879" h="309879">
                <a:moveTo>
                  <a:pt x="309372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9372" y="304800"/>
                </a:lnTo>
                <a:lnTo>
                  <a:pt x="309372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object 18"/>
          <p:cNvSpPr/>
          <p:nvPr/>
        </p:nvSpPr>
        <p:spPr>
          <a:xfrm>
            <a:off x="5293212" y="282388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/>
          <p:nvPr/>
        </p:nvSpPr>
        <p:spPr>
          <a:xfrm>
            <a:off x="5291866" y="2822537"/>
            <a:ext cx="271743" cy="273424"/>
          </a:xfrm>
          <a:custGeom>
            <a:avLst/>
            <a:gdLst/>
            <a:ahLst/>
            <a:cxnLst/>
            <a:rect l="l" t="t" r="r" b="b"/>
            <a:pathLst>
              <a:path w="307975" h="309879">
                <a:moveTo>
                  <a:pt x="306324" y="309372"/>
                </a:moveTo>
                <a:lnTo>
                  <a:pt x="0" y="309372"/>
                </a:lnTo>
                <a:lnTo>
                  <a:pt x="0" y="0"/>
                </a:lnTo>
                <a:lnTo>
                  <a:pt x="306324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4572"/>
                </a:lnTo>
                <a:lnTo>
                  <a:pt x="3048" y="4572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lnTo>
                  <a:pt x="306324" y="309372"/>
                </a:lnTo>
                <a:close/>
              </a:path>
              <a:path w="307975" h="309879">
                <a:moveTo>
                  <a:pt x="3048" y="4572"/>
                </a:moveTo>
                <a:lnTo>
                  <a:pt x="1524" y="4572"/>
                </a:lnTo>
                <a:lnTo>
                  <a:pt x="3048" y="1524"/>
                </a:lnTo>
                <a:lnTo>
                  <a:pt x="3048" y="4572"/>
                </a:lnTo>
                <a:close/>
              </a:path>
              <a:path w="307975" h="309879">
                <a:moveTo>
                  <a:pt x="304800" y="4572"/>
                </a:moveTo>
                <a:lnTo>
                  <a:pt x="3048" y="4572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7975" h="309879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7848" y="4572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9879">
                <a:moveTo>
                  <a:pt x="307848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4572"/>
                </a:lnTo>
                <a:close/>
              </a:path>
              <a:path w="307975" h="309879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9879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9879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/>
          <p:nvPr/>
        </p:nvSpPr>
        <p:spPr>
          <a:xfrm>
            <a:off x="7041328" y="282388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1" name="object 21"/>
          <p:cNvSpPr/>
          <p:nvPr/>
        </p:nvSpPr>
        <p:spPr>
          <a:xfrm>
            <a:off x="7039984" y="2822537"/>
            <a:ext cx="271743" cy="273424"/>
          </a:xfrm>
          <a:custGeom>
            <a:avLst/>
            <a:gdLst/>
            <a:ahLst/>
            <a:cxnLst/>
            <a:rect l="l" t="t" r="r" b="b"/>
            <a:pathLst>
              <a:path w="307975" h="309879">
                <a:moveTo>
                  <a:pt x="306324" y="309372"/>
                </a:moveTo>
                <a:lnTo>
                  <a:pt x="0" y="309372"/>
                </a:lnTo>
                <a:lnTo>
                  <a:pt x="0" y="0"/>
                </a:lnTo>
                <a:lnTo>
                  <a:pt x="306324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4572"/>
                </a:lnTo>
                <a:lnTo>
                  <a:pt x="3048" y="4572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lnTo>
                  <a:pt x="306324" y="309372"/>
                </a:lnTo>
                <a:close/>
              </a:path>
              <a:path w="307975" h="309879">
                <a:moveTo>
                  <a:pt x="3048" y="4572"/>
                </a:moveTo>
                <a:lnTo>
                  <a:pt x="1524" y="4572"/>
                </a:lnTo>
                <a:lnTo>
                  <a:pt x="3048" y="1524"/>
                </a:lnTo>
                <a:lnTo>
                  <a:pt x="3048" y="4572"/>
                </a:lnTo>
                <a:close/>
              </a:path>
              <a:path w="307975" h="309879">
                <a:moveTo>
                  <a:pt x="304800" y="4572"/>
                </a:moveTo>
                <a:lnTo>
                  <a:pt x="3048" y="4572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7975" h="309879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7848" y="4572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9879">
                <a:moveTo>
                  <a:pt x="307848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4572"/>
                </a:lnTo>
                <a:close/>
              </a:path>
              <a:path w="307975" h="309879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9879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9879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22"/>
          <p:cNvSpPr/>
          <p:nvPr/>
        </p:nvSpPr>
        <p:spPr>
          <a:xfrm>
            <a:off x="7915387" y="282388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object 23"/>
          <p:cNvSpPr/>
          <p:nvPr/>
        </p:nvSpPr>
        <p:spPr>
          <a:xfrm>
            <a:off x="7914043" y="2822537"/>
            <a:ext cx="271743" cy="273424"/>
          </a:xfrm>
          <a:custGeom>
            <a:avLst/>
            <a:gdLst/>
            <a:ahLst/>
            <a:cxnLst/>
            <a:rect l="l" t="t" r="r" b="b"/>
            <a:pathLst>
              <a:path w="307975" h="309879">
                <a:moveTo>
                  <a:pt x="306324" y="309372"/>
                </a:moveTo>
                <a:lnTo>
                  <a:pt x="0" y="309372"/>
                </a:lnTo>
                <a:lnTo>
                  <a:pt x="0" y="0"/>
                </a:lnTo>
                <a:lnTo>
                  <a:pt x="306324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4572"/>
                </a:lnTo>
                <a:lnTo>
                  <a:pt x="3048" y="4572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lnTo>
                  <a:pt x="306324" y="309372"/>
                </a:lnTo>
                <a:close/>
              </a:path>
              <a:path w="307975" h="309879">
                <a:moveTo>
                  <a:pt x="3048" y="4572"/>
                </a:moveTo>
                <a:lnTo>
                  <a:pt x="1524" y="4572"/>
                </a:lnTo>
                <a:lnTo>
                  <a:pt x="3048" y="1524"/>
                </a:lnTo>
                <a:lnTo>
                  <a:pt x="3048" y="4572"/>
                </a:lnTo>
                <a:close/>
              </a:path>
              <a:path w="307975" h="309879">
                <a:moveTo>
                  <a:pt x="304800" y="4572"/>
                </a:moveTo>
                <a:lnTo>
                  <a:pt x="3048" y="4572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7975" h="309879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7848" y="4572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9879">
                <a:moveTo>
                  <a:pt x="307848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4572"/>
                </a:lnTo>
                <a:close/>
              </a:path>
              <a:path w="307975" h="309879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9879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9879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/>
          <p:nvPr/>
        </p:nvSpPr>
        <p:spPr>
          <a:xfrm>
            <a:off x="8789446" y="282388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5"/>
          <p:cNvSpPr/>
          <p:nvPr/>
        </p:nvSpPr>
        <p:spPr>
          <a:xfrm>
            <a:off x="8788102" y="2822537"/>
            <a:ext cx="271743" cy="273424"/>
          </a:xfrm>
          <a:custGeom>
            <a:avLst/>
            <a:gdLst/>
            <a:ahLst/>
            <a:cxnLst/>
            <a:rect l="l" t="t" r="r" b="b"/>
            <a:pathLst>
              <a:path w="307975" h="309879">
                <a:moveTo>
                  <a:pt x="306324" y="309372"/>
                </a:moveTo>
                <a:lnTo>
                  <a:pt x="0" y="309372"/>
                </a:lnTo>
                <a:lnTo>
                  <a:pt x="0" y="0"/>
                </a:lnTo>
                <a:lnTo>
                  <a:pt x="306324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4572"/>
                </a:lnTo>
                <a:lnTo>
                  <a:pt x="3048" y="4572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lnTo>
                  <a:pt x="306324" y="309372"/>
                </a:lnTo>
                <a:close/>
              </a:path>
              <a:path w="307975" h="309879">
                <a:moveTo>
                  <a:pt x="3048" y="4572"/>
                </a:moveTo>
                <a:lnTo>
                  <a:pt x="1524" y="4572"/>
                </a:lnTo>
                <a:lnTo>
                  <a:pt x="3048" y="1524"/>
                </a:lnTo>
                <a:lnTo>
                  <a:pt x="3048" y="4572"/>
                </a:lnTo>
                <a:close/>
              </a:path>
              <a:path w="307975" h="309879">
                <a:moveTo>
                  <a:pt x="304800" y="4572"/>
                </a:moveTo>
                <a:lnTo>
                  <a:pt x="3048" y="4572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7975" h="309879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7848" y="4572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9879">
                <a:moveTo>
                  <a:pt x="307848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4572"/>
                </a:lnTo>
                <a:close/>
              </a:path>
              <a:path w="307975" h="309879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9879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9879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object 26"/>
          <p:cNvSpPr/>
          <p:nvPr/>
        </p:nvSpPr>
        <p:spPr>
          <a:xfrm>
            <a:off x="3541060" y="3352353"/>
            <a:ext cx="5446059" cy="67235"/>
          </a:xfrm>
          <a:custGeom>
            <a:avLst/>
            <a:gdLst/>
            <a:ahLst/>
            <a:cxnLst/>
            <a:rect l="l" t="t" r="r" b="b"/>
            <a:pathLst>
              <a:path w="6172200" h="76200">
                <a:moveTo>
                  <a:pt x="6096000" y="76200"/>
                </a:moveTo>
                <a:lnTo>
                  <a:pt x="6096000" y="0"/>
                </a:lnTo>
                <a:lnTo>
                  <a:pt x="6153912" y="28956"/>
                </a:lnTo>
                <a:lnTo>
                  <a:pt x="6109716" y="28956"/>
                </a:lnTo>
                <a:lnTo>
                  <a:pt x="6109716" y="47244"/>
                </a:lnTo>
                <a:lnTo>
                  <a:pt x="6153912" y="47244"/>
                </a:lnTo>
                <a:lnTo>
                  <a:pt x="6096000" y="76200"/>
                </a:lnTo>
                <a:close/>
              </a:path>
              <a:path w="6172200" h="76200">
                <a:moveTo>
                  <a:pt x="6096000" y="47244"/>
                </a:moveTo>
                <a:lnTo>
                  <a:pt x="0" y="47244"/>
                </a:lnTo>
                <a:lnTo>
                  <a:pt x="0" y="28956"/>
                </a:lnTo>
                <a:lnTo>
                  <a:pt x="6096000" y="28956"/>
                </a:lnTo>
                <a:lnTo>
                  <a:pt x="6096000" y="47244"/>
                </a:lnTo>
                <a:close/>
              </a:path>
              <a:path w="6172200" h="76200">
                <a:moveTo>
                  <a:pt x="6153912" y="47244"/>
                </a:moveTo>
                <a:lnTo>
                  <a:pt x="6109716" y="47244"/>
                </a:lnTo>
                <a:lnTo>
                  <a:pt x="6109716" y="28956"/>
                </a:lnTo>
                <a:lnTo>
                  <a:pt x="6153912" y="28956"/>
                </a:lnTo>
                <a:lnTo>
                  <a:pt x="6172200" y="38100"/>
                </a:lnTo>
                <a:lnTo>
                  <a:pt x="6153912" y="47244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7" name="object 27"/>
          <p:cNvSpPr txBox="1"/>
          <p:nvPr/>
        </p:nvSpPr>
        <p:spPr>
          <a:xfrm>
            <a:off x="3520419" y="3043913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0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789446" y="2353236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91CF5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object 29"/>
          <p:cNvSpPr/>
          <p:nvPr/>
        </p:nvSpPr>
        <p:spPr>
          <a:xfrm>
            <a:off x="8788102" y="2351890"/>
            <a:ext cx="271743" cy="273424"/>
          </a:xfrm>
          <a:custGeom>
            <a:avLst/>
            <a:gdLst/>
            <a:ahLst/>
            <a:cxnLst/>
            <a:rect l="l" t="t" r="r" b="b"/>
            <a:pathLst>
              <a:path w="307975" h="309880">
                <a:moveTo>
                  <a:pt x="306324" y="309372"/>
                </a:moveTo>
                <a:lnTo>
                  <a:pt x="0" y="309372"/>
                </a:lnTo>
                <a:lnTo>
                  <a:pt x="0" y="0"/>
                </a:lnTo>
                <a:lnTo>
                  <a:pt x="306324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4572"/>
                </a:lnTo>
                <a:lnTo>
                  <a:pt x="3048" y="4572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lnTo>
                  <a:pt x="306324" y="309372"/>
                </a:lnTo>
                <a:close/>
              </a:path>
              <a:path w="307975" h="309880">
                <a:moveTo>
                  <a:pt x="3048" y="4572"/>
                </a:moveTo>
                <a:lnTo>
                  <a:pt x="1524" y="4572"/>
                </a:lnTo>
                <a:lnTo>
                  <a:pt x="3048" y="1524"/>
                </a:lnTo>
                <a:lnTo>
                  <a:pt x="3048" y="4572"/>
                </a:lnTo>
                <a:close/>
              </a:path>
              <a:path w="307975" h="309880">
                <a:moveTo>
                  <a:pt x="304800" y="4572"/>
                </a:moveTo>
                <a:lnTo>
                  <a:pt x="3048" y="4572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7848" y="4572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4572"/>
                </a:lnTo>
                <a:close/>
              </a:path>
              <a:path w="307975" h="309880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/>
          <p:nvPr/>
        </p:nvSpPr>
        <p:spPr>
          <a:xfrm>
            <a:off x="8789446" y="1882589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46B0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object 31"/>
          <p:cNvSpPr/>
          <p:nvPr/>
        </p:nvSpPr>
        <p:spPr>
          <a:xfrm>
            <a:off x="8788102" y="1881243"/>
            <a:ext cx="271743" cy="273424"/>
          </a:xfrm>
          <a:custGeom>
            <a:avLst/>
            <a:gdLst/>
            <a:ahLst/>
            <a:cxnLst/>
            <a:rect l="l" t="t" r="r" b="b"/>
            <a:pathLst>
              <a:path w="307975" h="309880">
                <a:moveTo>
                  <a:pt x="306324" y="309372"/>
                </a:moveTo>
                <a:lnTo>
                  <a:pt x="0" y="309372"/>
                </a:lnTo>
                <a:lnTo>
                  <a:pt x="0" y="0"/>
                </a:lnTo>
                <a:lnTo>
                  <a:pt x="306324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4572"/>
                </a:lnTo>
                <a:lnTo>
                  <a:pt x="3048" y="4572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lnTo>
                  <a:pt x="306324" y="309372"/>
                </a:lnTo>
                <a:close/>
              </a:path>
              <a:path w="307975" h="309880">
                <a:moveTo>
                  <a:pt x="3048" y="4572"/>
                </a:moveTo>
                <a:lnTo>
                  <a:pt x="1524" y="4572"/>
                </a:lnTo>
                <a:lnTo>
                  <a:pt x="3048" y="1524"/>
                </a:lnTo>
                <a:lnTo>
                  <a:pt x="3048" y="4572"/>
                </a:lnTo>
                <a:close/>
              </a:path>
              <a:path w="307975" h="309880">
                <a:moveTo>
                  <a:pt x="304800" y="4572"/>
                </a:moveTo>
                <a:lnTo>
                  <a:pt x="3048" y="4572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7848" y="4572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4572"/>
                </a:lnTo>
                <a:close/>
              </a:path>
              <a:path w="307975" h="309880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2" name="object 32"/>
          <p:cNvSpPr/>
          <p:nvPr/>
        </p:nvSpPr>
        <p:spPr>
          <a:xfrm>
            <a:off x="8890299" y="2622176"/>
            <a:ext cx="67235" cy="2017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3" name="object 33"/>
          <p:cNvSpPr/>
          <p:nvPr/>
        </p:nvSpPr>
        <p:spPr>
          <a:xfrm>
            <a:off x="8890299" y="2151529"/>
            <a:ext cx="67235" cy="2017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4" name="object 34"/>
          <p:cNvSpPr/>
          <p:nvPr/>
        </p:nvSpPr>
        <p:spPr>
          <a:xfrm>
            <a:off x="8890299" y="1680882"/>
            <a:ext cx="67235" cy="2017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5" name="object 35"/>
          <p:cNvSpPr/>
          <p:nvPr/>
        </p:nvSpPr>
        <p:spPr>
          <a:xfrm>
            <a:off x="7927491" y="2353236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91CF5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6" name="object 36"/>
          <p:cNvSpPr/>
          <p:nvPr/>
        </p:nvSpPr>
        <p:spPr>
          <a:xfrm>
            <a:off x="7926146" y="2351890"/>
            <a:ext cx="271743" cy="273424"/>
          </a:xfrm>
          <a:custGeom>
            <a:avLst/>
            <a:gdLst/>
            <a:ahLst/>
            <a:cxnLst/>
            <a:rect l="l" t="t" r="r" b="b"/>
            <a:pathLst>
              <a:path w="307975" h="309880">
                <a:moveTo>
                  <a:pt x="307848" y="309372"/>
                </a:moveTo>
                <a:lnTo>
                  <a:pt x="1524" y="309372"/>
                </a:ln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4572"/>
                </a:lnTo>
                <a:lnTo>
                  <a:pt x="3048" y="4572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9372"/>
                </a:lnTo>
                <a:close/>
              </a:path>
              <a:path w="307975" h="309880">
                <a:moveTo>
                  <a:pt x="3048" y="4572"/>
                </a:moveTo>
                <a:lnTo>
                  <a:pt x="1524" y="4572"/>
                </a:lnTo>
                <a:lnTo>
                  <a:pt x="3048" y="1524"/>
                </a:lnTo>
                <a:lnTo>
                  <a:pt x="3048" y="4572"/>
                </a:lnTo>
                <a:close/>
              </a:path>
              <a:path w="307975" h="309880">
                <a:moveTo>
                  <a:pt x="304800" y="4572"/>
                </a:moveTo>
                <a:lnTo>
                  <a:pt x="3048" y="4572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7848" y="4572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4572"/>
                </a:lnTo>
                <a:close/>
              </a:path>
              <a:path w="307975" h="309880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7" name="object 37"/>
          <p:cNvSpPr/>
          <p:nvPr/>
        </p:nvSpPr>
        <p:spPr>
          <a:xfrm>
            <a:off x="7927491" y="1882589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46B0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8" name="object 38"/>
          <p:cNvSpPr/>
          <p:nvPr/>
        </p:nvSpPr>
        <p:spPr>
          <a:xfrm>
            <a:off x="7926146" y="1881243"/>
            <a:ext cx="271743" cy="273424"/>
          </a:xfrm>
          <a:custGeom>
            <a:avLst/>
            <a:gdLst/>
            <a:ahLst/>
            <a:cxnLst/>
            <a:rect l="l" t="t" r="r" b="b"/>
            <a:pathLst>
              <a:path w="307975" h="309880">
                <a:moveTo>
                  <a:pt x="307848" y="309372"/>
                </a:moveTo>
                <a:lnTo>
                  <a:pt x="1524" y="309372"/>
                </a:ln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4572"/>
                </a:lnTo>
                <a:lnTo>
                  <a:pt x="3048" y="4572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9372"/>
                </a:lnTo>
                <a:close/>
              </a:path>
              <a:path w="307975" h="309880">
                <a:moveTo>
                  <a:pt x="3048" y="4572"/>
                </a:moveTo>
                <a:lnTo>
                  <a:pt x="1524" y="4572"/>
                </a:lnTo>
                <a:lnTo>
                  <a:pt x="3048" y="1524"/>
                </a:lnTo>
                <a:lnTo>
                  <a:pt x="3048" y="4572"/>
                </a:lnTo>
                <a:close/>
              </a:path>
              <a:path w="307975" h="309880">
                <a:moveTo>
                  <a:pt x="304800" y="4572"/>
                </a:moveTo>
                <a:lnTo>
                  <a:pt x="3048" y="4572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7848" y="4572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4572"/>
                </a:lnTo>
                <a:close/>
              </a:path>
              <a:path w="307975" h="309880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9" name="object 39"/>
          <p:cNvSpPr/>
          <p:nvPr/>
        </p:nvSpPr>
        <p:spPr>
          <a:xfrm>
            <a:off x="8028344" y="2622176"/>
            <a:ext cx="67235" cy="2017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0" name="object 40"/>
          <p:cNvSpPr/>
          <p:nvPr/>
        </p:nvSpPr>
        <p:spPr>
          <a:xfrm>
            <a:off x="8028344" y="2151529"/>
            <a:ext cx="67235" cy="2017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1" name="object 41"/>
          <p:cNvSpPr/>
          <p:nvPr/>
        </p:nvSpPr>
        <p:spPr>
          <a:xfrm>
            <a:off x="8028344" y="1680882"/>
            <a:ext cx="67235" cy="2017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2" name="object 42"/>
          <p:cNvSpPr/>
          <p:nvPr/>
        </p:nvSpPr>
        <p:spPr>
          <a:xfrm>
            <a:off x="7053432" y="2353236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91CF5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3" name="object 43"/>
          <p:cNvSpPr/>
          <p:nvPr/>
        </p:nvSpPr>
        <p:spPr>
          <a:xfrm>
            <a:off x="7052087" y="2351890"/>
            <a:ext cx="271743" cy="273424"/>
          </a:xfrm>
          <a:custGeom>
            <a:avLst/>
            <a:gdLst/>
            <a:ahLst/>
            <a:cxnLst/>
            <a:rect l="l" t="t" r="r" b="b"/>
            <a:pathLst>
              <a:path w="307975" h="309880">
                <a:moveTo>
                  <a:pt x="307848" y="309372"/>
                </a:moveTo>
                <a:lnTo>
                  <a:pt x="1524" y="309372"/>
                </a:ln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4572"/>
                </a:lnTo>
                <a:lnTo>
                  <a:pt x="3048" y="4572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9372"/>
                </a:lnTo>
                <a:close/>
              </a:path>
              <a:path w="307975" h="309880">
                <a:moveTo>
                  <a:pt x="3048" y="4572"/>
                </a:moveTo>
                <a:lnTo>
                  <a:pt x="1524" y="4572"/>
                </a:lnTo>
                <a:lnTo>
                  <a:pt x="3048" y="1524"/>
                </a:lnTo>
                <a:lnTo>
                  <a:pt x="3048" y="4572"/>
                </a:lnTo>
                <a:close/>
              </a:path>
              <a:path w="307975" h="309880">
                <a:moveTo>
                  <a:pt x="304800" y="4572"/>
                </a:moveTo>
                <a:lnTo>
                  <a:pt x="3048" y="4572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7848" y="4572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4572"/>
                </a:lnTo>
                <a:close/>
              </a:path>
              <a:path w="307975" h="309880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4" name="object 44"/>
          <p:cNvSpPr/>
          <p:nvPr/>
        </p:nvSpPr>
        <p:spPr>
          <a:xfrm>
            <a:off x="7053432" y="1882589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46B0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5" name="object 45"/>
          <p:cNvSpPr/>
          <p:nvPr/>
        </p:nvSpPr>
        <p:spPr>
          <a:xfrm>
            <a:off x="7052087" y="1881243"/>
            <a:ext cx="271743" cy="273424"/>
          </a:xfrm>
          <a:custGeom>
            <a:avLst/>
            <a:gdLst/>
            <a:ahLst/>
            <a:cxnLst/>
            <a:rect l="l" t="t" r="r" b="b"/>
            <a:pathLst>
              <a:path w="307975" h="309880">
                <a:moveTo>
                  <a:pt x="307848" y="309372"/>
                </a:moveTo>
                <a:lnTo>
                  <a:pt x="1524" y="309372"/>
                </a:ln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4572"/>
                </a:lnTo>
                <a:lnTo>
                  <a:pt x="3048" y="4572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9372"/>
                </a:lnTo>
                <a:close/>
              </a:path>
              <a:path w="307975" h="309880">
                <a:moveTo>
                  <a:pt x="3048" y="4572"/>
                </a:moveTo>
                <a:lnTo>
                  <a:pt x="1524" y="4572"/>
                </a:lnTo>
                <a:lnTo>
                  <a:pt x="3048" y="1524"/>
                </a:lnTo>
                <a:lnTo>
                  <a:pt x="3048" y="4572"/>
                </a:lnTo>
                <a:close/>
              </a:path>
              <a:path w="307975" h="309880">
                <a:moveTo>
                  <a:pt x="304800" y="4572"/>
                </a:moveTo>
                <a:lnTo>
                  <a:pt x="3048" y="4572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7848" y="4572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4572"/>
                </a:lnTo>
                <a:close/>
              </a:path>
              <a:path w="307975" h="309880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6" name="object 46"/>
          <p:cNvSpPr/>
          <p:nvPr/>
        </p:nvSpPr>
        <p:spPr>
          <a:xfrm>
            <a:off x="7154285" y="2622176"/>
            <a:ext cx="67235" cy="2017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7" name="object 47"/>
          <p:cNvSpPr/>
          <p:nvPr/>
        </p:nvSpPr>
        <p:spPr>
          <a:xfrm>
            <a:off x="7154285" y="2151529"/>
            <a:ext cx="67235" cy="2017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8" name="object 48"/>
          <p:cNvSpPr/>
          <p:nvPr/>
        </p:nvSpPr>
        <p:spPr>
          <a:xfrm>
            <a:off x="7154285" y="1680882"/>
            <a:ext cx="67235" cy="2017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9" name="object 49"/>
          <p:cNvSpPr/>
          <p:nvPr/>
        </p:nvSpPr>
        <p:spPr>
          <a:xfrm>
            <a:off x="5305314" y="2353236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91CF5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0" name="object 50"/>
          <p:cNvSpPr/>
          <p:nvPr/>
        </p:nvSpPr>
        <p:spPr>
          <a:xfrm>
            <a:off x="5303970" y="2351890"/>
            <a:ext cx="271743" cy="273424"/>
          </a:xfrm>
          <a:custGeom>
            <a:avLst/>
            <a:gdLst/>
            <a:ahLst/>
            <a:cxnLst/>
            <a:rect l="l" t="t" r="r" b="b"/>
            <a:pathLst>
              <a:path w="307975" h="309880">
                <a:moveTo>
                  <a:pt x="307848" y="309372"/>
                </a:moveTo>
                <a:lnTo>
                  <a:pt x="1524" y="309372"/>
                </a:ln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4572"/>
                </a:lnTo>
                <a:lnTo>
                  <a:pt x="3048" y="4572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9372"/>
                </a:lnTo>
                <a:close/>
              </a:path>
              <a:path w="307975" h="309880">
                <a:moveTo>
                  <a:pt x="3048" y="4572"/>
                </a:moveTo>
                <a:lnTo>
                  <a:pt x="1524" y="4572"/>
                </a:lnTo>
                <a:lnTo>
                  <a:pt x="3048" y="1524"/>
                </a:lnTo>
                <a:lnTo>
                  <a:pt x="3048" y="4572"/>
                </a:lnTo>
                <a:close/>
              </a:path>
              <a:path w="307975" h="309880">
                <a:moveTo>
                  <a:pt x="304800" y="4572"/>
                </a:moveTo>
                <a:lnTo>
                  <a:pt x="3048" y="4572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7848" y="4572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4572"/>
                </a:lnTo>
                <a:close/>
              </a:path>
              <a:path w="307975" h="309880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1" name="object 51"/>
          <p:cNvSpPr/>
          <p:nvPr/>
        </p:nvSpPr>
        <p:spPr>
          <a:xfrm>
            <a:off x="5305314" y="1882589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46B0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2" name="object 52"/>
          <p:cNvSpPr/>
          <p:nvPr/>
        </p:nvSpPr>
        <p:spPr>
          <a:xfrm>
            <a:off x="5303970" y="1881243"/>
            <a:ext cx="271743" cy="273424"/>
          </a:xfrm>
          <a:custGeom>
            <a:avLst/>
            <a:gdLst/>
            <a:ahLst/>
            <a:cxnLst/>
            <a:rect l="l" t="t" r="r" b="b"/>
            <a:pathLst>
              <a:path w="307975" h="309880">
                <a:moveTo>
                  <a:pt x="307848" y="309372"/>
                </a:moveTo>
                <a:lnTo>
                  <a:pt x="1524" y="309372"/>
                </a:ln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4572"/>
                </a:lnTo>
                <a:lnTo>
                  <a:pt x="3048" y="4572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9372"/>
                </a:lnTo>
                <a:close/>
              </a:path>
              <a:path w="307975" h="309880">
                <a:moveTo>
                  <a:pt x="3048" y="4572"/>
                </a:moveTo>
                <a:lnTo>
                  <a:pt x="1524" y="4572"/>
                </a:lnTo>
                <a:lnTo>
                  <a:pt x="3048" y="1524"/>
                </a:lnTo>
                <a:lnTo>
                  <a:pt x="3048" y="4572"/>
                </a:lnTo>
                <a:close/>
              </a:path>
              <a:path w="307975" h="309880">
                <a:moveTo>
                  <a:pt x="304800" y="4572"/>
                </a:moveTo>
                <a:lnTo>
                  <a:pt x="3048" y="4572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7848" y="4572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4572"/>
                </a:lnTo>
                <a:close/>
              </a:path>
              <a:path w="307975" h="309880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3" name="object 53"/>
          <p:cNvSpPr/>
          <p:nvPr/>
        </p:nvSpPr>
        <p:spPr>
          <a:xfrm>
            <a:off x="5406167" y="2622176"/>
            <a:ext cx="67235" cy="2017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4" name="object 54"/>
          <p:cNvSpPr/>
          <p:nvPr/>
        </p:nvSpPr>
        <p:spPr>
          <a:xfrm>
            <a:off x="5406167" y="2151529"/>
            <a:ext cx="67235" cy="2017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5" name="object 55"/>
          <p:cNvSpPr/>
          <p:nvPr/>
        </p:nvSpPr>
        <p:spPr>
          <a:xfrm>
            <a:off x="5406167" y="1680882"/>
            <a:ext cx="67235" cy="2017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6" name="object 56"/>
          <p:cNvSpPr/>
          <p:nvPr/>
        </p:nvSpPr>
        <p:spPr>
          <a:xfrm>
            <a:off x="4415119" y="2353236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91CF5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7" name="object 57"/>
          <p:cNvSpPr/>
          <p:nvPr/>
        </p:nvSpPr>
        <p:spPr>
          <a:xfrm>
            <a:off x="4413772" y="2351890"/>
            <a:ext cx="273424" cy="273424"/>
          </a:xfrm>
          <a:custGeom>
            <a:avLst/>
            <a:gdLst/>
            <a:ahLst/>
            <a:cxnLst/>
            <a:rect l="l" t="t" r="r" b="b"/>
            <a:pathLst>
              <a:path w="309879" h="309880">
                <a:moveTo>
                  <a:pt x="307848" y="309372"/>
                </a:moveTo>
                <a:lnTo>
                  <a:pt x="1524" y="309372"/>
                </a:ln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9372" y="1524"/>
                </a:lnTo>
                <a:lnTo>
                  <a:pt x="4572" y="1524"/>
                </a:lnTo>
                <a:lnTo>
                  <a:pt x="1524" y="4572"/>
                </a:lnTo>
                <a:lnTo>
                  <a:pt x="4572" y="4572"/>
                </a:lnTo>
                <a:lnTo>
                  <a:pt x="4572" y="304800"/>
                </a:lnTo>
                <a:lnTo>
                  <a:pt x="1524" y="304800"/>
                </a:lnTo>
                <a:lnTo>
                  <a:pt x="4572" y="306324"/>
                </a:lnTo>
                <a:lnTo>
                  <a:pt x="309372" y="306324"/>
                </a:lnTo>
                <a:lnTo>
                  <a:pt x="309372" y="307848"/>
                </a:lnTo>
                <a:lnTo>
                  <a:pt x="307848" y="309372"/>
                </a:lnTo>
                <a:close/>
              </a:path>
              <a:path w="309879" h="309880">
                <a:moveTo>
                  <a:pt x="4572" y="4572"/>
                </a:moveTo>
                <a:lnTo>
                  <a:pt x="1524" y="4572"/>
                </a:lnTo>
                <a:lnTo>
                  <a:pt x="4572" y="1524"/>
                </a:lnTo>
                <a:lnTo>
                  <a:pt x="4572" y="4572"/>
                </a:lnTo>
                <a:close/>
              </a:path>
              <a:path w="309879" h="309880">
                <a:moveTo>
                  <a:pt x="304800" y="4572"/>
                </a:moveTo>
                <a:lnTo>
                  <a:pt x="4572" y="4572"/>
                </a:lnTo>
                <a:lnTo>
                  <a:pt x="4572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9879" h="309880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9372" y="4572"/>
                </a:lnTo>
                <a:lnTo>
                  <a:pt x="309372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9879" h="309880">
                <a:moveTo>
                  <a:pt x="309372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9372" y="1524"/>
                </a:lnTo>
                <a:lnTo>
                  <a:pt x="309372" y="4572"/>
                </a:lnTo>
                <a:close/>
              </a:path>
              <a:path w="309879" h="309880">
                <a:moveTo>
                  <a:pt x="4572" y="306324"/>
                </a:moveTo>
                <a:lnTo>
                  <a:pt x="1524" y="304800"/>
                </a:lnTo>
                <a:lnTo>
                  <a:pt x="4572" y="304800"/>
                </a:lnTo>
                <a:lnTo>
                  <a:pt x="4572" y="306324"/>
                </a:lnTo>
                <a:close/>
              </a:path>
              <a:path w="309879" h="309880">
                <a:moveTo>
                  <a:pt x="304800" y="306324"/>
                </a:moveTo>
                <a:lnTo>
                  <a:pt x="4572" y="306324"/>
                </a:lnTo>
                <a:lnTo>
                  <a:pt x="4572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9879" h="309880">
                <a:moveTo>
                  <a:pt x="309372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9372" y="304800"/>
                </a:lnTo>
                <a:lnTo>
                  <a:pt x="309372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8" name="object 58"/>
          <p:cNvSpPr/>
          <p:nvPr/>
        </p:nvSpPr>
        <p:spPr>
          <a:xfrm>
            <a:off x="4415119" y="1882589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46B0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9" name="object 59"/>
          <p:cNvSpPr/>
          <p:nvPr/>
        </p:nvSpPr>
        <p:spPr>
          <a:xfrm>
            <a:off x="4413772" y="1881243"/>
            <a:ext cx="273424" cy="273424"/>
          </a:xfrm>
          <a:custGeom>
            <a:avLst/>
            <a:gdLst/>
            <a:ahLst/>
            <a:cxnLst/>
            <a:rect l="l" t="t" r="r" b="b"/>
            <a:pathLst>
              <a:path w="309879" h="309880">
                <a:moveTo>
                  <a:pt x="307848" y="309372"/>
                </a:moveTo>
                <a:lnTo>
                  <a:pt x="1524" y="309372"/>
                </a:ln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9372" y="1524"/>
                </a:lnTo>
                <a:lnTo>
                  <a:pt x="4572" y="1524"/>
                </a:lnTo>
                <a:lnTo>
                  <a:pt x="1524" y="4572"/>
                </a:lnTo>
                <a:lnTo>
                  <a:pt x="4572" y="4572"/>
                </a:lnTo>
                <a:lnTo>
                  <a:pt x="4572" y="304800"/>
                </a:lnTo>
                <a:lnTo>
                  <a:pt x="1524" y="304800"/>
                </a:lnTo>
                <a:lnTo>
                  <a:pt x="4572" y="306324"/>
                </a:lnTo>
                <a:lnTo>
                  <a:pt x="309372" y="306324"/>
                </a:lnTo>
                <a:lnTo>
                  <a:pt x="309372" y="307848"/>
                </a:lnTo>
                <a:lnTo>
                  <a:pt x="307848" y="309372"/>
                </a:lnTo>
                <a:close/>
              </a:path>
              <a:path w="309879" h="309880">
                <a:moveTo>
                  <a:pt x="4572" y="4572"/>
                </a:moveTo>
                <a:lnTo>
                  <a:pt x="1524" y="4572"/>
                </a:lnTo>
                <a:lnTo>
                  <a:pt x="4572" y="1524"/>
                </a:lnTo>
                <a:lnTo>
                  <a:pt x="4572" y="4572"/>
                </a:lnTo>
                <a:close/>
              </a:path>
              <a:path w="309879" h="309880">
                <a:moveTo>
                  <a:pt x="304800" y="4572"/>
                </a:moveTo>
                <a:lnTo>
                  <a:pt x="4572" y="4572"/>
                </a:lnTo>
                <a:lnTo>
                  <a:pt x="4572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9879" h="309880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9372" y="4572"/>
                </a:lnTo>
                <a:lnTo>
                  <a:pt x="309372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9879" h="309880">
                <a:moveTo>
                  <a:pt x="309372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9372" y="1524"/>
                </a:lnTo>
                <a:lnTo>
                  <a:pt x="309372" y="4572"/>
                </a:lnTo>
                <a:close/>
              </a:path>
              <a:path w="309879" h="309880">
                <a:moveTo>
                  <a:pt x="4572" y="306324"/>
                </a:moveTo>
                <a:lnTo>
                  <a:pt x="1524" y="304800"/>
                </a:lnTo>
                <a:lnTo>
                  <a:pt x="4572" y="304800"/>
                </a:lnTo>
                <a:lnTo>
                  <a:pt x="4572" y="306324"/>
                </a:lnTo>
                <a:close/>
              </a:path>
              <a:path w="309879" h="309880">
                <a:moveTo>
                  <a:pt x="304800" y="306324"/>
                </a:moveTo>
                <a:lnTo>
                  <a:pt x="4572" y="306324"/>
                </a:lnTo>
                <a:lnTo>
                  <a:pt x="4572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9879" h="309880">
                <a:moveTo>
                  <a:pt x="309372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9372" y="304800"/>
                </a:lnTo>
                <a:lnTo>
                  <a:pt x="309372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0" name="object 60"/>
          <p:cNvSpPr/>
          <p:nvPr/>
        </p:nvSpPr>
        <p:spPr>
          <a:xfrm>
            <a:off x="4515971" y="2622176"/>
            <a:ext cx="67235" cy="2017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1" name="object 61"/>
          <p:cNvSpPr/>
          <p:nvPr/>
        </p:nvSpPr>
        <p:spPr>
          <a:xfrm>
            <a:off x="4515971" y="2151529"/>
            <a:ext cx="67235" cy="2017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2" name="object 62"/>
          <p:cNvSpPr/>
          <p:nvPr/>
        </p:nvSpPr>
        <p:spPr>
          <a:xfrm>
            <a:off x="4515971" y="1680882"/>
            <a:ext cx="67235" cy="2017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3" name="object 63"/>
          <p:cNvSpPr/>
          <p:nvPr/>
        </p:nvSpPr>
        <p:spPr>
          <a:xfrm>
            <a:off x="3549128" y="2353236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799" y="0"/>
                </a:lnTo>
                <a:lnTo>
                  <a:pt x="304799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91CF5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4" name="object 64"/>
          <p:cNvSpPr/>
          <p:nvPr/>
        </p:nvSpPr>
        <p:spPr>
          <a:xfrm>
            <a:off x="3547784" y="2351890"/>
            <a:ext cx="271743" cy="273424"/>
          </a:xfrm>
          <a:custGeom>
            <a:avLst/>
            <a:gdLst/>
            <a:ahLst/>
            <a:cxnLst/>
            <a:rect l="l" t="t" r="r" b="b"/>
            <a:pathLst>
              <a:path w="307975" h="309880">
                <a:moveTo>
                  <a:pt x="307848" y="309372"/>
                </a:moveTo>
                <a:lnTo>
                  <a:pt x="1524" y="309372"/>
                </a:ln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4572"/>
                </a:lnTo>
                <a:lnTo>
                  <a:pt x="3048" y="4572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9372"/>
                </a:lnTo>
                <a:close/>
              </a:path>
              <a:path w="307975" h="309880">
                <a:moveTo>
                  <a:pt x="3048" y="4572"/>
                </a:moveTo>
                <a:lnTo>
                  <a:pt x="1524" y="4572"/>
                </a:lnTo>
                <a:lnTo>
                  <a:pt x="3048" y="1524"/>
                </a:lnTo>
                <a:lnTo>
                  <a:pt x="3048" y="4572"/>
                </a:lnTo>
                <a:close/>
              </a:path>
              <a:path w="307975" h="309880">
                <a:moveTo>
                  <a:pt x="304800" y="4572"/>
                </a:moveTo>
                <a:lnTo>
                  <a:pt x="3048" y="4572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7848" y="4572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4572"/>
                </a:lnTo>
                <a:close/>
              </a:path>
              <a:path w="307975" h="309880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5" name="object 65"/>
          <p:cNvSpPr/>
          <p:nvPr/>
        </p:nvSpPr>
        <p:spPr>
          <a:xfrm>
            <a:off x="3549128" y="1882589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799" y="0"/>
                </a:lnTo>
                <a:lnTo>
                  <a:pt x="304799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46B0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6" name="object 66"/>
          <p:cNvSpPr/>
          <p:nvPr/>
        </p:nvSpPr>
        <p:spPr>
          <a:xfrm>
            <a:off x="3547784" y="1881243"/>
            <a:ext cx="271743" cy="273424"/>
          </a:xfrm>
          <a:custGeom>
            <a:avLst/>
            <a:gdLst/>
            <a:ahLst/>
            <a:cxnLst/>
            <a:rect l="l" t="t" r="r" b="b"/>
            <a:pathLst>
              <a:path w="307975" h="309880">
                <a:moveTo>
                  <a:pt x="307848" y="309372"/>
                </a:moveTo>
                <a:lnTo>
                  <a:pt x="1524" y="309372"/>
                </a:ln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4572"/>
                </a:lnTo>
                <a:lnTo>
                  <a:pt x="3048" y="4572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9372"/>
                </a:lnTo>
                <a:close/>
              </a:path>
              <a:path w="307975" h="309880">
                <a:moveTo>
                  <a:pt x="3048" y="4572"/>
                </a:moveTo>
                <a:lnTo>
                  <a:pt x="1524" y="4572"/>
                </a:lnTo>
                <a:lnTo>
                  <a:pt x="3048" y="1524"/>
                </a:lnTo>
                <a:lnTo>
                  <a:pt x="3048" y="4572"/>
                </a:lnTo>
                <a:close/>
              </a:path>
              <a:path w="307975" h="309880">
                <a:moveTo>
                  <a:pt x="304800" y="4572"/>
                </a:moveTo>
                <a:lnTo>
                  <a:pt x="3048" y="4572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7848" y="4572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4572"/>
                </a:lnTo>
                <a:close/>
              </a:path>
              <a:path w="307975" h="309880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9880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9880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7" name="object 67"/>
          <p:cNvSpPr/>
          <p:nvPr/>
        </p:nvSpPr>
        <p:spPr>
          <a:xfrm>
            <a:off x="3649981" y="2622176"/>
            <a:ext cx="67235" cy="2017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8" name="object 68"/>
          <p:cNvSpPr/>
          <p:nvPr/>
        </p:nvSpPr>
        <p:spPr>
          <a:xfrm>
            <a:off x="3649981" y="2151529"/>
            <a:ext cx="67235" cy="2017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9" name="object 69"/>
          <p:cNvSpPr/>
          <p:nvPr/>
        </p:nvSpPr>
        <p:spPr>
          <a:xfrm>
            <a:off x="3649981" y="1680882"/>
            <a:ext cx="67235" cy="2017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0" name="object 70"/>
          <p:cNvSpPr/>
          <p:nvPr/>
        </p:nvSpPr>
        <p:spPr>
          <a:xfrm>
            <a:off x="2667001" y="2353236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1" name="object 71"/>
          <p:cNvSpPr/>
          <p:nvPr/>
        </p:nvSpPr>
        <p:spPr>
          <a:xfrm>
            <a:off x="2665654" y="2351890"/>
            <a:ext cx="273424" cy="273424"/>
          </a:xfrm>
          <a:custGeom>
            <a:avLst/>
            <a:gdLst/>
            <a:ahLst/>
            <a:cxnLst/>
            <a:rect l="l" t="t" r="r" b="b"/>
            <a:pathLst>
              <a:path w="309880" h="309880">
                <a:moveTo>
                  <a:pt x="307848" y="309372"/>
                </a:moveTo>
                <a:lnTo>
                  <a:pt x="1524" y="309372"/>
                </a:ln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9372" y="1524"/>
                </a:lnTo>
                <a:lnTo>
                  <a:pt x="4572" y="1524"/>
                </a:lnTo>
                <a:lnTo>
                  <a:pt x="1524" y="4572"/>
                </a:lnTo>
                <a:lnTo>
                  <a:pt x="4572" y="4572"/>
                </a:lnTo>
                <a:lnTo>
                  <a:pt x="4572" y="304800"/>
                </a:lnTo>
                <a:lnTo>
                  <a:pt x="1524" y="304800"/>
                </a:lnTo>
                <a:lnTo>
                  <a:pt x="4572" y="306324"/>
                </a:lnTo>
                <a:lnTo>
                  <a:pt x="309372" y="306324"/>
                </a:lnTo>
                <a:lnTo>
                  <a:pt x="309372" y="307848"/>
                </a:lnTo>
                <a:lnTo>
                  <a:pt x="307848" y="309372"/>
                </a:lnTo>
                <a:close/>
              </a:path>
              <a:path w="309880" h="309880">
                <a:moveTo>
                  <a:pt x="4572" y="4572"/>
                </a:moveTo>
                <a:lnTo>
                  <a:pt x="1524" y="4572"/>
                </a:lnTo>
                <a:lnTo>
                  <a:pt x="4572" y="1524"/>
                </a:lnTo>
                <a:lnTo>
                  <a:pt x="4572" y="4572"/>
                </a:lnTo>
                <a:close/>
              </a:path>
              <a:path w="309880" h="309880">
                <a:moveTo>
                  <a:pt x="304800" y="4572"/>
                </a:moveTo>
                <a:lnTo>
                  <a:pt x="4572" y="4572"/>
                </a:lnTo>
                <a:lnTo>
                  <a:pt x="4572" y="1524"/>
                </a:lnTo>
                <a:lnTo>
                  <a:pt x="304800" y="1524"/>
                </a:lnTo>
                <a:lnTo>
                  <a:pt x="304800" y="4572"/>
                </a:lnTo>
                <a:close/>
              </a:path>
              <a:path w="309880" h="309880">
                <a:moveTo>
                  <a:pt x="304800" y="306324"/>
                </a:moveTo>
                <a:lnTo>
                  <a:pt x="304800" y="1524"/>
                </a:lnTo>
                <a:lnTo>
                  <a:pt x="306324" y="4572"/>
                </a:lnTo>
                <a:lnTo>
                  <a:pt x="309372" y="4572"/>
                </a:lnTo>
                <a:lnTo>
                  <a:pt x="309372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9880" h="309880">
                <a:moveTo>
                  <a:pt x="309372" y="4572"/>
                </a:moveTo>
                <a:lnTo>
                  <a:pt x="306324" y="4572"/>
                </a:lnTo>
                <a:lnTo>
                  <a:pt x="304800" y="1524"/>
                </a:lnTo>
                <a:lnTo>
                  <a:pt x="309372" y="1524"/>
                </a:lnTo>
                <a:lnTo>
                  <a:pt x="309372" y="4572"/>
                </a:lnTo>
                <a:close/>
              </a:path>
              <a:path w="309880" h="309880">
                <a:moveTo>
                  <a:pt x="4572" y="306324"/>
                </a:moveTo>
                <a:lnTo>
                  <a:pt x="1524" y="304800"/>
                </a:lnTo>
                <a:lnTo>
                  <a:pt x="4572" y="304800"/>
                </a:lnTo>
                <a:lnTo>
                  <a:pt x="4572" y="306324"/>
                </a:lnTo>
                <a:close/>
              </a:path>
              <a:path w="309880" h="309880">
                <a:moveTo>
                  <a:pt x="304800" y="306324"/>
                </a:moveTo>
                <a:lnTo>
                  <a:pt x="4572" y="306324"/>
                </a:lnTo>
                <a:lnTo>
                  <a:pt x="4572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9880" h="309880">
                <a:moveTo>
                  <a:pt x="309372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9372" y="304800"/>
                </a:lnTo>
                <a:lnTo>
                  <a:pt x="309372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2" name="object 72"/>
          <p:cNvSpPr/>
          <p:nvPr/>
        </p:nvSpPr>
        <p:spPr>
          <a:xfrm>
            <a:off x="2935942" y="2454089"/>
            <a:ext cx="610721" cy="67235"/>
          </a:xfrm>
          <a:custGeom>
            <a:avLst/>
            <a:gdLst/>
            <a:ahLst/>
            <a:cxnLst/>
            <a:rect l="l" t="t" r="r" b="b"/>
            <a:pathLst>
              <a:path w="692150" h="76200">
                <a:moveTo>
                  <a:pt x="615696" y="76200"/>
                </a:moveTo>
                <a:lnTo>
                  <a:pt x="615696" y="0"/>
                </a:lnTo>
                <a:lnTo>
                  <a:pt x="679704" y="32004"/>
                </a:lnTo>
                <a:lnTo>
                  <a:pt x="627887" y="32004"/>
                </a:lnTo>
                <a:lnTo>
                  <a:pt x="627887" y="45720"/>
                </a:lnTo>
                <a:lnTo>
                  <a:pt x="676656" y="45720"/>
                </a:lnTo>
                <a:lnTo>
                  <a:pt x="615696" y="76200"/>
                </a:lnTo>
                <a:close/>
              </a:path>
              <a:path w="692150" h="76200">
                <a:moveTo>
                  <a:pt x="615696" y="45720"/>
                </a:moveTo>
                <a:lnTo>
                  <a:pt x="0" y="45720"/>
                </a:lnTo>
                <a:lnTo>
                  <a:pt x="0" y="32004"/>
                </a:lnTo>
                <a:lnTo>
                  <a:pt x="615696" y="32004"/>
                </a:lnTo>
                <a:lnTo>
                  <a:pt x="615696" y="45720"/>
                </a:lnTo>
                <a:close/>
              </a:path>
              <a:path w="692150" h="76200">
                <a:moveTo>
                  <a:pt x="676656" y="45720"/>
                </a:moveTo>
                <a:lnTo>
                  <a:pt x="627887" y="45720"/>
                </a:lnTo>
                <a:lnTo>
                  <a:pt x="627887" y="32004"/>
                </a:lnTo>
                <a:lnTo>
                  <a:pt x="679704" y="32004"/>
                </a:lnTo>
                <a:lnTo>
                  <a:pt x="691896" y="38100"/>
                </a:lnTo>
                <a:lnTo>
                  <a:pt x="676656" y="457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3" name="object 73"/>
          <p:cNvSpPr/>
          <p:nvPr/>
        </p:nvSpPr>
        <p:spPr>
          <a:xfrm>
            <a:off x="3818068" y="2454089"/>
            <a:ext cx="610721" cy="67235"/>
          </a:xfrm>
          <a:custGeom>
            <a:avLst/>
            <a:gdLst/>
            <a:ahLst/>
            <a:cxnLst/>
            <a:rect l="l" t="t" r="r" b="b"/>
            <a:pathLst>
              <a:path w="692150" h="76200">
                <a:moveTo>
                  <a:pt x="615696" y="76200"/>
                </a:moveTo>
                <a:lnTo>
                  <a:pt x="615696" y="0"/>
                </a:lnTo>
                <a:lnTo>
                  <a:pt x="679704" y="32004"/>
                </a:lnTo>
                <a:lnTo>
                  <a:pt x="627887" y="32004"/>
                </a:lnTo>
                <a:lnTo>
                  <a:pt x="627887" y="45720"/>
                </a:lnTo>
                <a:lnTo>
                  <a:pt x="676656" y="45720"/>
                </a:lnTo>
                <a:lnTo>
                  <a:pt x="615696" y="76200"/>
                </a:lnTo>
                <a:close/>
              </a:path>
              <a:path w="692150" h="76200">
                <a:moveTo>
                  <a:pt x="615696" y="45720"/>
                </a:moveTo>
                <a:lnTo>
                  <a:pt x="0" y="45720"/>
                </a:lnTo>
                <a:lnTo>
                  <a:pt x="0" y="32004"/>
                </a:lnTo>
                <a:lnTo>
                  <a:pt x="615696" y="32004"/>
                </a:lnTo>
                <a:lnTo>
                  <a:pt x="615696" y="45720"/>
                </a:lnTo>
                <a:close/>
              </a:path>
              <a:path w="692150" h="76200">
                <a:moveTo>
                  <a:pt x="676656" y="45720"/>
                </a:moveTo>
                <a:lnTo>
                  <a:pt x="627887" y="45720"/>
                </a:lnTo>
                <a:lnTo>
                  <a:pt x="627887" y="32004"/>
                </a:lnTo>
                <a:lnTo>
                  <a:pt x="679704" y="32004"/>
                </a:lnTo>
                <a:lnTo>
                  <a:pt x="691896" y="38100"/>
                </a:lnTo>
                <a:lnTo>
                  <a:pt x="676656" y="457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4" name="object 74"/>
          <p:cNvSpPr/>
          <p:nvPr/>
        </p:nvSpPr>
        <p:spPr>
          <a:xfrm>
            <a:off x="4690782" y="2454089"/>
            <a:ext cx="609600" cy="67235"/>
          </a:xfrm>
          <a:custGeom>
            <a:avLst/>
            <a:gdLst/>
            <a:ahLst/>
            <a:cxnLst/>
            <a:rect l="l" t="t" r="r" b="b"/>
            <a:pathLst>
              <a:path w="690879" h="76200">
                <a:moveTo>
                  <a:pt x="614172" y="76200"/>
                </a:moveTo>
                <a:lnTo>
                  <a:pt x="614172" y="0"/>
                </a:lnTo>
                <a:lnTo>
                  <a:pt x="678180" y="32004"/>
                </a:lnTo>
                <a:lnTo>
                  <a:pt x="626364" y="32004"/>
                </a:lnTo>
                <a:lnTo>
                  <a:pt x="626364" y="45720"/>
                </a:lnTo>
                <a:lnTo>
                  <a:pt x="675132" y="45720"/>
                </a:lnTo>
                <a:lnTo>
                  <a:pt x="614172" y="76200"/>
                </a:lnTo>
                <a:close/>
              </a:path>
              <a:path w="690879" h="76200">
                <a:moveTo>
                  <a:pt x="614172" y="45720"/>
                </a:moveTo>
                <a:lnTo>
                  <a:pt x="0" y="45720"/>
                </a:lnTo>
                <a:lnTo>
                  <a:pt x="0" y="32004"/>
                </a:lnTo>
                <a:lnTo>
                  <a:pt x="614172" y="32004"/>
                </a:lnTo>
                <a:lnTo>
                  <a:pt x="614172" y="45720"/>
                </a:lnTo>
                <a:close/>
              </a:path>
              <a:path w="690879" h="76200">
                <a:moveTo>
                  <a:pt x="675132" y="45720"/>
                </a:moveTo>
                <a:lnTo>
                  <a:pt x="626364" y="45720"/>
                </a:lnTo>
                <a:lnTo>
                  <a:pt x="626364" y="32004"/>
                </a:lnTo>
                <a:lnTo>
                  <a:pt x="678180" y="32004"/>
                </a:lnTo>
                <a:lnTo>
                  <a:pt x="690372" y="38100"/>
                </a:lnTo>
                <a:lnTo>
                  <a:pt x="675132" y="457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5" name="object 75"/>
          <p:cNvSpPr/>
          <p:nvPr/>
        </p:nvSpPr>
        <p:spPr>
          <a:xfrm>
            <a:off x="5582323" y="2454089"/>
            <a:ext cx="312084" cy="67235"/>
          </a:xfrm>
          <a:custGeom>
            <a:avLst/>
            <a:gdLst/>
            <a:ahLst/>
            <a:cxnLst/>
            <a:rect l="l" t="t" r="r" b="b"/>
            <a:pathLst>
              <a:path w="353695" h="76200">
                <a:moveTo>
                  <a:pt x="277368" y="76200"/>
                </a:moveTo>
                <a:lnTo>
                  <a:pt x="277368" y="0"/>
                </a:lnTo>
                <a:lnTo>
                  <a:pt x="341376" y="32004"/>
                </a:lnTo>
                <a:lnTo>
                  <a:pt x="291083" y="32004"/>
                </a:lnTo>
                <a:lnTo>
                  <a:pt x="291083" y="45720"/>
                </a:lnTo>
                <a:lnTo>
                  <a:pt x="338328" y="45720"/>
                </a:lnTo>
                <a:lnTo>
                  <a:pt x="277368" y="76200"/>
                </a:lnTo>
                <a:close/>
              </a:path>
              <a:path w="353695" h="76200">
                <a:moveTo>
                  <a:pt x="277368" y="45720"/>
                </a:moveTo>
                <a:lnTo>
                  <a:pt x="0" y="45720"/>
                </a:lnTo>
                <a:lnTo>
                  <a:pt x="0" y="32004"/>
                </a:lnTo>
                <a:lnTo>
                  <a:pt x="277368" y="32004"/>
                </a:lnTo>
                <a:lnTo>
                  <a:pt x="277368" y="45720"/>
                </a:lnTo>
                <a:close/>
              </a:path>
              <a:path w="353695" h="76200">
                <a:moveTo>
                  <a:pt x="338328" y="45720"/>
                </a:moveTo>
                <a:lnTo>
                  <a:pt x="291083" y="45720"/>
                </a:lnTo>
                <a:lnTo>
                  <a:pt x="291083" y="32004"/>
                </a:lnTo>
                <a:lnTo>
                  <a:pt x="341376" y="32004"/>
                </a:lnTo>
                <a:lnTo>
                  <a:pt x="353568" y="38100"/>
                </a:lnTo>
                <a:lnTo>
                  <a:pt x="338328" y="457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6" name="object 76"/>
          <p:cNvSpPr/>
          <p:nvPr/>
        </p:nvSpPr>
        <p:spPr>
          <a:xfrm>
            <a:off x="6701118" y="2454089"/>
            <a:ext cx="358028" cy="67235"/>
          </a:xfrm>
          <a:custGeom>
            <a:avLst/>
            <a:gdLst/>
            <a:ahLst/>
            <a:cxnLst/>
            <a:rect l="l" t="t" r="r" b="b"/>
            <a:pathLst>
              <a:path w="405764" h="76200">
                <a:moveTo>
                  <a:pt x="329184" y="76200"/>
                </a:moveTo>
                <a:lnTo>
                  <a:pt x="329184" y="0"/>
                </a:lnTo>
                <a:lnTo>
                  <a:pt x="393192" y="32004"/>
                </a:lnTo>
                <a:lnTo>
                  <a:pt x="341376" y="32004"/>
                </a:lnTo>
                <a:lnTo>
                  <a:pt x="341376" y="45720"/>
                </a:lnTo>
                <a:lnTo>
                  <a:pt x="390144" y="45720"/>
                </a:lnTo>
                <a:lnTo>
                  <a:pt x="329184" y="76200"/>
                </a:lnTo>
                <a:close/>
              </a:path>
              <a:path w="405764" h="76200">
                <a:moveTo>
                  <a:pt x="329184" y="45720"/>
                </a:moveTo>
                <a:lnTo>
                  <a:pt x="0" y="45720"/>
                </a:lnTo>
                <a:lnTo>
                  <a:pt x="0" y="32004"/>
                </a:lnTo>
                <a:lnTo>
                  <a:pt x="329184" y="32004"/>
                </a:lnTo>
                <a:lnTo>
                  <a:pt x="329184" y="45720"/>
                </a:lnTo>
                <a:close/>
              </a:path>
              <a:path w="405764" h="76200">
                <a:moveTo>
                  <a:pt x="390144" y="45720"/>
                </a:moveTo>
                <a:lnTo>
                  <a:pt x="341376" y="45720"/>
                </a:lnTo>
                <a:lnTo>
                  <a:pt x="341376" y="32004"/>
                </a:lnTo>
                <a:lnTo>
                  <a:pt x="393192" y="32004"/>
                </a:lnTo>
                <a:lnTo>
                  <a:pt x="405384" y="38100"/>
                </a:lnTo>
                <a:lnTo>
                  <a:pt x="390144" y="457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7" name="object 77"/>
          <p:cNvSpPr/>
          <p:nvPr/>
        </p:nvSpPr>
        <p:spPr>
          <a:xfrm>
            <a:off x="7318337" y="2454089"/>
            <a:ext cx="609600" cy="67235"/>
          </a:xfrm>
          <a:custGeom>
            <a:avLst/>
            <a:gdLst/>
            <a:ahLst/>
            <a:cxnLst/>
            <a:rect l="l" t="t" r="r" b="b"/>
            <a:pathLst>
              <a:path w="690879" h="76200">
                <a:moveTo>
                  <a:pt x="614172" y="76200"/>
                </a:moveTo>
                <a:lnTo>
                  <a:pt x="614172" y="0"/>
                </a:lnTo>
                <a:lnTo>
                  <a:pt x="678180" y="32004"/>
                </a:lnTo>
                <a:lnTo>
                  <a:pt x="627887" y="32004"/>
                </a:lnTo>
                <a:lnTo>
                  <a:pt x="627887" y="45720"/>
                </a:lnTo>
                <a:lnTo>
                  <a:pt x="675132" y="45720"/>
                </a:lnTo>
                <a:lnTo>
                  <a:pt x="614172" y="76200"/>
                </a:lnTo>
                <a:close/>
              </a:path>
              <a:path w="690879" h="76200">
                <a:moveTo>
                  <a:pt x="614172" y="45720"/>
                </a:moveTo>
                <a:lnTo>
                  <a:pt x="0" y="45720"/>
                </a:lnTo>
                <a:lnTo>
                  <a:pt x="0" y="32004"/>
                </a:lnTo>
                <a:lnTo>
                  <a:pt x="614172" y="32004"/>
                </a:lnTo>
                <a:lnTo>
                  <a:pt x="614172" y="45720"/>
                </a:lnTo>
                <a:close/>
              </a:path>
              <a:path w="690879" h="76200">
                <a:moveTo>
                  <a:pt x="675132" y="45720"/>
                </a:moveTo>
                <a:lnTo>
                  <a:pt x="627887" y="45720"/>
                </a:lnTo>
                <a:lnTo>
                  <a:pt x="627887" y="32004"/>
                </a:lnTo>
                <a:lnTo>
                  <a:pt x="678180" y="32004"/>
                </a:lnTo>
                <a:lnTo>
                  <a:pt x="690372" y="38100"/>
                </a:lnTo>
                <a:lnTo>
                  <a:pt x="675132" y="457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8" name="object 78"/>
          <p:cNvSpPr/>
          <p:nvPr/>
        </p:nvSpPr>
        <p:spPr>
          <a:xfrm>
            <a:off x="8189707" y="2454089"/>
            <a:ext cx="610721" cy="67235"/>
          </a:xfrm>
          <a:custGeom>
            <a:avLst/>
            <a:gdLst/>
            <a:ahLst/>
            <a:cxnLst/>
            <a:rect l="l" t="t" r="r" b="b"/>
            <a:pathLst>
              <a:path w="692150" h="76200">
                <a:moveTo>
                  <a:pt x="615696" y="76200"/>
                </a:moveTo>
                <a:lnTo>
                  <a:pt x="615696" y="0"/>
                </a:lnTo>
                <a:lnTo>
                  <a:pt x="679704" y="32004"/>
                </a:lnTo>
                <a:lnTo>
                  <a:pt x="627887" y="32004"/>
                </a:lnTo>
                <a:lnTo>
                  <a:pt x="627887" y="45720"/>
                </a:lnTo>
                <a:lnTo>
                  <a:pt x="676656" y="45720"/>
                </a:lnTo>
                <a:lnTo>
                  <a:pt x="615696" y="76200"/>
                </a:lnTo>
                <a:close/>
              </a:path>
              <a:path w="692150" h="76200">
                <a:moveTo>
                  <a:pt x="615696" y="45720"/>
                </a:moveTo>
                <a:lnTo>
                  <a:pt x="0" y="45720"/>
                </a:lnTo>
                <a:lnTo>
                  <a:pt x="0" y="32004"/>
                </a:lnTo>
                <a:lnTo>
                  <a:pt x="615696" y="32004"/>
                </a:lnTo>
                <a:lnTo>
                  <a:pt x="615696" y="45720"/>
                </a:lnTo>
                <a:close/>
              </a:path>
              <a:path w="692150" h="76200">
                <a:moveTo>
                  <a:pt x="676656" y="45720"/>
                </a:moveTo>
                <a:lnTo>
                  <a:pt x="627887" y="45720"/>
                </a:lnTo>
                <a:lnTo>
                  <a:pt x="627887" y="32004"/>
                </a:lnTo>
                <a:lnTo>
                  <a:pt x="679704" y="32004"/>
                </a:lnTo>
                <a:lnTo>
                  <a:pt x="691896" y="38100"/>
                </a:lnTo>
                <a:lnTo>
                  <a:pt x="676656" y="457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9" name="object 79"/>
          <p:cNvSpPr txBox="1"/>
          <p:nvPr/>
        </p:nvSpPr>
        <p:spPr>
          <a:xfrm>
            <a:off x="2512337" y="3230854"/>
            <a:ext cx="6494368" cy="234996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846650">
              <a:spcBef>
                <a:spcPts val="88"/>
              </a:spcBef>
            </a:pPr>
            <a:r>
              <a:rPr sz="1588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endParaRPr sz="1588" dirty="0">
              <a:latin typeface="Calibri"/>
              <a:cs typeface="Calibri"/>
            </a:endParaRPr>
          </a:p>
          <a:p>
            <a:pPr marL="336194" indent="-302575">
              <a:spcBef>
                <a:spcPts val="1363"/>
              </a:spcBef>
              <a:buFont typeface="Arial"/>
              <a:buChar char="•"/>
              <a:tabLst>
                <a:tab pos="335634" algn="l"/>
                <a:tab pos="336194" algn="l"/>
              </a:tabLst>
            </a:pPr>
            <a:r>
              <a:rPr sz="2000" dirty="0">
                <a:solidFill>
                  <a:srgbClr val="FFC000"/>
                </a:solidFill>
                <a:latin typeface="Calibri"/>
                <a:cs typeface="Calibri"/>
              </a:rPr>
              <a:t>Back </a:t>
            </a:r>
            <a:r>
              <a:rPr sz="2000" spc="-9" dirty="0">
                <a:solidFill>
                  <a:srgbClr val="FFC000"/>
                </a:solidFill>
                <a:latin typeface="Calibri"/>
                <a:cs typeface="Calibri"/>
              </a:rPr>
              <a:t>propagation </a:t>
            </a:r>
            <a:r>
              <a:rPr sz="2000" spc="-4" dirty="0">
                <a:solidFill>
                  <a:srgbClr val="FFC000"/>
                </a:solidFill>
                <a:latin typeface="Calibri"/>
                <a:cs typeface="Calibri"/>
              </a:rPr>
              <a:t>through time</a:t>
            </a:r>
            <a:r>
              <a:rPr sz="2000" spc="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FFC000"/>
                </a:solidFill>
                <a:latin typeface="Calibri"/>
                <a:cs typeface="Calibri"/>
              </a:rPr>
              <a:t>(BPTT)</a:t>
            </a:r>
            <a:endParaRPr sz="2000" dirty="0">
              <a:solidFill>
                <a:srgbClr val="FFC000"/>
              </a:solidFill>
              <a:latin typeface="Calibri"/>
              <a:cs typeface="Calibri"/>
            </a:endParaRPr>
          </a:p>
          <a:p>
            <a:pPr>
              <a:spcBef>
                <a:spcPts val="4"/>
              </a:spcBef>
              <a:buFont typeface="Arial"/>
              <a:buChar char="•"/>
            </a:pPr>
            <a:endParaRPr sz="1544" dirty="0">
              <a:latin typeface="Times New Roman"/>
              <a:cs typeface="Times New Roman"/>
            </a:endParaRPr>
          </a:p>
          <a:p>
            <a:pPr marL="336194" indent="-302575">
              <a:buFont typeface="Arial"/>
              <a:buChar char="•"/>
              <a:tabLst>
                <a:tab pos="335634" algn="l"/>
                <a:tab pos="336194" algn="l"/>
              </a:tabLst>
            </a:pPr>
            <a:r>
              <a:rPr sz="1588" spc="-4" dirty="0">
                <a:latin typeface="Calibri"/>
                <a:cs typeface="Calibri"/>
              </a:rPr>
              <a:t>Given </a:t>
            </a:r>
            <a:r>
              <a:rPr sz="1588" dirty="0">
                <a:latin typeface="Calibri"/>
                <a:cs typeface="Calibri"/>
              </a:rPr>
              <a:t>a </a:t>
            </a:r>
            <a:r>
              <a:rPr sz="1588" spc="-9" dirty="0">
                <a:latin typeface="Calibri"/>
                <a:cs typeface="Calibri"/>
              </a:rPr>
              <a:t>collection </a:t>
            </a:r>
            <a:r>
              <a:rPr sz="1588" dirty="0">
                <a:latin typeface="Calibri"/>
                <a:cs typeface="Calibri"/>
              </a:rPr>
              <a:t>of </a:t>
            </a:r>
            <a:r>
              <a:rPr sz="1588" i="1" spc="-4" dirty="0">
                <a:latin typeface="Calibri"/>
                <a:cs typeface="Calibri"/>
              </a:rPr>
              <a:t>sequence</a:t>
            </a:r>
            <a:r>
              <a:rPr sz="1588" i="1" spc="62" dirty="0">
                <a:latin typeface="Calibri"/>
                <a:cs typeface="Calibri"/>
              </a:rPr>
              <a:t> </a:t>
            </a:r>
            <a:r>
              <a:rPr sz="1588" spc="-4" dirty="0">
                <a:latin typeface="Calibri"/>
                <a:cs typeface="Calibri"/>
              </a:rPr>
              <a:t>inputs</a:t>
            </a:r>
            <a:endParaRPr sz="1588" dirty="0">
              <a:latin typeface="Calibri"/>
              <a:cs typeface="Calibri"/>
            </a:endParaRPr>
          </a:p>
          <a:p>
            <a:pPr marL="437053">
              <a:spcBef>
                <a:spcPts val="340"/>
              </a:spcBef>
              <a:tabLst>
                <a:tab pos="689759" algn="l"/>
              </a:tabLst>
            </a:pPr>
            <a:r>
              <a:rPr sz="1324" dirty="0">
                <a:latin typeface="Arial"/>
                <a:cs typeface="Arial"/>
              </a:rPr>
              <a:t>–	</a:t>
            </a:r>
            <a:r>
              <a:rPr sz="1324" dirty="0">
                <a:latin typeface="Bookman Old Style"/>
                <a:cs typeface="Bookman Old Style"/>
              </a:rPr>
              <a:t>(𝐗</a:t>
            </a:r>
            <a:r>
              <a:rPr sz="1456" baseline="-15151" dirty="0">
                <a:latin typeface="Bookman Old Style"/>
                <a:cs typeface="Bookman Old Style"/>
              </a:rPr>
              <a:t>i</a:t>
            </a:r>
            <a:r>
              <a:rPr sz="1324" dirty="0">
                <a:latin typeface="Bookman Old Style"/>
                <a:cs typeface="Bookman Old Style"/>
              </a:rPr>
              <a:t>, </a:t>
            </a:r>
            <a:r>
              <a:rPr sz="1324" spc="62" dirty="0">
                <a:latin typeface="Bookman Old Style"/>
                <a:cs typeface="Bookman Old Style"/>
              </a:rPr>
              <a:t>𝐃</a:t>
            </a:r>
            <a:r>
              <a:rPr sz="1456" spc="92" baseline="-15151" dirty="0">
                <a:latin typeface="Bookman Old Style"/>
                <a:cs typeface="Bookman Old Style"/>
              </a:rPr>
              <a:t>i</a:t>
            </a:r>
            <a:r>
              <a:rPr sz="1324" spc="62" dirty="0">
                <a:latin typeface="Bookman Old Style"/>
                <a:cs typeface="Bookman Old Style"/>
              </a:rPr>
              <a:t>)</a:t>
            </a:r>
            <a:r>
              <a:rPr sz="1324" spc="62" dirty="0">
                <a:latin typeface="Calibri"/>
                <a:cs typeface="Calibri"/>
              </a:rPr>
              <a:t>,</a:t>
            </a:r>
            <a:r>
              <a:rPr sz="1324" spc="93" dirty="0">
                <a:latin typeface="Calibri"/>
                <a:cs typeface="Calibri"/>
              </a:rPr>
              <a:t> </a:t>
            </a:r>
            <a:r>
              <a:rPr sz="1324" spc="-9" dirty="0">
                <a:latin typeface="Calibri"/>
                <a:cs typeface="Calibri"/>
              </a:rPr>
              <a:t>where</a:t>
            </a:r>
            <a:endParaRPr sz="1324" dirty="0">
              <a:latin typeface="Calibri"/>
              <a:cs typeface="Calibri"/>
            </a:endParaRPr>
          </a:p>
          <a:p>
            <a:pPr marL="437053">
              <a:spcBef>
                <a:spcPts val="582"/>
              </a:spcBef>
              <a:tabLst>
                <a:tab pos="689759" algn="l"/>
              </a:tabLst>
            </a:pPr>
            <a:r>
              <a:rPr sz="1324" dirty="0">
                <a:latin typeface="Arial"/>
                <a:cs typeface="Arial"/>
              </a:rPr>
              <a:t>–	</a:t>
            </a:r>
            <a:r>
              <a:rPr sz="1324" spc="-40" dirty="0">
                <a:latin typeface="Bookman Old Style"/>
                <a:cs typeface="Bookman Old Style"/>
              </a:rPr>
              <a:t>𝐗</a:t>
            </a:r>
            <a:r>
              <a:rPr sz="1456" spc="-59" baseline="-15151" dirty="0">
                <a:latin typeface="Bookman Old Style"/>
                <a:cs typeface="Bookman Old Style"/>
              </a:rPr>
              <a:t>i </a:t>
            </a:r>
            <a:r>
              <a:rPr sz="1324" spc="194" dirty="0">
                <a:latin typeface="Bookman Old Style"/>
                <a:cs typeface="Bookman Old Style"/>
              </a:rPr>
              <a:t>= </a:t>
            </a:r>
            <a:r>
              <a:rPr sz="1324" spc="-75" dirty="0">
                <a:latin typeface="Bookman Old Style"/>
                <a:cs typeface="Bookman Old Style"/>
              </a:rPr>
              <a:t>𝑋</a:t>
            </a:r>
            <a:r>
              <a:rPr sz="1456" spc="-112" baseline="-15151" dirty="0">
                <a:latin typeface="Bookman Old Style"/>
                <a:cs typeface="Bookman Old Style"/>
              </a:rPr>
              <a:t>i,0</a:t>
            </a:r>
            <a:r>
              <a:rPr sz="1324" spc="-75" dirty="0">
                <a:latin typeface="Bookman Old Style"/>
                <a:cs typeface="Bookman Old Style"/>
              </a:rPr>
              <a:t>,</a:t>
            </a:r>
            <a:r>
              <a:rPr sz="1324" spc="-353" dirty="0">
                <a:latin typeface="Bookman Old Style"/>
                <a:cs typeface="Bookman Old Style"/>
              </a:rPr>
              <a:t> </a:t>
            </a:r>
            <a:r>
              <a:rPr sz="1324" spc="-331" dirty="0">
                <a:latin typeface="Bookman Old Style"/>
                <a:cs typeface="Bookman Old Style"/>
              </a:rPr>
              <a:t>…  </a:t>
            </a:r>
            <a:r>
              <a:rPr sz="1324" spc="-154" dirty="0">
                <a:latin typeface="Bookman Old Style"/>
                <a:cs typeface="Bookman Old Style"/>
              </a:rPr>
              <a:t>, </a:t>
            </a:r>
            <a:r>
              <a:rPr sz="1324" spc="-62" dirty="0">
                <a:latin typeface="Bookman Old Style"/>
                <a:cs typeface="Bookman Old Style"/>
              </a:rPr>
              <a:t>𝑋</a:t>
            </a:r>
            <a:r>
              <a:rPr sz="1456" spc="-92" baseline="-15151" dirty="0">
                <a:latin typeface="Bookman Old Style"/>
                <a:cs typeface="Bookman Old Style"/>
              </a:rPr>
              <a:t>i,T</a:t>
            </a:r>
            <a:endParaRPr sz="1456" baseline="-15151" dirty="0">
              <a:latin typeface="Bookman Old Style"/>
              <a:cs typeface="Bookman Old Style"/>
            </a:endParaRPr>
          </a:p>
          <a:p>
            <a:pPr marL="437053">
              <a:spcBef>
                <a:spcPts val="728"/>
              </a:spcBef>
              <a:tabLst>
                <a:tab pos="689759" algn="l"/>
              </a:tabLst>
            </a:pPr>
            <a:r>
              <a:rPr sz="1324" dirty="0">
                <a:latin typeface="Arial"/>
                <a:cs typeface="Arial"/>
              </a:rPr>
              <a:t>–	</a:t>
            </a:r>
            <a:r>
              <a:rPr sz="1324" dirty="0">
                <a:latin typeface="Bookman Old Style"/>
                <a:cs typeface="Bookman Old Style"/>
              </a:rPr>
              <a:t>𝐃</a:t>
            </a:r>
            <a:r>
              <a:rPr sz="1456" baseline="-15151" dirty="0">
                <a:latin typeface="Bookman Old Style"/>
                <a:cs typeface="Bookman Old Style"/>
              </a:rPr>
              <a:t>i </a:t>
            </a:r>
            <a:r>
              <a:rPr sz="1324" spc="194" dirty="0">
                <a:latin typeface="Bookman Old Style"/>
                <a:cs typeface="Bookman Old Style"/>
              </a:rPr>
              <a:t>=</a:t>
            </a:r>
            <a:r>
              <a:rPr sz="1324" spc="-128" dirty="0">
                <a:latin typeface="Bookman Old Style"/>
                <a:cs typeface="Bookman Old Style"/>
              </a:rPr>
              <a:t> </a:t>
            </a:r>
            <a:r>
              <a:rPr sz="1324" spc="-66" dirty="0">
                <a:latin typeface="Bookman Old Style"/>
                <a:cs typeface="Bookman Old Style"/>
              </a:rPr>
              <a:t>𝐷</a:t>
            </a:r>
            <a:r>
              <a:rPr sz="1456" spc="-99" baseline="-15151" dirty="0">
                <a:latin typeface="Bookman Old Style"/>
                <a:cs typeface="Bookman Old Style"/>
              </a:rPr>
              <a:t>i,0</a:t>
            </a:r>
            <a:r>
              <a:rPr sz="1324" spc="-66" dirty="0">
                <a:latin typeface="Bookman Old Style"/>
                <a:cs typeface="Bookman Old Style"/>
              </a:rPr>
              <a:t>, </a:t>
            </a:r>
            <a:r>
              <a:rPr sz="1324" spc="-331" dirty="0">
                <a:latin typeface="Bookman Old Style"/>
                <a:cs typeface="Bookman Old Style"/>
              </a:rPr>
              <a:t>…  </a:t>
            </a:r>
            <a:r>
              <a:rPr sz="1324" spc="-154" dirty="0">
                <a:latin typeface="Bookman Old Style"/>
                <a:cs typeface="Bookman Old Style"/>
              </a:rPr>
              <a:t>, </a:t>
            </a:r>
            <a:r>
              <a:rPr sz="1324" spc="-53" dirty="0">
                <a:latin typeface="Bookman Old Style"/>
                <a:cs typeface="Bookman Old Style"/>
              </a:rPr>
              <a:t>𝐷</a:t>
            </a:r>
            <a:r>
              <a:rPr sz="1456" spc="-79" baseline="-15151" dirty="0">
                <a:latin typeface="Bookman Old Style"/>
                <a:cs typeface="Bookman Old Style"/>
              </a:rPr>
              <a:t>i,T</a:t>
            </a:r>
            <a:endParaRPr sz="1456" baseline="-15151" dirty="0">
              <a:latin typeface="Bookman Old Style"/>
              <a:cs typeface="Bookman Old Style"/>
            </a:endParaRPr>
          </a:p>
          <a:p>
            <a:pPr marL="336194" indent="-302575">
              <a:spcBef>
                <a:spcPts val="521"/>
              </a:spcBef>
              <a:buFont typeface="Arial"/>
              <a:buChar char="•"/>
              <a:tabLst>
                <a:tab pos="335634" algn="l"/>
                <a:tab pos="336194" algn="l"/>
              </a:tabLst>
            </a:pPr>
            <a:r>
              <a:rPr sz="1588" spc="-31" dirty="0">
                <a:latin typeface="Calibri"/>
                <a:cs typeface="Calibri"/>
              </a:rPr>
              <a:t>Train </a:t>
            </a:r>
            <a:r>
              <a:rPr sz="1588" spc="-4" dirty="0">
                <a:latin typeface="Calibri"/>
                <a:cs typeface="Calibri"/>
              </a:rPr>
              <a:t>network </a:t>
            </a:r>
            <a:r>
              <a:rPr sz="1588" spc="-13" dirty="0">
                <a:latin typeface="Calibri"/>
                <a:cs typeface="Calibri"/>
              </a:rPr>
              <a:t>parameters </a:t>
            </a:r>
            <a:r>
              <a:rPr sz="1588" spc="-4" dirty="0">
                <a:latin typeface="Calibri"/>
                <a:cs typeface="Calibri"/>
              </a:rPr>
              <a:t>to </a:t>
            </a:r>
            <a:r>
              <a:rPr sz="1588" spc="-9" dirty="0">
                <a:latin typeface="Calibri"/>
                <a:cs typeface="Calibri"/>
              </a:rPr>
              <a:t>minimize </a:t>
            </a:r>
            <a:r>
              <a:rPr sz="1588" spc="-4" dirty="0">
                <a:latin typeface="Calibri"/>
                <a:cs typeface="Calibri"/>
              </a:rPr>
              <a:t>the </a:t>
            </a:r>
            <a:r>
              <a:rPr sz="1588" spc="-9" dirty="0">
                <a:latin typeface="Calibri"/>
                <a:cs typeface="Calibri"/>
              </a:rPr>
              <a:t>error </a:t>
            </a:r>
            <a:r>
              <a:rPr sz="1588" spc="-4" dirty="0">
                <a:latin typeface="Calibri"/>
                <a:cs typeface="Calibri"/>
              </a:rPr>
              <a:t>between the output </a:t>
            </a:r>
            <a:r>
              <a:rPr sz="1588" dirty="0">
                <a:latin typeface="Calibri"/>
                <a:cs typeface="Calibri"/>
              </a:rPr>
              <a:t>of</a:t>
            </a:r>
            <a:r>
              <a:rPr sz="1588" spc="159" dirty="0">
                <a:latin typeface="Calibri"/>
                <a:cs typeface="Calibri"/>
              </a:rPr>
              <a:t> </a:t>
            </a:r>
            <a:r>
              <a:rPr sz="1588" spc="-4" dirty="0">
                <a:latin typeface="Calibri"/>
                <a:cs typeface="Calibri"/>
              </a:rPr>
              <a:t>the</a:t>
            </a:r>
            <a:endParaRPr sz="1588" dirty="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661647" y="2097311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389144" y="3056051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258329" y="3056051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972263" y="3061465"/>
            <a:ext cx="456079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6499413" y="2452744"/>
            <a:ext cx="67235" cy="672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5" name="object 85"/>
          <p:cNvSpPr/>
          <p:nvPr/>
        </p:nvSpPr>
        <p:spPr>
          <a:xfrm>
            <a:off x="6364942" y="2452744"/>
            <a:ext cx="67235" cy="672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6" name="object 86"/>
          <p:cNvSpPr/>
          <p:nvPr/>
        </p:nvSpPr>
        <p:spPr>
          <a:xfrm>
            <a:off x="6230472" y="2452744"/>
            <a:ext cx="67235" cy="672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7" name="object 87"/>
          <p:cNvSpPr/>
          <p:nvPr/>
        </p:nvSpPr>
        <p:spPr>
          <a:xfrm>
            <a:off x="6096001" y="2452744"/>
            <a:ext cx="67235" cy="672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8" name="object 88"/>
          <p:cNvSpPr txBox="1"/>
          <p:nvPr/>
        </p:nvSpPr>
        <p:spPr>
          <a:xfrm>
            <a:off x="7830149" y="3061465"/>
            <a:ext cx="456079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786968" y="3061465"/>
            <a:ext cx="310963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533920" y="1404769"/>
            <a:ext cx="209437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859537" algn="l"/>
                <a:tab pos="1761098" algn="l"/>
              </a:tabLst>
            </a:pPr>
            <a:r>
              <a:rPr sz="1588" dirty="0">
                <a:latin typeface="Calibri"/>
                <a:cs typeface="Calibri"/>
              </a:rPr>
              <a:t>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-13" dirty="0">
                <a:latin typeface="Calibri"/>
                <a:cs typeface="Calibri"/>
              </a:rPr>
              <a:t>0</a:t>
            </a:r>
            <a:r>
              <a:rPr sz="1588" dirty="0">
                <a:latin typeface="Calibri"/>
                <a:cs typeface="Calibri"/>
              </a:rPr>
              <a:t>)	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-13" dirty="0">
                <a:latin typeface="Calibri"/>
                <a:cs typeface="Calibri"/>
              </a:rPr>
              <a:t>1</a:t>
            </a:r>
            <a:r>
              <a:rPr sz="1588" dirty="0">
                <a:latin typeface="Calibri"/>
                <a:cs typeface="Calibri"/>
              </a:rPr>
              <a:t>)	</a:t>
            </a:r>
            <a:r>
              <a:rPr sz="1588" spc="-13" dirty="0">
                <a:latin typeface="Calibri"/>
                <a:cs typeface="Calibri"/>
              </a:rPr>
              <a:t>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4" dirty="0">
                <a:latin typeface="Calibri"/>
                <a:cs typeface="Calibri"/>
              </a:rPr>
              <a:t>2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972262" y="1435707"/>
            <a:ext cx="212127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  <a:tabLst>
                <a:tab pos="869622" algn="l"/>
                <a:tab pos="1826095" algn="l"/>
              </a:tabLst>
            </a:pP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r>
              <a:rPr sz="1412" dirty="0">
                <a:latin typeface="Calibri"/>
                <a:cs typeface="Calibri"/>
              </a:rPr>
              <a:t>	</a:t>
            </a: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spc="-13" dirty="0">
                <a:latin typeface="Calibri"/>
                <a:cs typeface="Calibri"/>
              </a:rPr>
              <a:t>-</a:t>
            </a:r>
            <a:r>
              <a:rPr sz="1412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r>
              <a:rPr sz="1412" dirty="0">
                <a:latin typeface="Calibri"/>
                <a:cs typeface="Calibri"/>
              </a:rPr>
              <a:t>	</a:t>
            </a: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496300" y="6073574"/>
            <a:ext cx="159684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dirty="0">
                <a:solidFill>
                  <a:srgbClr val="898989"/>
                </a:solidFill>
                <a:latin typeface="Calibri"/>
                <a:cs typeface="Calibri"/>
              </a:rPr>
              <a:t>70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93" name="Date Placeholder 92">
            <a:extLst>
              <a:ext uri="{FF2B5EF4-FFF2-40B4-BE49-F238E27FC236}">
                <a16:creationId xmlns:a16="http://schemas.microsoft.com/office/drawing/2014/main" id="{95554B1D-1067-D6A5-156B-4C51CAF88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4218-8882-4E98-9EC4-0E4782C7BA1D}" type="datetime1">
              <a:rPr lang="en-US" smtClean="0"/>
              <a:t>3/17/2025</a:t>
            </a:fld>
            <a:endParaRPr lang="en-US"/>
          </a:p>
        </p:txBody>
      </p:sp>
      <p:sp>
        <p:nvSpPr>
          <p:cNvPr id="94" name="Footer Placeholder 93">
            <a:extLst>
              <a:ext uri="{FF2B5EF4-FFF2-40B4-BE49-F238E27FC236}">
                <a16:creationId xmlns:a16="http://schemas.microsoft.com/office/drawing/2014/main" id="{98FA5494-15D0-0DE5-D958-79F97EF0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95" name="Slide Number Placeholder 94">
            <a:extLst>
              <a:ext uri="{FF2B5EF4-FFF2-40B4-BE49-F238E27FC236}">
                <a16:creationId xmlns:a16="http://schemas.microsoft.com/office/drawing/2014/main" id="{00E0EDDE-8F09-8933-9707-0FB71DEF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25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CDB6AA74-2035-4254-840A-4FB0FC24D2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381000"/>
            <a:ext cx="8229600" cy="857250"/>
          </a:xfrm>
        </p:spPr>
        <p:txBody>
          <a:bodyPr/>
          <a:lstStyle/>
          <a:p>
            <a:r>
              <a:rPr lang="en-US" altLang="en-US" dirty="0"/>
              <a:t>Backpropagation through time</a:t>
            </a: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BD99AC9C-7558-4DF5-81B8-5BF253FA0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38400" y="1447800"/>
            <a:ext cx="7602538" cy="442118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We can think of the recurrent net as a layered, feed-forward net with </a:t>
            </a:r>
            <a:r>
              <a:rPr lang="en-US" altLang="en-US" dirty="0">
                <a:solidFill>
                  <a:srgbClr val="FFC000"/>
                </a:solidFill>
              </a:rPr>
              <a:t>shared weights </a:t>
            </a:r>
            <a:r>
              <a:rPr lang="en-US" altLang="en-US" dirty="0"/>
              <a:t>and then train the feed-forward net.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We can also think of this training algorithm in the time domain: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 forward pass builds up a stack of the activities of all the units at each time step.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 backward pass works in reverse direction to compute the </a:t>
            </a:r>
            <a:r>
              <a:rPr lang="en-US" altLang="en-US" dirty="0">
                <a:solidFill>
                  <a:srgbClr val="FF0000"/>
                </a:solidFill>
              </a:rPr>
              <a:t>error derivatives </a:t>
            </a:r>
            <a:r>
              <a:rPr lang="en-US" altLang="en-US" dirty="0"/>
              <a:t>at each time step.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After the backward pass we add together the </a:t>
            </a:r>
            <a:r>
              <a:rPr lang="en-US" altLang="en-US" dirty="0">
                <a:solidFill>
                  <a:srgbClr val="FF0000"/>
                </a:solidFill>
              </a:rPr>
              <a:t>derivatives at all the different times for each weight.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3DBFBA-17EE-C687-0B40-B85FCBBC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B185-46FC-4168-A37C-A3297C7B5AD6}" type="datetime1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DBA103-AC70-46EC-08FA-C413D7F1E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8F05B-2015-5A3D-BF2A-AE01A3877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9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638453"/>
            <a:ext cx="7117718" cy="608851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883" spc="-35" dirty="0"/>
              <a:t>Training: </a:t>
            </a:r>
            <a:r>
              <a:rPr sz="3883" spc="-4" dirty="0"/>
              <a:t>Computing</a:t>
            </a:r>
            <a:r>
              <a:rPr sz="3883" spc="-18" dirty="0"/>
              <a:t> gradients</a:t>
            </a:r>
            <a:endParaRPr sz="3883" dirty="0"/>
          </a:p>
        </p:txBody>
      </p:sp>
      <p:sp>
        <p:nvSpPr>
          <p:cNvPr id="3" name="object 3"/>
          <p:cNvSpPr txBox="1"/>
          <p:nvPr/>
        </p:nvSpPr>
        <p:spPr>
          <a:xfrm>
            <a:off x="2572468" y="4795474"/>
            <a:ext cx="5890372" cy="1055658"/>
          </a:xfrm>
          <a:prstGeom prst="rect">
            <a:avLst/>
          </a:prstGeom>
        </p:spPr>
        <p:txBody>
          <a:bodyPr vert="horz" wrap="square" lIns="0" tIns="70597" rIns="0" bIns="0" rtlCol="0">
            <a:spAutoFit/>
          </a:bodyPr>
          <a:lstStyle/>
          <a:p>
            <a:pPr marL="313781" indent="-302575">
              <a:spcBef>
                <a:spcPts val="556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1941" spc="-9" dirty="0">
                <a:latin typeface="Calibri"/>
                <a:cs typeface="Calibri"/>
              </a:rPr>
              <a:t>For </a:t>
            </a:r>
            <a:r>
              <a:rPr sz="1941" spc="-4" dirty="0">
                <a:latin typeface="Calibri"/>
                <a:cs typeface="Calibri"/>
              </a:rPr>
              <a:t>each </a:t>
            </a:r>
            <a:r>
              <a:rPr sz="1941" spc="-9" dirty="0">
                <a:latin typeface="Calibri"/>
                <a:cs typeface="Calibri"/>
              </a:rPr>
              <a:t>training</a:t>
            </a:r>
            <a:r>
              <a:rPr sz="1941" spc="-4" dirty="0">
                <a:latin typeface="Calibri"/>
                <a:cs typeface="Calibri"/>
              </a:rPr>
              <a:t> input:</a:t>
            </a:r>
            <a:endParaRPr sz="1941">
              <a:latin typeface="Calibri"/>
              <a:cs typeface="Calibri"/>
            </a:endParaRPr>
          </a:p>
          <a:p>
            <a:pPr marL="313781" indent="-302575">
              <a:spcBef>
                <a:spcPts val="463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1941" spc="-9" dirty="0">
                <a:solidFill>
                  <a:srgbClr val="BF0000"/>
                </a:solidFill>
                <a:latin typeface="Calibri"/>
                <a:cs typeface="Calibri"/>
              </a:rPr>
              <a:t>Backward </a:t>
            </a:r>
            <a:r>
              <a:rPr sz="1941" spc="-4" dirty="0">
                <a:solidFill>
                  <a:srgbClr val="BF0000"/>
                </a:solidFill>
                <a:latin typeface="Calibri"/>
                <a:cs typeface="Calibri"/>
              </a:rPr>
              <a:t>pass: </a:t>
            </a:r>
            <a:r>
              <a:rPr sz="1941" spc="-9" dirty="0">
                <a:solidFill>
                  <a:srgbClr val="BF0000"/>
                </a:solidFill>
                <a:latin typeface="Calibri"/>
                <a:cs typeface="Calibri"/>
              </a:rPr>
              <a:t>Compute </a:t>
            </a:r>
            <a:r>
              <a:rPr sz="1941" spc="-13" dirty="0">
                <a:solidFill>
                  <a:srgbClr val="BF0000"/>
                </a:solidFill>
                <a:latin typeface="Calibri"/>
                <a:cs typeface="Calibri"/>
              </a:rPr>
              <a:t>gradients </a:t>
            </a:r>
            <a:r>
              <a:rPr sz="1941" spc="-4" dirty="0">
                <a:solidFill>
                  <a:srgbClr val="BF0000"/>
                </a:solidFill>
                <a:latin typeface="Calibri"/>
                <a:cs typeface="Calibri"/>
              </a:rPr>
              <a:t>via</a:t>
            </a:r>
            <a:r>
              <a:rPr sz="1941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941" spc="-9" dirty="0">
                <a:solidFill>
                  <a:srgbClr val="BF0000"/>
                </a:solidFill>
                <a:latin typeface="Calibri"/>
                <a:cs typeface="Calibri"/>
              </a:rPr>
              <a:t>backpropagation</a:t>
            </a:r>
            <a:endParaRPr sz="1941">
              <a:latin typeface="Calibri"/>
              <a:cs typeface="Calibri"/>
            </a:endParaRPr>
          </a:p>
          <a:p>
            <a:pPr marL="414079">
              <a:spcBef>
                <a:spcPts val="432"/>
              </a:spcBef>
              <a:tabLst>
                <a:tab pos="667346" algn="l"/>
              </a:tabLst>
            </a:pPr>
            <a:r>
              <a:rPr sz="1765" dirty="0">
                <a:latin typeface="Arial"/>
                <a:cs typeface="Arial"/>
              </a:rPr>
              <a:t>–	</a:t>
            </a:r>
            <a:r>
              <a:rPr sz="1765" i="1" spc="-4" dirty="0">
                <a:latin typeface="Calibri"/>
                <a:cs typeface="Calibri"/>
              </a:rPr>
              <a:t>Back </a:t>
            </a:r>
            <a:r>
              <a:rPr sz="1765" i="1" dirty="0">
                <a:latin typeface="Calibri"/>
                <a:cs typeface="Calibri"/>
              </a:rPr>
              <a:t>Propagation Through</a:t>
            </a:r>
            <a:r>
              <a:rPr sz="1765" i="1" spc="-75" dirty="0">
                <a:latin typeface="Calibri"/>
                <a:cs typeface="Calibri"/>
              </a:rPr>
              <a:t> </a:t>
            </a:r>
            <a:r>
              <a:rPr sz="1765" i="1" dirty="0">
                <a:latin typeface="Calibri"/>
                <a:cs typeface="Calibri"/>
              </a:rPr>
              <a:t>Time</a:t>
            </a:r>
            <a:endParaRPr sz="1765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45094" y="3317391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3543750" y="3316046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307848" y="307848"/>
                </a:moveTo>
                <a:lnTo>
                  <a:pt x="0" y="307848"/>
                </a:lnTo>
                <a:lnTo>
                  <a:pt x="0" y="0"/>
                </a:lnTo>
                <a:lnTo>
                  <a:pt x="306324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3048"/>
                </a:lnTo>
                <a:lnTo>
                  <a:pt x="3048" y="3048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close/>
              </a:path>
              <a:path w="307975" h="307975">
                <a:moveTo>
                  <a:pt x="3048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3048" y="3048"/>
                </a:lnTo>
                <a:close/>
              </a:path>
              <a:path w="307975" h="307975">
                <a:moveTo>
                  <a:pt x="304800" y="3048"/>
                </a:moveTo>
                <a:lnTo>
                  <a:pt x="3048" y="3048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7848" y="3048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3048"/>
                </a:lnTo>
                <a:close/>
              </a:path>
              <a:path w="307975" h="307975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4415119" y="3317391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/>
          <p:nvPr/>
        </p:nvSpPr>
        <p:spPr>
          <a:xfrm>
            <a:off x="4413772" y="3316046"/>
            <a:ext cx="273424" cy="271743"/>
          </a:xfrm>
          <a:custGeom>
            <a:avLst/>
            <a:gdLst/>
            <a:ahLst/>
            <a:cxnLst/>
            <a:rect l="l" t="t" r="r" b="b"/>
            <a:pathLst>
              <a:path w="309879" h="307975">
                <a:moveTo>
                  <a:pt x="309372" y="307848"/>
                </a:move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9372" y="1524"/>
                </a:lnTo>
                <a:lnTo>
                  <a:pt x="4572" y="1524"/>
                </a:lnTo>
                <a:lnTo>
                  <a:pt x="1524" y="3048"/>
                </a:lnTo>
                <a:lnTo>
                  <a:pt x="4572" y="3048"/>
                </a:lnTo>
                <a:lnTo>
                  <a:pt x="4572" y="304800"/>
                </a:lnTo>
                <a:lnTo>
                  <a:pt x="1524" y="304800"/>
                </a:lnTo>
                <a:lnTo>
                  <a:pt x="4572" y="306324"/>
                </a:lnTo>
                <a:lnTo>
                  <a:pt x="309372" y="306324"/>
                </a:lnTo>
                <a:lnTo>
                  <a:pt x="309372" y="307848"/>
                </a:lnTo>
                <a:close/>
              </a:path>
              <a:path w="309879" h="307975">
                <a:moveTo>
                  <a:pt x="4572" y="3048"/>
                </a:moveTo>
                <a:lnTo>
                  <a:pt x="1524" y="3048"/>
                </a:lnTo>
                <a:lnTo>
                  <a:pt x="4572" y="1524"/>
                </a:lnTo>
                <a:lnTo>
                  <a:pt x="4572" y="3048"/>
                </a:lnTo>
                <a:close/>
              </a:path>
              <a:path w="309879" h="307975">
                <a:moveTo>
                  <a:pt x="304800" y="3048"/>
                </a:moveTo>
                <a:lnTo>
                  <a:pt x="4572" y="3048"/>
                </a:lnTo>
                <a:lnTo>
                  <a:pt x="4572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9879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9372" y="3048"/>
                </a:lnTo>
                <a:lnTo>
                  <a:pt x="309372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9879" h="307975">
                <a:moveTo>
                  <a:pt x="309372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9372" y="1524"/>
                </a:lnTo>
                <a:lnTo>
                  <a:pt x="309372" y="3048"/>
                </a:lnTo>
                <a:close/>
              </a:path>
              <a:path w="309879" h="307975">
                <a:moveTo>
                  <a:pt x="4572" y="306324"/>
                </a:moveTo>
                <a:lnTo>
                  <a:pt x="1524" y="304800"/>
                </a:lnTo>
                <a:lnTo>
                  <a:pt x="4572" y="304800"/>
                </a:lnTo>
                <a:lnTo>
                  <a:pt x="4572" y="306324"/>
                </a:lnTo>
                <a:close/>
              </a:path>
              <a:path w="309879" h="307975">
                <a:moveTo>
                  <a:pt x="304800" y="306324"/>
                </a:moveTo>
                <a:lnTo>
                  <a:pt x="4572" y="306324"/>
                </a:lnTo>
                <a:lnTo>
                  <a:pt x="4572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9879" h="307975">
                <a:moveTo>
                  <a:pt x="309372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9372" y="304800"/>
                </a:lnTo>
                <a:lnTo>
                  <a:pt x="309372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/>
          <p:nvPr/>
        </p:nvSpPr>
        <p:spPr>
          <a:xfrm>
            <a:off x="5293212" y="3317391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/>
          <p:nvPr/>
        </p:nvSpPr>
        <p:spPr>
          <a:xfrm>
            <a:off x="5291866" y="3316046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307848" y="307848"/>
                </a:moveTo>
                <a:lnTo>
                  <a:pt x="0" y="307848"/>
                </a:lnTo>
                <a:lnTo>
                  <a:pt x="0" y="0"/>
                </a:lnTo>
                <a:lnTo>
                  <a:pt x="306324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3048"/>
                </a:lnTo>
                <a:lnTo>
                  <a:pt x="3048" y="3048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close/>
              </a:path>
              <a:path w="307975" h="307975">
                <a:moveTo>
                  <a:pt x="3048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3048" y="3048"/>
                </a:lnTo>
                <a:close/>
              </a:path>
              <a:path w="307975" h="307975">
                <a:moveTo>
                  <a:pt x="304800" y="3048"/>
                </a:moveTo>
                <a:lnTo>
                  <a:pt x="3048" y="3048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7848" y="3048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3048"/>
                </a:lnTo>
                <a:close/>
              </a:path>
              <a:path w="307975" h="307975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/>
          <p:nvPr/>
        </p:nvSpPr>
        <p:spPr>
          <a:xfrm>
            <a:off x="7041328" y="3317391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object 11"/>
          <p:cNvSpPr/>
          <p:nvPr/>
        </p:nvSpPr>
        <p:spPr>
          <a:xfrm>
            <a:off x="7039984" y="3316046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307848" y="307848"/>
                </a:moveTo>
                <a:lnTo>
                  <a:pt x="0" y="307848"/>
                </a:lnTo>
                <a:lnTo>
                  <a:pt x="0" y="0"/>
                </a:lnTo>
                <a:lnTo>
                  <a:pt x="306324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3048"/>
                </a:lnTo>
                <a:lnTo>
                  <a:pt x="3048" y="3048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close/>
              </a:path>
              <a:path w="307975" h="307975">
                <a:moveTo>
                  <a:pt x="3048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3048" y="3048"/>
                </a:lnTo>
                <a:close/>
              </a:path>
              <a:path w="307975" h="307975">
                <a:moveTo>
                  <a:pt x="304800" y="3048"/>
                </a:moveTo>
                <a:lnTo>
                  <a:pt x="3048" y="3048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7848" y="3048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3048"/>
                </a:lnTo>
                <a:close/>
              </a:path>
              <a:path w="307975" h="307975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/>
          <p:nvPr/>
        </p:nvSpPr>
        <p:spPr>
          <a:xfrm>
            <a:off x="7915387" y="3317391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3" name="object 13"/>
          <p:cNvSpPr/>
          <p:nvPr/>
        </p:nvSpPr>
        <p:spPr>
          <a:xfrm>
            <a:off x="7914043" y="3316046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307848" y="307848"/>
                </a:moveTo>
                <a:lnTo>
                  <a:pt x="0" y="307848"/>
                </a:lnTo>
                <a:lnTo>
                  <a:pt x="0" y="0"/>
                </a:lnTo>
                <a:lnTo>
                  <a:pt x="306324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3048"/>
                </a:lnTo>
                <a:lnTo>
                  <a:pt x="3048" y="3048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close/>
              </a:path>
              <a:path w="307975" h="307975">
                <a:moveTo>
                  <a:pt x="3048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3048" y="3048"/>
                </a:lnTo>
                <a:close/>
              </a:path>
              <a:path w="307975" h="307975">
                <a:moveTo>
                  <a:pt x="304800" y="3048"/>
                </a:moveTo>
                <a:lnTo>
                  <a:pt x="3048" y="3048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7848" y="3048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3048"/>
                </a:lnTo>
                <a:close/>
              </a:path>
              <a:path w="307975" h="307975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/>
          <p:nvPr/>
        </p:nvSpPr>
        <p:spPr>
          <a:xfrm>
            <a:off x="8789446" y="3317391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/>
          <p:nvPr/>
        </p:nvSpPr>
        <p:spPr>
          <a:xfrm>
            <a:off x="8788102" y="3316046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307848" y="307848"/>
                </a:moveTo>
                <a:lnTo>
                  <a:pt x="0" y="307848"/>
                </a:lnTo>
                <a:lnTo>
                  <a:pt x="0" y="0"/>
                </a:lnTo>
                <a:lnTo>
                  <a:pt x="306324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3048"/>
                </a:lnTo>
                <a:lnTo>
                  <a:pt x="3048" y="3048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close/>
              </a:path>
              <a:path w="307975" h="307975">
                <a:moveTo>
                  <a:pt x="3048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3048" y="3048"/>
                </a:lnTo>
                <a:close/>
              </a:path>
              <a:path w="307975" h="307975">
                <a:moveTo>
                  <a:pt x="304800" y="3048"/>
                </a:moveTo>
                <a:lnTo>
                  <a:pt x="3048" y="3048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7848" y="3048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3048"/>
                </a:lnTo>
                <a:close/>
              </a:path>
              <a:path w="307975" h="307975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3541060" y="3845860"/>
            <a:ext cx="5446059" cy="67235"/>
          </a:xfrm>
          <a:custGeom>
            <a:avLst/>
            <a:gdLst/>
            <a:ahLst/>
            <a:cxnLst/>
            <a:rect l="l" t="t" r="r" b="b"/>
            <a:pathLst>
              <a:path w="6172200" h="76200">
                <a:moveTo>
                  <a:pt x="6096000" y="76200"/>
                </a:moveTo>
                <a:lnTo>
                  <a:pt x="6096000" y="0"/>
                </a:lnTo>
                <a:lnTo>
                  <a:pt x="6150864" y="27432"/>
                </a:lnTo>
                <a:lnTo>
                  <a:pt x="6109716" y="27432"/>
                </a:lnTo>
                <a:lnTo>
                  <a:pt x="6109716" y="47244"/>
                </a:lnTo>
                <a:lnTo>
                  <a:pt x="6153912" y="47244"/>
                </a:lnTo>
                <a:lnTo>
                  <a:pt x="6096000" y="76200"/>
                </a:lnTo>
                <a:close/>
              </a:path>
              <a:path w="6172200" h="76200">
                <a:moveTo>
                  <a:pt x="6096000" y="47244"/>
                </a:moveTo>
                <a:lnTo>
                  <a:pt x="0" y="47244"/>
                </a:lnTo>
                <a:lnTo>
                  <a:pt x="0" y="27432"/>
                </a:lnTo>
                <a:lnTo>
                  <a:pt x="6096000" y="27432"/>
                </a:lnTo>
                <a:lnTo>
                  <a:pt x="6096000" y="47244"/>
                </a:lnTo>
                <a:close/>
              </a:path>
              <a:path w="6172200" h="76200">
                <a:moveTo>
                  <a:pt x="6153912" y="47244"/>
                </a:moveTo>
                <a:lnTo>
                  <a:pt x="6109716" y="47244"/>
                </a:lnTo>
                <a:lnTo>
                  <a:pt x="6109716" y="27432"/>
                </a:lnTo>
                <a:lnTo>
                  <a:pt x="6150864" y="27432"/>
                </a:lnTo>
                <a:lnTo>
                  <a:pt x="6172200" y="38100"/>
                </a:lnTo>
                <a:lnTo>
                  <a:pt x="6153912" y="47244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 txBox="1"/>
          <p:nvPr/>
        </p:nvSpPr>
        <p:spPr>
          <a:xfrm>
            <a:off x="3520419" y="3537482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0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789446" y="284674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91CF5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/>
          <p:nvPr/>
        </p:nvSpPr>
        <p:spPr>
          <a:xfrm>
            <a:off x="8788102" y="2845398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307848" y="307848"/>
                </a:moveTo>
                <a:lnTo>
                  <a:pt x="0" y="307848"/>
                </a:lnTo>
                <a:lnTo>
                  <a:pt x="0" y="0"/>
                </a:lnTo>
                <a:lnTo>
                  <a:pt x="306324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3048"/>
                </a:lnTo>
                <a:lnTo>
                  <a:pt x="3048" y="3048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close/>
              </a:path>
              <a:path w="307975" h="307975">
                <a:moveTo>
                  <a:pt x="3048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3048" y="3048"/>
                </a:lnTo>
                <a:close/>
              </a:path>
              <a:path w="307975" h="307975">
                <a:moveTo>
                  <a:pt x="304800" y="3048"/>
                </a:moveTo>
                <a:lnTo>
                  <a:pt x="3048" y="3048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7848" y="3048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3048"/>
                </a:lnTo>
                <a:close/>
              </a:path>
              <a:path w="307975" h="307975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/>
          <p:nvPr/>
        </p:nvSpPr>
        <p:spPr>
          <a:xfrm>
            <a:off x="8789446" y="2376096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46B0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1" name="object 21"/>
          <p:cNvSpPr/>
          <p:nvPr/>
        </p:nvSpPr>
        <p:spPr>
          <a:xfrm>
            <a:off x="8788102" y="2374751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307848" y="307848"/>
                </a:moveTo>
                <a:lnTo>
                  <a:pt x="0" y="307848"/>
                </a:lnTo>
                <a:lnTo>
                  <a:pt x="0" y="0"/>
                </a:lnTo>
                <a:lnTo>
                  <a:pt x="306324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3048"/>
                </a:lnTo>
                <a:lnTo>
                  <a:pt x="3048" y="3048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close/>
              </a:path>
              <a:path w="307975" h="307975">
                <a:moveTo>
                  <a:pt x="3048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3048" y="3048"/>
                </a:lnTo>
                <a:close/>
              </a:path>
              <a:path w="307975" h="307975">
                <a:moveTo>
                  <a:pt x="304800" y="3048"/>
                </a:moveTo>
                <a:lnTo>
                  <a:pt x="3048" y="3048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7848" y="3048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3048"/>
                </a:lnTo>
                <a:close/>
              </a:path>
              <a:path w="307975" h="307975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22"/>
          <p:cNvSpPr/>
          <p:nvPr/>
        </p:nvSpPr>
        <p:spPr>
          <a:xfrm>
            <a:off x="8890299" y="3115683"/>
            <a:ext cx="67235" cy="2017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object 23"/>
          <p:cNvSpPr/>
          <p:nvPr/>
        </p:nvSpPr>
        <p:spPr>
          <a:xfrm>
            <a:off x="8890299" y="2645036"/>
            <a:ext cx="67235" cy="2017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/>
          <p:nvPr/>
        </p:nvSpPr>
        <p:spPr>
          <a:xfrm>
            <a:off x="8890299" y="2174388"/>
            <a:ext cx="67235" cy="2017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5"/>
          <p:cNvSpPr/>
          <p:nvPr/>
        </p:nvSpPr>
        <p:spPr>
          <a:xfrm>
            <a:off x="7927491" y="284674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91CF5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object 26"/>
          <p:cNvSpPr/>
          <p:nvPr/>
        </p:nvSpPr>
        <p:spPr>
          <a:xfrm>
            <a:off x="7926146" y="2845398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307848" y="307848"/>
                </a:move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3048"/>
                </a:lnTo>
                <a:lnTo>
                  <a:pt x="3048" y="3048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close/>
              </a:path>
              <a:path w="307975" h="307975">
                <a:moveTo>
                  <a:pt x="3048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3048" y="3048"/>
                </a:lnTo>
                <a:close/>
              </a:path>
              <a:path w="307975" h="307975">
                <a:moveTo>
                  <a:pt x="304800" y="3048"/>
                </a:moveTo>
                <a:lnTo>
                  <a:pt x="3048" y="3048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7848" y="3048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3048"/>
                </a:lnTo>
                <a:close/>
              </a:path>
              <a:path w="307975" h="307975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7" name="object 27"/>
          <p:cNvSpPr/>
          <p:nvPr/>
        </p:nvSpPr>
        <p:spPr>
          <a:xfrm>
            <a:off x="7927491" y="2376096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46B0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8" name="object 28"/>
          <p:cNvSpPr/>
          <p:nvPr/>
        </p:nvSpPr>
        <p:spPr>
          <a:xfrm>
            <a:off x="7926146" y="2374751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307848" y="307848"/>
                </a:move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3048"/>
                </a:lnTo>
                <a:lnTo>
                  <a:pt x="3048" y="3048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close/>
              </a:path>
              <a:path w="307975" h="307975">
                <a:moveTo>
                  <a:pt x="3048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3048" y="3048"/>
                </a:lnTo>
                <a:close/>
              </a:path>
              <a:path w="307975" h="307975">
                <a:moveTo>
                  <a:pt x="304800" y="3048"/>
                </a:moveTo>
                <a:lnTo>
                  <a:pt x="3048" y="3048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7848" y="3048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3048"/>
                </a:lnTo>
                <a:close/>
              </a:path>
              <a:path w="307975" h="307975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object 29"/>
          <p:cNvSpPr/>
          <p:nvPr/>
        </p:nvSpPr>
        <p:spPr>
          <a:xfrm>
            <a:off x="8028344" y="3115683"/>
            <a:ext cx="67235" cy="2017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/>
          <p:nvPr/>
        </p:nvSpPr>
        <p:spPr>
          <a:xfrm>
            <a:off x="8028344" y="2645036"/>
            <a:ext cx="67235" cy="2017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object 31"/>
          <p:cNvSpPr/>
          <p:nvPr/>
        </p:nvSpPr>
        <p:spPr>
          <a:xfrm>
            <a:off x="8028344" y="2174388"/>
            <a:ext cx="67235" cy="2017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2" name="object 32"/>
          <p:cNvSpPr/>
          <p:nvPr/>
        </p:nvSpPr>
        <p:spPr>
          <a:xfrm>
            <a:off x="7053432" y="284674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91CF5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3" name="object 33"/>
          <p:cNvSpPr/>
          <p:nvPr/>
        </p:nvSpPr>
        <p:spPr>
          <a:xfrm>
            <a:off x="7052087" y="2845398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307848" y="307848"/>
                </a:move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3048"/>
                </a:lnTo>
                <a:lnTo>
                  <a:pt x="3048" y="3048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close/>
              </a:path>
              <a:path w="307975" h="307975">
                <a:moveTo>
                  <a:pt x="3048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3048" y="3048"/>
                </a:lnTo>
                <a:close/>
              </a:path>
              <a:path w="307975" h="307975">
                <a:moveTo>
                  <a:pt x="304800" y="3048"/>
                </a:moveTo>
                <a:lnTo>
                  <a:pt x="3048" y="3048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7848" y="3048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3048"/>
                </a:lnTo>
                <a:close/>
              </a:path>
              <a:path w="307975" h="307975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4" name="object 34"/>
          <p:cNvSpPr/>
          <p:nvPr/>
        </p:nvSpPr>
        <p:spPr>
          <a:xfrm>
            <a:off x="7053432" y="2376096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46B0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5" name="object 35"/>
          <p:cNvSpPr/>
          <p:nvPr/>
        </p:nvSpPr>
        <p:spPr>
          <a:xfrm>
            <a:off x="7052087" y="2374751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307848" y="307848"/>
                </a:move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3048"/>
                </a:lnTo>
                <a:lnTo>
                  <a:pt x="3048" y="3048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close/>
              </a:path>
              <a:path w="307975" h="307975">
                <a:moveTo>
                  <a:pt x="3048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3048" y="3048"/>
                </a:lnTo>
                <a:close/>
              </a:path>
              <a:path w="307975" h="307975">
                <a:moveTo>
                  <a:pt x="304800" y="3048"/>
                </a:moveTo>
                <a:lnTo>
                  <a:pt x="3048" y="3048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7848" y="3048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3048"/>
                </a:lnTo>
                <a:close/>
              </a:path>
              <a:path w="307975" h="307975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6" name="object 36"/>
          <p:cNvSpPr/>
          <p:nvPr/>
        </p:nvSpPr>
        <p:spPr>
          <a:xfrm>
            <a:off x="7154285" y="3115683"/>
            <a:ext cx="67235" cy="2017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7" name="object 37"/>
          <p:cNvSpPr/>
          <p:nvPr/>
        </p:nvSpPr>
        <p:spPr>
          <a:xfrm>
            <a:off x="7154285" y="2645036"/>
            <a:ext cx="67235" cy="2017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8" name="object 38"/>
          <p:cNvSpPr/>
          <p:nvPr/>
        </p:nvSpPr>
        <p:spPr>
          <a:xfrm>
            <a:off x="7154285" y="2174388"/>
            <a:ext cx="67235" cy="2017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9" name="object 39"/>
          <p:cNvSpPr/>
          <p:nvPr/>
        </p:nvSpPr>
        <p:spPr>
          <a:xfrm>
            <a:off x="5305314" y="284674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91CF5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0" name="object 40"/>
          <p:cNvSpPr/>
          <p:nvPr/>
        </p:nvSpPr>
        <p:spPr>
          <a:xfrm>
            <a:off x="5303970" y="2845398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307848" y="307848"/>
                </a:move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3048"/>
                </a:lnTo>
                <a:lnTo>
                  <a:pt x="3048" y="3048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close/>
              </a:path>
              <a:path w="307975" h="307975">
                <a:moveTo>
                  <a:pt x="3048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3048" y="3048"/>
                </a:lnTo>
                <a:close/>
              </a:path>
              <a:path w="307975" h="307975">
                <a:moveTo>
                  <a:pt x="304800" y="3048"/>
                </a:moveTo>
                <a:lnTo>
                  <a:pt x="3048" y="3048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7848" y="3048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3048"/>
                </a:lnTo>
                <a:close/>
              </a:path>
              <a:path w="307975" h="307975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1" name="object 41"/>
          <p:cNvSpPr/>
          <p:nvPr/>
        </p:nvSpPr>
        <p:spPr>
          <a:xfrm>
            <a:off x="5305314" y="2376096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46B0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2" name="object 42"/>
          <p:cNvSpPr/>
          <p:nvPr/>
        </p:nvSpPr>
        <p:spPr>
          <a:xfrm>
            <a:off x="5303970" y="2374751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307848" y="307848"/>
                </a:move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3048"/>
                </a:lnTo>
                <a:lnTo>
                  <a:pt x="3048" y="3048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close/>
              </a:path>
              <a:path w="307975" h="307975">
                <a:moveTo>
                  <a:pt x="3048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3048" y="3048"/>
                </a:lnTo>
                <a:close/>
              </a:path>
              <a:path w="307975" h="307975">
                <a:moveTo>
                  <a:pt x="304800" y="3048"/>
                </a:moveTo>
                <a:lnTo>
                  <a:pt x="3048" y="3048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7848" y="3048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3048"/>
                </a:lnTo>
                <a:close/>
              </a:path>
              <a:path w="307975" h="307975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3" name="object 43"/>
          <p:cNvSpPr/>
          <p:nvPr/>
        </p:nvSpPr>
        <p:spPr>
          <a:xfrm>
            <a:off x="5406167" y="2645036"/>
            <a:ext cx="67235" cy="2017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4" name="object 44"/>
          <p:cNvSpPr/>
          <p:nvPr/>
        </p:nvSpPr>
        <p:spPr>
          <a:xfrm>
            <a:off x="5406167" y="3115683"/>
            <a:ext cx="67235" cy="2017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5" name="object 45"/>
          <p:cNvSpPr/>
          <p:nvPr/>
        </p:nvSpPr>
        <p:spPr>
          <a:xfrm>
            <a:off x="5406167" y="2174388"/>
            <a:ext cx="67235" cy="2017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6" name="object 46"/>
          <p:cNvSpPr/>
          <p:nvPr/>
        </p:nvSpPr>
        <p:spPr>
          <a:xfrm>
            <a:off x="4415119" y="284674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91CF5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7" name="object 47"/>
          <p:cNvSpPr/>
          <p:nvPr/>
        </p:nvSpPr>
        <p:spPr>
          <a:xfrm>
            <a:off x="4413772" y="2845398"/>
            <a:ext cx="273424" cy="271743"/>
          </a:xfrm>
          <a:custGeom>
            <a:avLst/>
            <a:gdLst/>
            <a:ahLst/>
            <a:cxnLst/>
            <a:rect l="l" t="t" r="r" b="b"/>
            <a:pathLst>
              <a:path w="309879" h="307975">
                <a:moveTo>
                  <a:pt x="309372" y="307848"/>
                </a:move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9372" y="1524"/>
                </a:lnTo>
                <a:lnTo>
                  <a:pt x="4572" y="1524"/>
                </a:lnTo>
                <a:lnTo>
                  <a:pt x="1524" y="3048"/>
                </a:lnTo>
                <a:lnTo>
                  <a:pt x="4572" y="3048"/>
                </a:lnTo>
                <a:lnTo>
                  <a:pt x="4572" y="304800"/>
                </a:lnTo>
                <a:lnTo>
                  <a:pt x="1524" y="304800"/>
                </a:lnTo>
                <a:lnTo>
                  <a:pt x="4572" y="306324"/>
                </a:lnTo>
                <a:lnTo>
                  <a:pt x="309372" y="306324"/>
                </a:lnTo>
                <a:lnTo>
                  <a:pt x="309372" y="307848"/>
                </a:lnTo>
                <a:close/>
              </a:path>
              <a:path w="309879" h="307975">
                <a:moveTo>
                  <a:pt x="4572" y="3048"/>
                </a:moveTo>
                <a:lnTo>
                  <a:pt x="1524" y="3048"/>
                </a:lnTo>
                <a:lnTo>
                  <a:pt x="4572" y="1524"/>
                </a:lnTo>
                <a:lnTo>
                  <a:pt x="4572" y="3048"/>
                </a:lnTo>
                <a:close/>
              </a:path>
              <a:path w="309879" h="307975">
                <a:moveTo>
                  <a:pt x="304800" y="3048"/>
                </a:moveTo>
                <a:lnTo>
                  <a:pt x="4572" y="3048"/>
                </a:lnTo>
                <a:lnTo>
                  <a:pt x="4572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9879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9372" y="3048"/>
                </a:lnTo>
                <a:lnTo>
                  <a:pt x="309372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9879" h="307975">
                <a:moveTo>
                  <a:pt x="309372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9372" y="1524"/>
                </a:lnTo>
                <a:lnTo>
                  <a:pt x="309372" y="3048"/>
                </a:lnTo>
                <a:close/>
              </a:path>
              <a:path w="309879" h="307975">
                <a:moveTo>
                  <a:pt x="4572" y="306324"/>
                </a:moveTo>
                <a:lnTo>
                  <a:pt x="1524" y="304800"/>
                </a:lnTo>
                <a:lnTo>
                  <a:pt x="4572" y="304800"/>
                </a:lnTo>
                <a:lnTo>
                  <a:pt x="4572" y="306324"/>
                </a:lnTo>
                <a:close/>
              </a:path>
              <a:path w="309879" h="307975">
                <a:moveTo>
                  <a:pt x="304800" y="306324"/>
                </a:moveTo>
                <a:lnTo>
                  <a:pt x="4572" y="306324"/>
                </a:lnTo>
                <a:lnTo>
                  <a:pt x="4572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9879" h="307975">
                <a:moveTo>
                  <a:pt x="309372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9372" y="304800"/>
                </a:lnTo>
                <a:lnTo>
                  <a:pt x="309372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8" name="object 48"/>
          <p:cNvSpPr/>
          <p:nvPr/>
        </p:nvSpPr>
        <p:spPr>
          <a:xfrm>
            <a:off x="4415119" y="2376096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46B0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9" name="object 49"/>
          <p:cNvSpPr/>
          <p:nvPr/>
        </p:nvSpPr>
        <p:spPr>
          <a:xfrm>
            <a:off x="4413772" y="2374751"/>
            <a:ext cx="273424" cy="271743"/>
          </a:xfrm>
          <a:custGeom>
            <a:avLst/>
            <a:gdLst/>
            <a:ahLst/>
            <a:cxnLst/>
            <a:rect l="l" t="t" r="r" b="b"/>
            <a:pathLst>
              <a:path w="309879" h="307975">
                <a:moveTo>
                  <a:pt x="309372" y="307848"/>
                </a:move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9372" y="1524"/>
                </a:lnTo>
                <a:lnTo>
                  <a:pt x="4572" y="1524"/>
                </a:lnTo>
                <a:lnTo>
                  <a:pt x="1524" y="3048"/>
                </a:lnTo>
                <a:lnTo>
                  <a:pt x="4572" y="3048"/>
                </a:lnTo>
                <a:lnTo>
                  <a:pt x="4572" y="304800"/>
                </a:lnTo>
                <a:lnTo>
                  <a:pt x="1524" y="304800"/>
                </a:lnTo>
                <a:lnTo>
                  <a:pt x="4572" y="306324"/>
                </a:lnTo>
                <a:lnTo>
                  <a:pt x="309372" y="306324"/>
                </a:lnTo>
                <a:lnTo>
                  <a:pt x="309372" y="307848"/>
                </a:lnTo>
                <a:close/>
              </a:path>
              <a:path w="309879" h="307975">
                <a:moveTo>
                  <a:pt x="4572" y="3048"/>
                </a:moveTo>
                <a:lnTo>
                  <a:pt x="1524" y="3048"/>
                </a:lnTo>
                <a:lnTo>
                  <a:pt x="4572" y="1524"/>
                </a:lnTo>
                <a:lnTo>
                  <a:pt x="4572" y="3048"/>
                </a:lnTo>
                <a:close/>
              </a:path>
              <a:path w="309879" h="307975">
                <a:moveTo>
                  <a:pt x="304800" y="3048"/>
                </a:moveTo>
                <a:lnTo>
                  <a:pt x="4572" y="3048"/>
                </a:lnTo>
                <a:lnTo>
                  <a:pt x="4572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9879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9372" y="3048"/>
                </a:lnTo>
                <a:lnTo>
                  <a:pt x="309372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9879" h="307975">
                <a:moveTo>
                  <a:pt x="309372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9372" y="1524"/>
                </a:lnTo>
                <a:lnTo>
                  <a:pt x="309372" y="3048"/>
                </a:lnTo>
                <a:close/>
              </a:path>
              <a:path w="309879" h="307975">
                <a:moveTo>
                  <a:pt x="4572" y="306324"/>
                </a:moveTo>
                <a:lnTo>
                  <a:pt x="1524" y="304800"/>
                </a:lnTo>
                <a:lnTo>
                  <a:pt x="4572" y="304800"/>
                </a:lnTo>
                <a:lnTo>
                  <a:pt x="4572" y="306324"/>
                </a:lnTo>
                <a:close/>
              </a:path>
              <a:path w="309879" h="307975">
                <a:moveTo>
                  <a:pt x="304800" y="306324"/>
                </a:moveTo>
                <a:lnTo>
                  <a:pt x="4572" y="306324"/>
                </a:lnTo>
                <a:lnTo>
                  <a:pt x="4572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9879" h="307975">
                <a:moveTo>
                  <a:pt x="309372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9372" y="304800"/>
                </a:lnTo>
                <a:lnTo>
                  <a:pt x="309372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0" name="object 50"/>
          <p:cNvSpPr/>
          <p:nvPr/>
        </p:nvSpPr>
        <p:spPr>
          <a:xfrm>
            <a:off x="4515971" y="3115683"/>
            <a:ext cx="67235" cy="2017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1" name="object 51"/>
          <p:cNvSpPr/>
          <p:nvPr/>
        </p:nvSpPr>
        <p:spPr>
          <a:xfrm>
            <a:off x="4515971" y="2645036"/>
            <a:ext cx="67235" cy="2017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2" name="object 52"/>
          <p:cNvSpPr/>
          <p:nvPr/>
        </p:nvSpPr>
        <p:spPr>
          <a:xfrm>
            <a:off x="4515971" y="2174388"/>
            <a:ext cx="67235" cy="2017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3" name="object 53"/>
          <p:cNvSpPr/>
          <p:nvPr/>
        </p:nvSpPr>
        <p:spPr>
          <a:xfrm>
            <a:off x="3549128" y="284674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799" y="0"/>
                </a:lnTo>
                <a:lnTo>
                  <a:pt x="304799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91CF5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4" name="object 54"/>
          <p:cNvSpPr/>
          <p:nvPr/>
        </p:nvSpPr>
        <p:spPr>
          <a:xfrm>
            <a:off x="3547784" y="2845398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307848" y="307848"/>
                </a:move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3048"/>
                </a:lnTo>
                <a:lnTo>
                  <a:pt x="3048" y="3048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close/>
              </a:path>
              <a:path w="307975" h="307975">
                <a:moveTo>
                  <a:pt x="3048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3048" y="3048"/>
                </a:lnTo>
                <a:close/>
              </a:path>
              <a:path w="307975" h="307975">
                <a:moveTo>
                  <a:pt x="304800" y="3048"/>
                </a:moveTo>
                <a:lnTo>
                  <a:pt x="3048" y="3048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7848" y="3048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3048"/>
                </a:lnTo>
                <a:close/>
              </a:path>
              <a:path w="307975" h="307975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5" name="object 55"/>
          <p:cNvSpPr/>
          <p:nvPr/>
        </p:nvSpPr>
        <p:spPr>
          <a:xfrm>
            <a:off x="3549128" y="2376096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799" y="0"/>
                </a:lnTo>
                <a:lnTo>
                  <a:pt x="304799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46B0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6" name="object 56"/>
          <p:cNvSpPr/>
          <p:nvPr/>
        </p:nvSpPr>
        <p:spPr>
          <a:xfrm>
            <a:off x="3547784" y="2374751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307848" y="307848"/>
                </a:move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7848" y="1524"/>
                </a:lnTo>
                <a:lnTo>
                  <a:pt x="3048" y="1524"/>
                </a:lnTo>
                <a:lnTo>
                  <a:pt x="1524" y="3048"/>
                </a:lnTo>
                <a:lnTo>
                  <a:pt x="3048" y="3048"/>
                </a:lnTo>
                <a:lnTo>
                  <a:pt x="3048" y="304800"/>
                </a:lnTo>
                <a:lnTo>
                  <a:pt x="1524" y="304800"/>
                </a:lnTo>
                <a:lnTo>
                  <a:pt x="3048" y="306324"/>
                </a:lnTo>
                <a:lnTo>
                  <a:pt x="307848" y="306324"/>
                </a:lnTo>
                <a:lnTo>
                  <a:pt x="307848" y="307848"/>
                </a:lnTo>
                <a:close/>
              </a:path>
              <a:path w="307975" h="307975">
                <a:moveTo>
                  <a:pt x="3048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3048" y="3048"/>
                </a:lnTo>
                <a:close/>
              </a:path>
              <a:path w="307975" h="307975">
                <a:moveTo>
                  <a:pt x="304800" y="3048"/>
                </a:moveTo>
                <a:lnTo>
                  <a:pt x="3048" y="3048"/>
                </a:lnTo>
                <a:lnTo>
                  <a:pt x="3048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7848" y="3048"/>
                </a:lnTo>
                <a:lnTo>
                  <a:pt x="307848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7848" y="1524"/>
                </a:lnTo>
                <a:lnTo>
                  <a:pt x="307848" y="3048"/>
                </a:lnTo>
                <a:close/>
              </a:path>
              <a:path w="307975" h="307975">
                <a:moveTo>
                  <a:pt x="3048" y="306324"/>
                </a:moveTo>
                <a:lnTo>
                  <a:pt x="1524" y="304800"/>
                </a:lnTo>
                <a:lnTo>
                  <a:pt x="3048" y="304800"/>
                </a:lnTo>
                <a:lnTo>
                  <a:pt x="3048" y="306324"/>
                </a:lnTo>
                <a:close/>
              </a:path>
              <a:path w="307975" h="307975">
                <a:moveTo>
                  <a:pt x="304800" y="306324"/>
                </a:moveTo>
                <a:lnTo>
                  <a:pt x="3048" y="306324"/>
                </a:lnTo>
                <a:lnTo>
                  <a:pt x="3048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7975" h="307975">
                <a:moveTo>
                  <a:pt x="307848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7848" y="304800"/>
                </a:lnTo>
                <a:lnTo>
                  <a:pt x="307848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7" name="object 57"/>
          <p:cNvSpPr/>
          <p:nvPr/>
        </p:nvSpPr>
        <p:spPr>
          <a:xfrm>
            <a:off x="3649981" y="3115683"/>
            <a:ext cx="67235" cy="2017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8" name="object 58"/>
          <p:cNvSpPr/>
          <p:nvPr/>
        </p:nvSpPr>
        <p:spPr>
          <a:xfrm>
            <a:off x="3649981" y="2645036"/>
            <a:ext cx="67235" cy="2017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9" name="object 59"/>
          <p:cNvSpPr/>
          <p:nvPr/>
        </p:nvSpPr>
        <p:spPr>
          <a:xfrm>
            <a:off x="3649981" y="2174388"/>
            <a:ext cx="67235" cy="2017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0" name="object 60"/>
          <p:cNvSpPr txBox="1"/>
          <p:nvPr/>
        </p:nvSpPr>
        <p:spPr>
          <a:xfrm>
            <a:off x="3533920" y="1898298"/>
            <a:ext cx="34402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-13" dirty="0">
                <a:latin typeface="Calibri"/>
                <a:cs typeface="Calibri"/>
              </a:rPr>
              <a:t>0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667001" y="284674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2" name="object 62"/>
          <p:cNvSpPr/>
          <p:nvPr/>
        </p:nvSpPr>
        <p:spPr>
          <a:xfrm>
            <a:off x="2665654" y="2845398"/>
            <a:ext cx="273424" cy="271743"/>
          </a:xfrm>
          <a:custGeom>
            <a:avLst/>
            <a:gdLst/>
            <a:ahLst/>
            <a:cxnLst/>
            <a:rect l="l" t="t" r="r" b="b"/>
            <a:pathLst>
              <a:path w="309880" h="307975">
                <a:moveTo>
                  <a:pt x="309372" y="307848"/>
                </a:moveTo>
                <a:lnTo>
                  <a:pt x="0" y="307848"/>
                </a:lnTo>
                <a:lnTo>
                  <a:pt x="0" y="1524"/>
                </a:lnTo>
                <a:lnTo>
                  <a:pt x="1524" y="0"/>
                </a:lnTo>
                <a:lnTo>
                  <a:pt x="307848" y="0"/>
                </a:lnTo>
                <a:lnTo>
                  <a:pt x="309372" y="1524"/>
                </a:lnTo>
                <a:lnTo>
                  <a:pt x="4572" y="1524"/>
                </a:lnTo>
                <a:lnTo>
                  <a:pt x="1524" y="3048"/>
                </a:lnTo>
                <a:lnTo>
                  <a:pt x="4572" y="3048"/>
                </a:lnTo>
                <a:lnTo>
                  <a:pt x="4572" y="304800"/>
                </a:lnTo>
                <a:lnTo>
                  <a:pt x="1524" y="304800"/>
                </a:lnTo>
                <a:lnTo>
                  <a:pt x="4572" y="306324"/>
                </a:lnTo>
                <a:lnTo>
                  <a:pt x="309372" y="306324"/>
                </a:lnTo>
                <a:lnTo>
                  <a:pt x="309372" y="307848"/>
                </a:lnTo>
                <a:close/>
              </a:path>
              <a:path w="309880" h="307975">
                <a:moveTo>
                  <a:pt x="4572" y="3048"/>
                </a:moveTo>
                <a:lnTo>
                  <a:pt x="1524" y="3048"/>
                </a:lnTo>
                <a:lnTo>
                  <a:pt x="4572" y="1524"/>
                </a:lnTo>
                <a:lnTo>
                  <a:pt x="4572" y="3048"/>
                </a:lnTo>
                <a:close/>
              </a:path>
              <a:path w="309880" h="307975">
                <a:moveTo>
                  <a:pt x="304800" y="3048"/>
                </a:moveTo>
                <a:lnTo>
                  <a:pt x="4572" y="3048"/>
                </a:lnTo>
                <a:lnTo>
                  <a:pt x="4572" y="1524"/>
                </a:lnTo>
                <a:lnTo>
                  <a:pt x="304800" y="1524"/>
                </a:lnTo>
                <a:lnTo>
                  <a:pt x="304800" y="3048"/>
                </a:lnTo>
                <a:close/>
              </a:path>
              <a:path w="309880" h="307975">
                <a:moveTo>
                  <a:pt x="304800" y="306324"/>
                </a:moveTo>
                <a:lnTo>
                  <a:pt x="304800" y="1524"/>
                </a:lnTo>
                <a:lnTo>
                  <a:pt x="306324" y="3048"/>
                </a:lnTo>
                <a:lnTo>
                  <a:pt x="309372" y="3048"/>
                </a:lnTo>
                <a:lnTo>
                  <a:pt x="309372" y="304800"/>
                </a:lnTo>
                <a:lnTo>
                  <a:pt x="306324" y="304800"/>
                </a:lnTo>
                <a:lnTo>
                  <a:pt x="304800" y="306324"/>
                </a:lnTo>
                <a:close/>
              </a:path>
              <a:path w="309880" h="307975">
                <a:moveTo>
                  <a:pt x="309372" y="3048"/>
                </a:moveTo>
                <a:lnTo>
                  <a:pt x="306324" y="3048"/>
                </a:lnTo>
                <a:lnTo>
                  <a:pt x="304800" y="1524"/>
                </a:lnTo>
                <a:lnTo>
                  <a:pt x="309372" y="1524"/>
                </a:lnTo>
                <a:lnTo>
                  <a:pt x="309372" y="3048"/>
                </a:lnTo>
                <a:close/>
              </a:path>
              <a:path w="309880" h="307975">
                <a:moveTo>
                  <a:pt x="4572" y="306324"/>
                </a:moveTo>
                <a:lnTo>
                  <a:pt x="1524" y="304800"/>
                </a:lnTo>
                <a:lnTo>
                  <a:pt x="4572" y="304800"/>
                </a:lnTo>
                <a:lnTo>
                  <a:pt x="4572" y="306324"/>
                </a:lnTo>
                <a:close/>
              </a:path>
              <a:path w="309880" h="307975">
                <a:moveTo>
                  <a:pt x="304800" y="306324"/>
                </a:moveTo>
                <a:lnTo>
                  <a:pt x="4572" y="306324"/>
                </a:lnTo>
                <a:lnTo>
                  <a:pt x="4572" y="304800"/>
                </a:lnTo>
                <a:lnTo>
                  <a:pt x="304800" y="304800"/>
                </a:lnTo>
                <a:lnTo>
                  <a:pt x="304800" y="306324"/>
                </a:lnTo>
                <a:close/>
              </a:path>
              <a:path w="309880" h="307975">
                <a:moveTo>
                  <a:pt x="309372" y="306324"/>
                </a:moveTo>
                <a:lnTo>
                  <a:pt x="304800" y="306324"/>
                </a:lnTo>
                <a:lnTo>
                  <a:pt x="306324" y="304800"/>
                </a:lnTo>
                <a:lnTo>
                  <a:pt x="309372" y="304800"/>
                </a:lnTo>
                <a:lnTo>
                  <a:pt x="309372" y="30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3" name="object 63"/>
          <p:cNvSpPr/>
          <p:nvPr/>
        </p:nvSpPr>
        <p:spPr>
          <a:xfrm>
            <a:off x="2935942" y="2947596"/>
            <a:ext cx="610721" cy="67235"/>
          </a:xfrm>
          <a:custGeom>
            <a:avLst/>
            <a:gdLst/>
            <a:ahLst/>
            <a:cxnLst/>
            <a:rect l="l" t="t" r="r" b="b"/>
            <a:pathLst>
              <a:path w="692150" h="76200">
                <a:moveTo>
                  <a:pt x="615696" y="76200"/>
                </a:moveTo>
                <a:lnTo>
                  <a:pt x="615696" y="0"/>
                </a:lnTo>
                <a:lnTo>
                  <a:pt x="679704" y="32004"/>
                </a:lnTo>
                <a:lnTo>
                  <a:pt x="627887" y="32004"/>
                </a:lnTo>
                <a:lnTo>
                  <a:pt x="627887" y="44196"/>
                </a:lnTo>
                <a:lnTo>
                  <a:pt x="679704" y="44196"/>
                </a:lnTo>
                <a:lnTo>
                  <a:pt x="615696" y="76200"/>
                </a:lnTo>
                <a:close/>
              </a:path>
              <a:path w="692150" h="76200">
                <a:moveTo>
                  <a:pt x="615696" y="44196"/>
                </a:moveTo>
                <a:lnTo>
                  <a:pt x="0" y="44196"/>
                </a:lnTo>
                <a:lnTo>
                  <a:pt x="0" y="32004"/>
                </a:lnTo>
                <a:lnTo>
                  <a:pt x="615696" y="32004"/>
                </a:lnTo>
                <a:lnTo>
                  <a:pt x="615696" y="44196"/>
                </a:lnTo>
                <a:close/>
              </a:path>
              <a:path w="692150" h="76200">
                <a:moveTo>
                  <a:pt x="679704" y="44196"/>
                </a:moveTo>
                <a:lnTo>
                  <a:pt x="627887" y="44196"/>
                </a:lnTo>
                <a:lnTo>
                  <a:pt x="627887" y="32004"/>
                </a:lnTo>
                <a:lnTo>
                  <a:pt x="679704" y="32004"/>
                </a:lnTo>
                <a:lnTo>
                  <a:pt x="691896" y="38100"/>
                </a:lnTo>
                <a:lnTo>
                  <a:pt x="679704" y="441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4" name="object 64"/>
          <p:cNvSpPr/>
          <p:nvPr/>
        </p:nvSpPr>
        <p:spPr>
          <a:xfrm>
            <a:off x="3818068" y="2947596"/>
            <a:ext cx="610721" cy="67235"/>
          </a:xfrm>
          <a:custGeom>
            <a:avLst/>
            <a:gdLst/>
            <a:ahLst/>
            <a:cxnLst/>
            <a:rect l="l" t="t" r="r" b="b"/>
            <a:pathLst>
              <a:path w="692150" h="76200">
                <a:moveTo>
                  <a:pt x="615696" y="76200"/>
                </a:moveTo>
                <a:lnTo>
                  <a:pt x="615696" y="0"/>
                </a:lnTo>
                <a:lnTo>
                  <a:pt x="679704" y="32004"/>
                </a:lnTo>
                <a:lnTo>
                  <a:pt x="627887" y="32004"/>
                </a:lnTo>
                <a:lnTo>
                  <a:pt x="627887" y="44196"/>
                </a:lnTo>
                <a:lnTo>
                  <a:pt x="679704" y="44196"/>
                </a:lnTo>
                <a:lnTo>
                  <a:pt x="615696" y="76200"/>
                </a:lnTo>
                <a:close/>
              </a:path>
              <a:path w="692150" h="76200">
                <a:moveTo>
                  <a:pt x="615696" y="44196"/>
                </a:moveTo>
                <a:lnTo>
                  <a:pt x="0" y="44196"/>
                </a:lnTo>
                <a:lnTo>
                  <a:pt x="0" y="32004"/>
                </a:lnTo>
                <a:lnTo>
                  <a:pt x="615696" y="32004"/>
                </a:lnTo>
                <a:lnTo>
                  <a:pt x="615696" y="44196"/>
                </a:lnTo>
                <a:close/>
              </a:path>
              <a:path w="692150" h="76200">
                <a:moveTo>
                  <a:pt x="679704" y="44196"/>
                </a:moveTo>
                <a:lnTo>
                  <a:pt x="627887" y="44196"/>
                </a:lnTo>
                <a:lnTo>
                  <a:pt x="627887" y="32004"/>
                </a:lnTo>
                <a:lnTo>
                  <a:pt x="679704" y="32004"/>
                </a:lnTo>
                <a:lnTo>
                  <a:pt x="691896" y="38100"/>
                </a:lnTo>
                <a:lnTo>
                  <a:pt x="679704" y="441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5" name="object 65"/>
          <p:cNvSpPr/>
          <p:nvPr/>
        </p:nvSpPr>
        <p:spPr>
          <a:xfrm>
            <a:off x="4690782" y="2947596"/>
            <a:ext cx="609600" cy="67235"/>
          </a:xfrm>
          <a:custGeom>
            <a:avLst/>
            <a:gdLst/>
            <a:ahLst/>
            <a:cxnLst/>
            <a:rect l="l" t="t" r="r" b="b"/>
            <a:pathLst>
              <a:path w="690879" h="76200">
                <a:moveTo>
                  <a:pt x="614172" y="76200"/>
                </a:moveTo>
                <a:lnTo>
                  <a:pt x="614172" y="0"/>
                </a:lnTo>
                <a:lnTo>
                  <a:pt x="678180" y="32004"/>
                </a:lnTo>
                <a:lnTo>
                  <a:pt x="626364" y="32004"/>
                </a:lnTo>
                <a:lnTo>
                  <a:pt x="626364" y="44196"/>
                </a:lnTo>
                <a:lnTo>
                  <a:pt x="678180" y="44196"/>
                </a:lnTo>
                <a:lnTo>
                  <a:pt x="614172" y="76200"/>
                </a:lnTo>
                <a:close/>
              </a:path>
              <a:path w="690879" h="76200">
                <a:moveTo>
                  <a:pt x="614172" y="44196"/>
                </a:moveTo>
                <a:lnTo>
                  <a:pt x="0" y="44196"/>
                </a:lnTo>
                <a:lnTo>
                  <a:pt x="0" y="32004"/>
                </a:lnTo>
                <a:lnTo>
                  <a:pt x="614172" y="32004"/>
                </a:lnTo>
                <a:lnTo>
                  <a:pt x="614172" y="44196"/>
                </a:lnTo>
                <a:close/>
              </a:path>
              <a:path w="690879" h="76200">
                <a:moveTo>
                  <a:pt x="678180" y="44196"/>
                </a:moveTo>
                <a:lnTo>
                  <a:pt x="626364" y="44196"/>
                </a:lnTo>
                <a:lnTo>
                  <a:pt x="626364" y="32004"/>
                </a:lnTo>
                <a:lnTo>
                  <a:pt x="678180" y="32004"/>
                </a:lnTo>
                <a:lnTo>
                  <a:pt x="690372" y="38100"/>
                </a:lnTo>
                <a:lnTo>
                  <a:pt x="678180" y="441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6" name="object 66"/>
          <p:cNvSpPr/>
          <p:nvPr/>
        </p:nvSpPr>
        <p:spPr>
          <a:xfrm>
            <a:off x="5582323" y="2947596"/>
            <a:ext cx="312084" cy="67235"/>
          </a:xfrm>
          <a:custGeom>
            <a:avLst/>
            <a:gdLst/>
            <a:ahLst/>
            <a:cxnLst/>
            <a:rect l="l" t="t" r="r" b="b"/>
            <a:pathLst>
              <a:path w="353695" h="76200">
                <a:moveTo>
                  <a:pt x="277368" y="76200"/>
                </a:moveTo>
                <a:lnTo>
                  <a:pt x="277368" y="0"/>
                </a:lnTo>
                <a:lnTo>
                  <a:pt x="341376" y="32004"/>
                </a:lnTo>
                <a:lnTo>
                  <a:pt x="291083" y="32004"/>
                </a:lnTo>
                <a:lnTo>
                  <a:pt x="291083" y="44196"/>
                </a:lnTo>
                <a:lnTo>
                  <a:pt x="341376" y="44196"/>
                </a:lnTo>
                <a:lnTo>
                  <a:pt x="277368" y="76200"/>
                </a:lnTo>
                <a:close/>
              </a:path>
              <a:path w="353695" h="76200">
                <a:moveTo>
                  <a:pt x="277368" y="44196"/>
                </a:moveTo>
                <a:lnTo>
                  <a:pt x="0" y="44196"/>
                </a:lnTo>
                <a:lnTo>
                  <a:pt x="0" y="32004"/>
                </a:lnTo>
                <a:lnTo>
                  <a:pt x="277368" y="32004"/>
                </a:lnTo>
                <a:lnTo>
                  <a:pt x="277368" y="44196"/>
                </a:lnTo>
                <a:close/>
              </a:path>
              <a:path w="353695" h="76200">
                <a:moveTo>
                  <a:pt x="341376" y="44196"/>
                </a:moveTo>
                <a:lnTo>
                  <a:pt x="291083" y="44196"/>
                </a:lnTo>
                <a:lnTo>
                  <a:pt x="291083" y="32004"/>
                </a:lnTo>
                <a:lnTo>
                  <a:pt x="341376" y="32004"/>
                </a:lnTo>
                <a:lnTo>
                  <a:pt x="353568" y="38100"/>
                </a:lnTo>
                <a:lnTo>
                  <a:pt x="341376" y="441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7" name="object 67"/>
          <p:cNvSpPr/>
          <p:nvPr/>
        </p:nvSpPr>
        <p:spPr>
          <a:xfrm>
            <a:off x="6701118" y="2947596"/>
            <a:ext cx="358028" cy="67235"/>
          </a:xfrm>
          <a:custGeom>
            <a:avLst/>
            <a:gdLst/>
            <a:ahLst/>
            <a:cxnLst/>
            <a:rect l="l" t="t" r="r" b="b"/>
            <a:pathLst>
              <a:path w="405764" h="76200">
                <a:moveTo>
                  <a:pt x="329184" y="76200"/>
                </a:moveTo>
                <a:lnTo>
                  <a:pt x="329184" y="0"/>
                </a:lnTo>
                <a:lnTo>
                  <a:pt x="393192" y="32004"/>
                </a:lnTo>
                <a:lnTo>
                  <a:pt x="341376" y="32004"/>
                </a:lnTo>
                <a:lnTo>
                  <a:pt x="341376" y="44196"/>
                </a:lnTo>
                <a:lnTo>
                  <a:pt x="393192" y="44196"/>
                </a:lnTo>
                <a:lnTo>
                  <a:pt x="329184" y="76200"/>
                </a:lnTo>
                <a:close/>
              </a:path>
              <a:path w="405764" h="76200">
                <a:moveTo>
                  <a:pt x="329184" y="44196"/>
                </a:moveTo>
                <a:lnTo>
                  <a:pt x="0" y="44196"/>
                </a:lnTo>
                <a:lnTo>
                  <a:pt x="0" y="32004"/>
                </a:lnTo>
                <a:lnTo>
                  <a:pt x="329184" y="32004"/>
                </a:lnTo>
                <a:lnTo>
                  <a:pt x="329184" y="44196"/>
                </a:lnTo>
                <a:close/>
              </a:path>
              <a:path w="405764" h="76200">
                <a:moveTo>
                  <a:pt x="393192" y="44196"/>
                </a:moveTo>
                <a:lnTo>
                  <a:pt x="341376" y="44196"/>
                </a:lnTo>
                <a:lnTo>
                  <a:pt x="341376" y="32004"/>
                </a:lnTo>
                <a:lnTo>
                  <a:pt x="393192" y="32004"/>
                </a:lnTo>
                <a:lnTo>
                  <a:pt x="405384" y="38100"/>
                </a:lnTo>
                <a:lnTo>
                  <a:pt x="393192" y="441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8" name="object 68"/>
          <p:cNvSpPr/>
          <p:nvPr/>
        </p:nvSpPr>
        <p:spPr>
          <a:xfrm>
            <a:off x="7318337" y="2947596"/>
            <a:ext cx="609600" cy="67235"/>
          </a:xfrm>
          <a:custGeom>
            <a:avLst/>
            <a:gdLst/>
            <a:ahLst/>
            <a:cxnLst/>
            <a:rect l="l" t="t" r="r" b="b"/>
            <a:pathLst>
              <a:path w="690879" h="76200">
                <a:moveTo>
                  <a:pt x="614172" y="76200"/>
                </a:moveTo>
                <a:lnTo>
                  <a:pt x="614172" y="0"/>
                </a:lnTo>
                <a:lnTo>
                  <a:pt x="678180" y="32004"/>
                </a:lnTo>
                <a:lnTo>
                  <a:pt x="627887" y="32004"/>
                </a:lnTo>
                <a:lnTo>
                  <a:pt x="627887" y="44196"/>
                </a:lnTo>
                <a:lnTo>
                  <a:pt x="678180" y="44196"/>
                </a:lnTo>
                <a:lnTo>
                  <a:pt x="614172" y="76200"/>
                </a:lnTo>
                <a:close/>
              </a:path>
              <a:path w="690879" h="76200">
                <a:moveTo>
                  <a:pt x="614172" y="44196"/>
                </a:moveTo>
                <a:lnTo>
                  <a:pt x="0" y="44196"/>
                </a:lnTo>
                <a:lnTo>
                  <a:pt x="0" y="32004"/>
                </a:lnTo>
                <a:lnTo>
                  <a:pt x="614172" y="32004"/>
                </a:lnTo>
                <a:lnTo>
                  <a:pt x="614172" y="44196"/>
                </a:lnTo>
                <a:close/>
              </a:path>
              <a:path w="690879" h="76200">
                <a:moveTo>
                  <a:pt x="678180" y="44196"/>
                </a:moveTo>
                <a:lnTo>
                  <a:pt x="627887" y="44196"/>
                </a:lnTo>
                <a:lnTo>
                  <a:pt x="627887" y="32004"/>
                </a:lnTo>
                <a:lnTo>
                  <a:pt x="678180" y="32004"/>
                </a:lnTo>
                <a:lnTo>
                  <a:pt x="690372" y="38100"/>
                </a:lnTo>
                <a:lnTo>
                  <a:pt x="678180" y="441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9" name="object 69"/>
          <p:cNvSpPr/>
          <p:nvPr/>
        </p:nvSpPr>
        <p:spPr>
          <a:xfrm>
            <a:off x="8189707" y="2947596"/>
            <a:ext cx="610721" cy="67235"/>
          </a:xfrm>
          <a:custGeom>
            <a:avLst/>
            <a:gdLst/>
            <a:ahLst/>
            <a:cxnLst/>
            <a:rect l="l" t="t" r="r" b="b"/>
            <a:pathLst>
              <a:path w="692150" h="76200">
                <a:moveTo>
                  <a:pt x="615696" y="76200"/>
                </a:moveTo>
                <a:lnTo>
                  <a:pt x="615696" y="0"/>
                </a:lnTo>
                <a:lnTo>
                  <a:pt x="679704" y="32004"/>
                </a:lnTo>
                <a:lnTo>
                  <a:pt x="627887" y="32004"/>
                </a:lnTo>
                <a:lnTo>
                  <a:pt x="627887" y="44196"/>
                </a:lnTo>
                <a:lnTo>
                  <a:pt x="679704" y="44196"/>
                </a:lnTo>
                <a:lnTo>
                  <a:pt x="615696" y="76200"/>
                </a:lnTo>
                <a:close/>
              </a:path>
              <a:path w="692150" h="76200">
                <a:moveTo>
                  <a:pt x="615696" y="44196"/>
                </a:moveTo>
                <a:lnTo>
                  <a:pt x="0" y="44196"/>
                </a:lnTo>
                <a:lnTo>
                  <a:pt x="0" y="32004"/>
                </a:lnTo>
                <a:lnTo>
                  <a:pt x="615696" y="32004"/>
                </a:lnTo>
                <a:lnTo>
                  <a:pt x="615696" y="44196"/>
                </a:lnTo>
                <a:close/>
              </a:path>
              <a:path w="692150" h="76200">
                <a:moveTo>
                  <a:pt x="679704" y="44196"/>
                </a:moveTo>
                <a:lnTo>
                  <a:pt x="627887" y="44196"/>
                </a:lnTo>
                <a:lnTo>
                  <a:pt x="627887" y="32004"/>
                </a:lnTo>
                <a:lnTo>
                  <a:pt x="679704" y="32004"/>
                </a:lnTo>
                <a:lnTo>
                  <a:pt x="691896" y="38100"/>
                </a:lnTo>
                <a:lnTo>
                  <a:pt x="679704" y="441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0" name="object 70"/>
          <p:cNvSpPr txBox="1"/>
          <p:nvPr/>
        </p:nvSpPr>
        <p:spPr>
          <a:xfrm>
            <a:off x="3348269" y="3724381"/>
            <a:ext cx="90207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661647" y="25908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389144" y="3549534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258329" y="3549534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972263" y="3554948"/>
            <a:ext cx="456079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6499413" y="2944906"/>
            <a:ext cx="67235" cy="672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6" name="object 76"/>
          <p:cNvSpPr/>
          <p:nvPr/>
        </p:nvSpPr>
        <p:spPr>
          <a:xfrm>
            <a:off x="6364942" y="2944906"/>
            <a:ext cx="67235" cy="672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7" name="object 77"/>
          <p:cNvSpPr/>
          <p:nvPr/>
        </p:nvSpPr>
        <p:spPr>
          <a:xfrm>
            <a:off x="6230472" y="2944906"/>
            <a:ext cx="67235" cy="672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8" name="object 78"/>
          <p:cNvSpPr/>
          <p:nvPr/>
        </p:nvSpPr>
        <p:spPr>
          <a:xfrm>
            <a:off x="6096001" y="2944906"/>
            <a:ext cx="67235" cy="672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9" name="object 79"/>
          <p:cNvSpPr txBox="1"/>
          <p:nvPr/>
        </p:nvSpPr>
        <p:spPr>
          <a:xfrm>
            <a:off x="7830149" y="3554948"/>
            <a:ext cx="456079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786968" y="3554948"/>
            <a:ext cx="310963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382402" y="1898298"/>
            <a:ext cx="34402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-13" dirty="0">
                <a:latin typeface="Calibri"/>
                <a:cs typeface="Calibri"/>
              </a:rPr>
              <a:t>1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284024" y="1898298"/>
            <a:ext cx="34402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13" dirty="0">
                <a:latin typeface="Calibri"/>
                <a:cs typeface="Calibri"/>
              </a:rPr>
              <a:t>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4" dirty="0">
                <a:latin typeface="Calibri"/>
                <a:cs typeface="Calibri"/>
              </a:rPr>
              <a:t>2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972262" y="1929190"/>
            <a:ext cx="45047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830718" y="1929190"/>
            <a:ext cx="45047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spc="-13" dirty="0">
                <a:latin typeface="Calibri"/>
                <a:cs typeface="Calibri"/>
              </a:rPr>
              <a:t>-</a:t>
            </a:r>
            <a:r>
              <a:rPr sz="1412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787538" y="1929190"/>
            <a:ext cx="30592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3137647" y="4235824"/>
            <a:ext cx="5786718" cy="336176"/>
          </a:xfrm>
          <a:custGeom>
            <a:avLst/>
            <a:gdLst/>
            <a:ahLst/>
            <a:cxnLst/>
            <a:rect l="l" t="t" r="r" b="b"/>
            <a:pathLst>
              <a:path w="6558280" h="381000">
                <a:moveTo>
                  <a:pt x="190500" y="381000"/>
                </a:moveTo>
                <a:lnTo>
                  <a:pt x="0" y="190500"/>
                </a:lnTo>
                <a:lnTo>
                  <a:pt x="190500" y="0"/>
                </a:lnTo>
                <a:lnTo>
                  <a:pt x="190500" y="96012"/>
                </a:lnTo>
                <a:lnTo>
                  <a:pt x="6557772" y="96012"/>
                </a:lnTo>
                <a:lnTo>
                  <a:pt x="6557772" y="286512"/>
                </a:lnTo>
                <a:lnTo>
                  <a:pt x="190500" y="286512"/>
                </a:lnTo>
                <a:lnTo>
                  <a:pt x="190500" y="3810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7" name="object 87"/>
          <p:cNvSpPr/>
          <p:nvPr/>
        </p:nvSpPr>
        <p:spPr>
          <a:xfrm>
            <a:off x="3134957" y="4233134"/>
            <a:ext cx="5791760" cy="342900"/>
          </a:xfrm>
          <a:custGeom>
            <a:avLst/>
            <a:gdLst/>
            <a:ahLst/>
            <a:cxnLst/>
            <a:rect l="l" t="t" r="r" b="b"/>
            <a:pathLst>
              <a:path w="6563995" h="388620">
                <a:moveTo>
                  <a:pt x="6557772" y="102107"/>
                </a:moveTo>
                <a:lnTo>
                  <a:pt x="192024" y="102107"/>
                </a:lnTo>
                <a:lnTo>
                  <a:pt x="190500" y="100583"/>
                </a:lnTo>
                <a:lnTo>
                  <a:pt x="190500" y="12191"/>
                </a:lnTo>
                <a:lnTo>
                  <a:pt x="196596" y="6095"/>
                </a:lnTo>
                <a:lnTo>
                  <a:pt x="190500" y="3047"/>
                </a:lnTo>
                <a:lnTo>
                  <a:pt x="193548" y="0"/>
                </a:lnTo>
                <a:lnTo>
                  <a:pt x="195072" y="1523"/>
                </a:lnTo>
                <a:lnTo>
                  <a:pt x="196596" y="1523"/>
                </a:lnTo>
                <a:lnTo>
                  <a:pt x="198119" y="3047"/>
                </a:lnTo>
                <a:lnTo>
                  <a:pt x="198119" y="96011"/>
                </a:lnTo>
                <a:lnTo>
                  <a:pt x="193548" y="96011"/>
                </a:lnTo>
                <a:lnTo>
                  <a:pt x="198119" y="99059"/>
                </a:lnTo>
                <a:lnTo>
                  <a:pt x="6557772" y="99059"/>
                </a:lnTo>
                <a:lnTo>
                  <a:pt x="6557772" y="102107"/>
                </a:lnTo>
                <a:close/>
              </a:path>
              <a:path w="6563995" h="388620">
                <a:moveTo>
                  <a:pt x="190500" y="12191"/>
                </a:moveTo>
                <a:lnTo>
                  <a:pt x="190500" y="3047"/>
                </a:lnTo>
                <a:lnTo>
                  <a:pt x="196596" y="6095"/>
                </a:lnTo>
                <a:lnTo>
                  <a:pt x="190500" y="12191"/>
                </a:lnTo>
                <a:close/>
              </a:path>
              <a:path w="6563995" h="388620">
                <a:moveTo>
                  <a:pt x="193548" y="388620"/>
                </a:moveTo>
                <a:lnTo>
                  <a:pt x="0" y="195071"/>
                </a:lnTo>
                <a:lnTo>
                  <a:pt x="0" y="193547"/>
                </a:lnTo>
                <a:lnTo>
                  <a:pt x="190500" y="3047"/>
                </a:lnTo>
                <a:lnTo>
                  <a:pt x="190500" y="12191"/>
                </a:lnTo>
                <a:lnTo>
                  <a:pt x="10668" y="192023"/>
                </a:lnTo>
                <a:lnTo>
                  <a:pt x="6096" y="192023"/>
                </a:lnTo>
                <a:lnTo>
                  <a:pt x="6096" y="196595"/>
                </a:lnTo>
                <a:lnTo>
                  <a:pt x="10668" y="196595"/>
                </a:lnTo>
                <a:lnTo>
                  <a:pt x="190500" y="376428"/>
                </a:lnTo>
                <a:lnTo>
                  <a:pt x="190500" y="384048"/>
                </a:lnTo>
                <a:lnTo>
                  <a:pt x="198119" y="384048"/>
                </a:lnTo>
                <a:lnTo>
                  <a:pt x="198119" y="385572"/>
                </a:lnTo>
                <a:lnTo>
                  <a:pt x="196596" y="387096"/>
                </a:lnTo>
                <a:lnTo>
                  <a:pt x="195072" y="387096"/>
                </a:lnTo>
                <a:lnTo>
                  <a:pt x="193548" y="388620"/>
                </a:lnTo>
                <a:close/>
              </a:path>
              <a:path w="6563995" h="388620">
                <a:moveTo>
                  <a:pt x="198119" y="99059"/>
                </a:moveTo>
                <a:lnTo>
                  <a:pt x="193548" y="96011"/>
                </a:lnTo>
                <a:lnTo>
                  <a:pt x="198119" y="96011"/>
                </a:lnTo>
                <a:lnTo>
                  <a:pt x="198119" y="99059"/>
                </a:lnTo>
                <a:close/>
              </a:path>
              <a:path w="6563995" h="388620">
                <a:moveTo>
                  <a:pt x="6563868" y="102107"/>
                </a:moveTo>
                <a:lnTo>
                  <a:pt x="6560820" y="102107"/>
                </a:lnTo>
                <a:lnTo>
                  <a:pt x="6557772" y="99059"/>
                </a:lnTo>
                <a:lnTo>
                  <a:pt x="198119" y="99059"/>
                </a:lnTo>
                <a:lnTo>
                  <a:pt x="198119" y="96011"/>
                </a:lnTo>
                <a:lnTo>
                  <a:pt x="6562344" y="96011"/>
                </a:lnTo>
                <a:lnTo>
                  <a:pt x="6563868" y="97535"/>
                </a:lnTo>
                <a:lnTo>
                  <a:pt x="6563868" y="102107"/>
                </a:lnTo>
                <a:close/>
              </a:path>
              <a:path w="6563995" h="388620">
                <a:moveTo>
                  <a:pt x="6557772" y="289559"/>
                </a:moveTo>
                <a:lnTo>
                  <a:pt x="6557772" y="99059"/>
                </a:lnTo>
                <a:lnTo>
                  <a:pt x="6560820" y="102107"/>
                </a:lnTo>
                <a:lnTo>
                  <a:pt x="6563868" y="102107"/>
                </a:lnTo>
                <a:lnTo>
                  <a:pt x="6563868" y="286511"/>
                </a:lnTo>
                <a:lnTo>
                  <a:pt x="6560820" y="286511"/>
                </a:lnTo>
                <a:lnTo>
                  <a:pt x="6557772" y="289559"/>
                </a:lnTo>
                <a:close/>
              </a:path>
              <a:path w="6563995" h="388620">
                <a:moveTo>
                  <a:pt x="6096" y="196595"/>
                </a:moveTo>
                <a:lnTo>
                  <a:pt x="6096" y="192023"/>
                </a:lnTo>
                <a:lnTo>
                  <a:pt x="8382" y="194309"/>
                </a:lnTo>
                <a:lnTo>
                  <a:pt x="6096" y="196595"/>
                </a:lnTo>
                <a:close/>
              </a:path>
              <a:path w="6563995" h="388620">
                <a:moveTo>
                  <a:pt x="8382" y="194309"/>
                </a:moveTo>
                <a:lnTo>
                  <a:pt x="6096" y="192023"/>
                </a:lnTo>
                <a:lnTo>
                  <a:pt x="10668" y="192023"/>
                </a:lnTo>
                <a:lnTo>
                  <a:pt x="8382" y="194309"/>
                </a:lnTo>
                <a:close/>
              </a:path>
              <a:path w="6563995" h="388620">
                <a:moveTo>
                  <a:pt x="10668" y="196595"/>
                </a:moveTo>
                <a:lnTo>
                  <a:pt x="6096" y="196595"/>
                </a:lnTo>
                <a:lnTo>
                  <a:pt x="8382" y="194309"/>
                </a:lnTo>
                <a:lnTo>
                  <a:pt x="10668" y="196595"/>
                </a:lnTo>
                <a:close/>
              </a:path>
              <a:path w="6563995" h="388620">
                <a:moveTo>
                  <a:pt x="198119" y="384048"/>
                </a:moveTo>
                <a:lnTo>
                  <a:pt x="190500" y="384048"/>
                </a:lnTo>
                <a:lnTo>
                  <a:pt x="196596" y="382524"/>
                </a:lnTo>
                <a:lnTo>
                  <a:pt x="190500" y="376428"/>
                </a:lnTo>
                <a:lnTo>
                  <a:pt x="190500" y="288035"/>
                </a:lnTo>
                <a:lnTo>
                  <a:pt x="192024" y="286511"/>
                </a:lnTo>
                <a:lnTo>
                  <a:pt x="6557772" y="286511"/>
                </a:lnTo>
                <a:lnTo>
                  <a:pt x="6557772" y="289559"/>
                </a:lnTo>
                <a:lnTo>
                  <a:pt x="198119" y="289559"/>
                </a:lnTo>
                <a:lnTo>
                  <a:pt x="193548" y="292607"/>
                </a:lnTo>
                <a:lnTo>
                  <a:pt x="198119" y="292607"/>
                </a:lnTo>
                <a:lnTo>
                  <a:pt x="198119" y="384048"/>
                </a:lnTo>
                <a:close/>
              </a:path>
              <a:path w="6563995" h="388620">
                <a:moveTo>
                  <a:pt x="6562344" y="292607"/>
                </a:moveTo>
                <a:lnTo>
                  <a:pt x="198119" y="292607"/>
                </a:lnTo>
                <a:lnTo>
                  <a:pt x="198119" y="289559"/>
                </a:lnTo>
                <a:lnTo>
                  <a:pt x="6557772" y="289559"/>
                </a:lnTo>
                <a:lnTo>
                  <a:pt x="6560820" y="286511"/>
                </a:lnTo>
                <a:lnTo>
                  <a:pt x="6563868" y="286511"/>
                </a:lnTo>
                <a:lnTo>
                  <a:pt x="6563868" y="291083"/>
                </a:lnTo>
                <a:lnTo>
                  <a:pt x="6562344" y="292607"/>
                </a:lnTo>
                <a:close/>
              </a:path>
              <a:path w="6563995" h="388620">
                <a:moveTo>
                  <a:pt x="198119" y="292607"/>
                </a:moveTo>
                <a:lnTo>
                  <a:pt x="193548" y="292607"/>
                </a:lnTo>
                <a:lnTo>
                  <a:pt x="198119" y="289559"/>
                </a:lnTo>
                <a:lnTo>
                  <a:pt x="198119" y="292607"/>
                </a:lnTo>
                <a:close/>
              </a:path>
              <a:path w="6563995" h="388620">
                <a:moveTo>
                  <a:pt x="190500" y="384048"/>
                </a:moveTo>
                <a:lnTo>
                  <a:pt x="190500" y="376428"/>
                </a:lnTo>
                <a:lnTo>
                  <a:pt x="196596" y="382524"/>
                </a:lnTo>
                <a:lnTo>
                  <a:pt x="190500" y="384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8" name="object 88"/>
          <p:cNvSpPr txBox="1">
            <a:spLocks noGrp="1"/>
          </p:cNvSpPr>
          <p:nvPr>
            <p:ph type="sldNum" sz="quarter" idx="7"/>
          </p:nvPr>
        </p:nvSpPr>
        <p:spPr>
          <a:xfrm>
            <a:off x="10406874" y="6921482"/>
            <a:ext cx="193675" cy="309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r>
              <a:rPr lang="en-US"/>
              <a:t>1</a:t>
            </a:r>
            <a:fld id="{81D60167-4931-47E6-BA6A-407CBD079E47}" type="slidenum">
              <a:rPr smtClean="0"/>
              <a:pPr marL="12700">
                <a:lnSpc>
                  <a:spcPts val="1240"/>
                </a:lnSpc>
              </a:pPr>
              <a:t>5</a:t>
            </a:fld>
            <a:endParaRPr dirty="0"/>
          </a:p>
        </p:txBody>
      </p:sp>
      <p:sp>
        <p:nvSpPr>
          <p:cNvPr id="89" name="Date Placeholder 88">
            <a:extLst>
              <a:ext uri="{FF2B5EF4-FFF2-40B4-BE49-F238E27FC236}">
                <a16:creationId xmlns:a16="http://schemas.microsoft.com/office/drawing/2014/main" id="{675AAEE1-1339-392B-74D3-ED03F407C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53327-EA51-4C8E-9EDD-BF2263056BBF}" type="datetime1">
              <a:rPr lang="en-US" smtClean="0"/>
              <a:t>3/17/2025</a:t>
            </a:fld>
            <a:endParaRPr lang="en-US"/>
          </a:p>
        </p:txBody>
      </p:sp>
      <p:sp>
        <p:nvSpPr>
          <p:cNvPr id="90" name="Footer Placeholder 89">
            <a:extLst>
              <a:ext uri="{FF2B5EF4-FFF2-40B4-BE49-F238E27FC236}">
                <a16:creationId xmlns:a16="http://schemas.microsoft.com/office/drawing/2014/main" id="{B6170C1E-A47A-E21B-518F-1AA2FE55A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818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068A87-7BD4-4052-8784-C49053654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case of a recurrent neural network, the loss function L of all time steps is defined based on the loss at every time step as follows: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414128-6E73-4B9F-9BAF-1696CD333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7B124-736A-470F-B54B-EFEFDBFF8994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F763E4-569A-4675-B308-1E114881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6CF7E-58FC-405E-9A17-F12F074C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08928A-84D7-4D2B-BAFA-2C694DD12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6247D5-C510-4381-8CE9-8161789A8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926" y="3360085"/>
            <a:ext cx="593407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2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01FC97-5916-4CBC-9E50-01C37877D0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5200" y="2057400"/>
            <a:ext cx="4894786" cy="348610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B8B13A-5112-439B-86A0-BD63972DD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6E25-F527-4750-B76D-0FAF0F4761D7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1BB1BC-DEEA-4526-8104-C86A63B8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AEAE8-05B1-4D9D-96D9-FAA739C4A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3983C00-7740-4ED8-AE03-91921B60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Vanilla RNN Neuron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314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E7AE63-22CB-414F-BFB7-DE0120977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081AA-6C91-4C0E-9A88-B8DBAED70EDA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7178F-0EA4-412E-BE4A-FE9550FD6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FB95DD-7D65-49B3-A0AF-8EB342C1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1B28BC-7329-437D-90AE-C02EB939B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Vanilla RNN Forward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2EB655-7678-482C-9013-8C7A17E17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6425AB-7D37-468F-A3EF-1F16707B9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00200"/>
            <a:ext cx="744855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18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E2735-EA01-49DC-8F57-69A332277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9B6EE-102F-413B-BE80-344E3550C768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55E2F-630C-498A-AE39-93525F13F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E9A41-2D72-48AC-ABB3-C6C1A252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D8F0DA-A7C3-418D-A5B4-6C3BE662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Vanilla RNN Backward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D1B37D8-0455-4C30-B40C-8B76FC779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0F407F-279B-4C39-A499-54677E896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600200"/>
            <a:ext cx="79248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42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F4450D-6590-4ECD-A06F-E39C6E2CA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most common activation functions used in RNN modules are described below: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FC8D76-EC1A-4E61-86EF-552BDAC5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A5B78-9523-4D71-8B68-7FF686D09413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241E4-237F-49C3-AC0F-F73D54F17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F69DEF-7383-4D71-9870-58FD14115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97F8575-2564-4357-B627-461F3C9CC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DFDA30-922D-4DC4-B101-361BC0854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166" y="2626056"/>
            <a:ext cx="7960659" cy="36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126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462B9E-3AD4-4A4C-9CAF-CCB140488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 problem is encountered during training of RNN using backprop. </a:t>
            </a:r>
          </a:p>
          <a:p>
            <a:r>
              <a:rPr lang="en-US" dirty="0"/>
              <a:t>For long term dependencies multiplicative gradient can be </a:t>
            </a:r>
            <a:r>
              <a:rPr lang="en-US" dirty="0">
                <a:solidFill>
                  <a:srgbClr val="FF0000"/>
                </a:solidFill>
              </a:rPr>
              <a:t>decreasing/increasing </a:t>
            </a:r>
            <a:r>
              <a:rPr lang="en-US" dirty="0"/>
              <a:t>with respect to the number of layers.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C8450-1C95-4A17-9B27-41CA4DA4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AF599-E516-49B0-9AD8-52D73ED2A129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85016-3C4B-4392-8DDF-AE4EADCF1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738158-0472-465A-BA7F-2E6115DA1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3EB9A0-65A0-430C-80CA-ADF683C8B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Vanishing/Exploding gradient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FCA760-2B0E-4948-A516-B44FF8C94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1" y="4572001"/>
            <a:ext cx="385762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379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1A4836-77E8-402E-AAEE-676E6479B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technique used to deal with the </a:t>
            </a:r>
            <a:r>
              <a:rPr lang="en-US" dirty="0">
                <a:solidFill>
                  <a:srgbClr val="FF0000"/>
                </a:solidFill>
              </a:rPr>
              <a:t>exploding gradient problem </a:t>
            </a:r>
            <a:r>
              <a:rPr lang="en-US" dirty="0"/>
              <a:t>sometimes encountered when performing backpropagation. </a:t>
            </a:r>
          </a:p>
          <a:p>
            <a:r>
              <a:rPr lang="en-US" dirty="0"/>
              <a:t>By capping the maximum value for the gradient, this phenomenon is controlled in practice.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54E92C-7A9B-4C41-84A4-FE932E62A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6B973-8631-4E59-8888-068731AD7EDC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A2B31B-2BC0-4D42-ABB2-24352722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BE5BCF-7656-46ED-A127-F06A15BC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340736-C923-4C94-ACAC-3A02CAF8E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clipping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0A1F143-8B37-4813-B508-E976699CE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925" y="4087813"/>
            <a:ext cx="47561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3023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2705973"/>
            <a:ext cx="9144000" cy="3295015"/>
            <a:chOff x="0" y="1848721"/>
            <a:chExt cx="9144000" cy="3295015"/>
          </a:xfrm>
        </p:grpSpPr>
        <p:sp>
          <p:nvSpPr>
            <p:cNvPr id="3" name="object 3"/>
            <p:cNvSpPr/>
            <p:nvPr/>
          </p:nvSpPr>
          <p:spPr>
            <a:xfrm>
              <a:off x="35427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427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27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27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3234" y="3374993"/>
              <a:ext cx="81979" cy="2219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234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234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234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34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1308" y="3374993"/>
              <a:ext cx="81982" cy="22197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4173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50449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50449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50449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50449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19409" y="3374993"/>
              <a:ext cx="81979" cy="2219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22150" y="2999968"/>
              <a:ext cx="209977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9852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9852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9852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9852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67486" y="3374993"/>
              <a:ext cx="81979" cy="2219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70227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46600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46600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46600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46600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15560" y="3374993"/>
              <a:ext cx="81979" cy="2219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18301" y="2999968"/>
              <a:ext cx="209977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94669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94669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94669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94669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663644" y="3374993"/>
              <a:ext cx="81974" cy="2219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66377" y="2999968"/>
              <a:ext cx="209967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42743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42743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42743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42743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11718" y="3374993"/>
              <a:ext cx="81974" cy="2219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814444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5427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5427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23254" y="2502944"/>
              <a:ext cx="81979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235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235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71328" y="2502944"/>
              <a:ext cx="81982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25045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25045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19429" y="2502944"/>
              <a:ext cx="81979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698529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698529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767506" y="2502944"/>
              <a:ext cx="81979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146605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146605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215580" y="2502944"/>
              <a:ext cx="81979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594669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594669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663644" y="2502944"/>
              <a:ext cx="81999" cy="22227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04274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04274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111743" y="2502944"/>
              <a:ext cx="81974" cy="22227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466443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466443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466443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466443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535392" y="3374993"/>
              <a:ext cx="81999" cy="22197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914517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914517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914517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914517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983466" y="3374993"/>
              <a:ext cx="81999" cy="22197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686342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36261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36261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36261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36261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431591" y="3374993"/>
              <a:ext cx="81974" cy="22197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134316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810690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810690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810690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810690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879665" y="3374993"/>
              <a:ext cx="81974" cy="22197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582390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25876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25876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25876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25876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327739" y="3374993"/>
              <a:ext cx="81974" cy="22197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030465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70683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70683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683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70683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775813" y="3374993"/>
              <a:ext cx="81974" cy="22197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478538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154912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154912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154912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154912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223887" y="3374993"/>
              <a:ext cx="81974" cy="22197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926613" y="2999968"/>
              <a:ext cx="209974" cy="8199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46644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46644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535417" y="2502944"/>
              <a:ext cx="81974" cy="22227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914517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914517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983492" y="2502944"/>
              <a:ext cx="81974" cy="22227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36261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36261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431591" y="2502944"/>
              <a:ext cx="81999" cy="22227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810690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810690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879665" y="2502944"/>
              <a:ext cx="81999" cy="22227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525876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525876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5327739" y="2502944"/>
              <a:ext cx="81999" cy="22227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5706838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5706838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5775813" y="2502944"/>
              <a:ext cx="81999" cy="22227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154912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154912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6223887" y="2502944"/>
              <a:ext cx="81999" cy="22227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660298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60298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60298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60298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671936" y="3374993"/>
              <a:ext cx="81999" cy="2219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374687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7051061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051061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051061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051061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120035" y="3374993"/>
              <a:ext cx="81974" cy="22197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6822761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49913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49913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49913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49913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568109" y="3374993"/>
              <a:ext cx="81974" cy="22197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270835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94720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94720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94720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94720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8016183" y="3374993"/>
              <a:ext cx="81974" cy="22197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718909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8395282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8395282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8395282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8395282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8464257" y="3374993"/>
              <a:ext cx="81974" cy="22197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8166983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660298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660298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051061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7051061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49913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749913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7947208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7947208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8395282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8395282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6671961" y="2502944"/>
              <a:ext cx="81999" cy="22227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120035" y="2502944"/>
              <a:ext cx="81999" cy="22227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568109" y="2502944"/>
              <a:ext cx="81999" cy="22227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8016183" y="2502944"/>
              <a:ext cx="81999" cy="22227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8464257" y="2502944"/>
              <a:ext cx="81999" cy="22227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262643" y="2999968"/>
              <a:ext cx="185374" cy="8199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3" name="object 173"/>
          <p:cNvSpPr txBox="1">
            <a:spLocks noGrp="1"/>
          </p:cNvSpPr>
          <p:nvPr>
            <p:ph type="title"/>
          </p:nvPr>
        </p:nvSpPr>
        <p:spPr>
          <a:xfrm>
            <a:off x="1906949" y="1133738"/>
            <a:ext cx="4753610" cy="4521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spc="-10" dirty="0"/>
              <a:t>Backpropagation </a:t>
            </a:r>
            <a:r>
              <a:rPr sz="2800" spc="-5" dirty="0"/>
              <a:t>through</a:t>
            </a:r>
            <a:r>
              <a:rPr sz="2800" spc="-90" dirty="0"/>
              <a:t> </a:t>
            </a:r>
            <a:r>
              <a:rPr sz="2800" spc="-5" dirty="0"/>
              <a:t>time</a:t>
            </a:r>
            <a:endParaRPr sz="2800"/>
          </a:p>
        </p:txBody>
      </p:sp>
      <p:sp>
        <p:nvSpPr>
          <p:cNvPr id="174" name="object 174"/>
          <p:cNvSpPr txBox="1"/>
          <p:nvPr/>
        </p:nvSpPr>
        <p:spPr>
          <a:xfrm>
            <a:off x="5437242" y="1743725"/>
            <a:ext cx="1567180" cy="243015"/>
          </a:xfrm>
          <a:prstGeom prst="rect">
            <a:avLst/>
          </a:prstGeom>
          <a:solidFill>
            <a:srgbClr val="D8D1E8"/>
          </a:solidFill>
          <a:ln w="9524">
            <a:solidFill>
              <a:srgbClr val="666666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algn="ctr">
              <a:spcBef>
                <a:spcPts val="215"/>
              </a:spcBef>
            </a:pPr>
            <a:r>
              <a:rPr sz="1400" spc="-5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75" name="object 175"/>
          <p:cNvGrpSpPr/>
          <p:nvPr/>
        </p:nvGrpSpPr>
        <p:grpSpPr>
          <a:xfrm>
            <a:off x="1870101" y="1634355"/>
            <a:ext cx="8282305" cy="3829050"/>
            <a:chOff x="346099" y="777105"/>
            <a:chExt cx="8282305" cy="3829050"/>
          </a:xfrm>
        </p:grpSpPr>
        <p:sp>
          <p:nvSpPr>
            <p:cNvPr id="176" name="object 176"/>
            <p:cNvSpPr/>
            <p:nvPr/>
          </p:nvSpPr>
          <p:spPr>
            <a:xfrm>
              <a:off x="464226" y="905785"/>
              <a:ext cx="3305810" cy="948055"/>
            </a:xfrm>
            <a:custGeom>
              <a:avLst/>
              <a:gdLst/>
              <a:ahLst/>
              <a:cxnLst/>
              <a:rect l="l" t="t" r="r" b="b"/>
              <a:pathLst>
                <a:path w="3305810" h="948055">
                  <a:moveTo>
                    <a:pt x="0" y="947698"/>
                  </a:moveTo>
                  <a:lnTo>
                    <a:pt x="3305615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3751642" y="866013"/>
              <a:ext cx="110824" cy="7954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912303" y="1028507"/>
              <a:ext cx="2760980" cy="825500"/>
            </a:xfrm>
            <a:custGeom>
              <a:avLst/>
              <a:gdLst/>
              <a:ahLst/>
              <a:cxnLst/>
              <a:rect l="l" t="t" r="r" b="b"/>
              <a:pathLst>
                <a:path w="2760979" h="825500">
                  <a:moveTo>
                    <a:pt x="0" y="824975"/>
                  </a:moveTo>
                  <a:lnTo>
                    <a:pt x="276088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3654642" y="988835"/>
              <a:ext cx="110899" cy="79347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1360404" y="1061327"/>
              <a:ext cx="2444115" cy="792480"/>
            </a:xfrm>
            <a:custGeom>
              <a:avLst/>
              <a:gdLst/>
              <a:ahLst/>
              <a:cxnLst/>
              <a:rect l="l" t="t" r="r" b="b"/>
              <a:pathLst>
                <a:path w="2444115" h="792480">
                  <a:moveTo>
                    <a:pt x="0" y="792155"/>
                  </a:moveTo>
                  <a:lnTo>
                    <a:pt x="2443962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3785142" y="1021870"/>
              <a:ext cx="110999" cy="7891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1808478" y="1145290"/>
              <a:ext cx="1879600" cy="708660"/>
            </a:xfrm>
            <a:custGeom>
              <a:avLst/>
              <a:gdLst/>
              <a:ahLst/>
              <a:cxnLst/>
              <a:rect l="l" t="t" r="r" b="b"/>
              <a:pathLst>
                <a:path w="1879600" h="708660">
                  <a:moveTo>
                    <a:pt x="0" y="708193"/>
                  </a:moveTo>
                  <a:lnTo>
                    <a:pt x="1879338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3667192" y="1105280"/>
              <a:ext cx="111049" cy="7897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2256555" y="1201867"/>
              <a:ext cx="1398270" cy="652145"/>
            </a:xfrm>
            <a:custGeom>
              <a:avLst/>
              <a:gdLst/>
              <a:ahLst/>
              <a:cxnLst/>
              <a:rect l="l" t="t" r="r" b="b"/>
              <a:pathLst>
                <a:path w="1398270" h="652144">
                  <a:moveTo>
                    <a:pt x="0" y="651616"/>
                  </a:moveTo>
                  <a:lnTo>
                    <a:pt x="139818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3631942" y="1155822"/>
              <a:ext cx="110699" cy="84089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2704619" y="1236202"/>
              <a:ext cx="1040765" cy="617855"/>
            </a:xfrm>
            <a:custGeom>
              <a:avLst/>
              <a:gdLst/>
              <a:ahLst/>
              <a:cxnLst/>
              <a:rect l="l" t="t" r="r" b="b"/>
              <a:pathLst>
                <a:path w="1040764" h="617855">
                  <a:moveTo>
                    <a:pt x="0" y="617281"/>
                  </a:moveTo>
                  <a:lnTo>
                    <a:pt x="104049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3719542" y="1182570"/>
              <a:ext cx="109449" cy="90219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3152693" y="1262489"/>
              <a:ext cx="723900" cy="591185"/>
            </a:xfrm>
            <a:custGeom>
              <a:avLst/>
              <a:gdLst/>
              <a:ahLst/>
              <a:cxnLst/>
              <a:rect l="l" t="t" r="r" b="b"/>
              <a:pathLst>
                <a:path w="723900" h="591185">
                  <a:moveTo>
                    <a:pt x="0" y="590993"/>
                  </a:moveTo>
                  <a:lnTo>
                    <a:pt x="723573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3846842" y="1198277"/>
              <a:ext cx="105924" cy="98104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3576392" y="1288964"/>
              <a:ext cx="484505" cy="564515"/>
            </a:xfrm>
            <a:custGeom>
              <a:avLst/>
              <a:gdLst/>
              <a:ahLst/>
              <a:cxnLst/>
              <a:rect l="l" t="t" r="r" b="b"/>
              <a:pathLst>
                <a:path w="484504" h="564514">
                  <a:moveTo>
                    <a:pt x="0" y="564518"/>
                  </a:moveTo>
                  <a:lnTo>
                    <a:pt x="4839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4026892" y="1213802"/>
              <a:ext cx="99199" cy="105164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4024467" y="1316889"/>
              <a:ext cx="266065" cy="537210"/>
            </a:xfrm>
            <a:custGeom>
              <a:avLst/>
              <a:gdLst/>
              <a:ahLst/>
              <a:cxnLst/>
              <a:rect l="l" t="t" r="r" b="b"/>
              <a:pathLst>
                <a:path w="266064" h="537210">
                  <a:moveTo>
                    <a:pt x="0" y="536593"/>
                  </a:moveTo>
                  <a:lnTo>
                    <a:pt x="2660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4252791" y="1229910"/>
              <a:ext cx="85624" cy="110482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4472566" y="1279274"/>
              <a:ext cx="73025" cy="574675"/>
            </a:xfrm>
            <a:custGeom>
              <a:avLst/>
              <a:gdLst/>
              <a:ahLst/>
              <a:cxnLst/>
              <a:rect l="l" t="t" r="r" b="b"/>
              <a:pathLst>
                <a:path w="73025" h="574675">
                  <a:moveTo>
                    <a:pt x="0" y="574208"/>
                  </a:moveTo>
                  <a:lnTo>
                    <a:pt x="728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4504740" y="1183987"/>
              <a:ext cx="81474" cy="108774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4843015" y="1303362"/>
              <a:ext cx="78105" cy="550545"/>
            </a:xfrm>
            <a:custGeom>
              <a:avLst/>
              <a:gdLst/>
              <a:ahLst/>
              <a:cxnLst/>
              <a:rect l="l" t="t" r="r" b="b"/>
              <a:pathLst>
                <a:path w="78104" h="550544">
                  <a:moveTo>
                    <a:pt x="77624" y="55012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4802340" y="1208235"/>
              <a:ext cx="81349" cy="109049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5116164" y="1282417"/>
              <a:ext cx="252729" cy="571500"/>
            </a:xfrm>
            <a:custGeom>
              <a:avLst/>
              <a:gdLst/>
              <a:ahLst/>
              <a:cxnLst/>
              <a:rect l="l" t="t" r="r" b="b"/>
              <a:pathLst>
                <a:path w="252729" h="571500">
                  <a:moveTo>
                    <a:pt x="252549" y="571066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5071664" y="1193830"/>
              <a:ext cx="82799" cy="110839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5358914" y="1267924"/>
              <a:ext cx="458470" cy="586105"/>
            </a:xfrm>
            <a:custGeom>
              <a:avLst/>
              <a:gdLst/>
              <a:ahLst/>
              <a:cxnLst/>
              <a:rect l="l" t="t" r="r" b="b"/>
              <a:pathLst>
                <a:path w="458470" h="586105">
                  <a:moveTo>
                    <a:pt x="457874" y="58555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5296139" y="1190297"/>
              <a:ext cx="97074" cy="106534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5501438" y="1282909"/>
              <a:ext cx="763905" cy="570865"/>
            </a:xfrm>
            <a:custGeom>
              <a:avLst/>
              <a:gdLst/>
              <a:ahLst/>
              <a:cxnLst/>
              <a:rect l="l" t="t" r="r" b="b"/>
              <a:pathLst>
                <a:path w="763904" h="570864">
                  <a:moveTo>
                    <a:pt x="763423" y="57057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5422664" y="1221632"/>
              <a:ext cx="107124" cy="96007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5594488" y="1222075"/>
              <a:ext cx="1118870" cy="631825"/>
            </a:xfrm>
            <a:custGeom>
              <a:avLst/>
              <a:gdLst/>
              <a:ahLst/>
              <a:cxnLst/>
              <a:rect l="l" t="t" r="r" b="b"/>
              <a:pathLst>
                <a:path w="1118870" h="631825">
                  <a:moveTo>
                    <a:pt x="1118447" y="63140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5509663" y="1170050"/>
              <a:ext cx="109799" cy="88949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5582363" y="1076555"/>
              <a:ext cx="1579245" cy="777240"/>
            </a:xfrm>
            <a:custGeom>
              <a:avLst/>
              <a:gdLst/>
              <a:ahLst/>
              <a:cxnLst/>
              <a:rect l="l" t="t" r="r" b="b"/>
              <a:pathLst>
                <a:path w="1579245" h="777239">
                  <a:moveTo>
                    <a:pt x="1578646" y="77692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5495288" y="1028857"/>
              <a:ext cx="110499" cy="85454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5635388" y="958105"/>
              <a:ext cx="1974214" cy="895985"/>
            </a:xfrm>
            <a:custGeom>
              <a:avLst/>
              <a:gdLst/>
              <a:ahLst/>
              <a:cxnLst/>
              <a:rect l="l" t="t" r="r" b="b"/>
              <a:pathLst>
                <a:path w="1974215" h="895985">
                  <a:moveTo>
                    <a:pt x="1973696" y="89537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5547138" y="912865"/>
              <a:ext cx="110774" cy="83419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5613238" y="891835"/>
              <a:ext cx="2444115" cy="962025"/>
            </a:xfrm>
            <a:custGeom>
              <a:avLst/>
              <a:gdLst/>
              <a:ahLst/>
              <a:cxnLst/>
              <a:rect l="l" t="t" r="r" b="b"/>
              <a:pathLst>
                <a:path w="2444115" h="962025">
                  <a:moveTo>
                    <a:pt x="2443920" y="96164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5523263" y="850658"/>
              <a:ext cx="111024" cy="79984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5662713" y="816265"/>
              <a:ext cx="2842895" cy="1037590"/>
            </a:xfrm>
            <a:custGeom>
              <a:avLst/>
              <a:gdLst/>
              <a:ahLst/>
              <a:cxnLst/>
              <a:rect l="l" t="t" r="r" b="b"/>
              <a:pathLst>
                <a:path w="2842895" h="1037589">
                  <a:moveTo>
                    <a:pt x="2842519" y="1037217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5571988" y="777105"/>
              <a:ext cx="111049" cy="78244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346099" y="4347341"/>
              <a:ext cx="8053705" cy="0"/>
            </a:xfrm>
            <a:custGeom>
              <a:avLst/>
              <a:gdLst/>
              <a:ahLst/>
              <a:cxnLst/>
              <a:rect l="l" t="t" r="r" b="b"/>
              <a:pathLst>
                <a:path w="8053705">
                  <a:moveTo>
                    <a:pt x="0" y="0"/>
                  </a:moveTo>
                  <a:lnTo>
                    <a:pt x="8053183" y="0"/>
                  </a:lnTo>
                </a:path>
              </a:pathLst>
            </a:custGeom>
            <a:ln w="3809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8380232" y="4265366"/>
              <a:ext cx="210999" cy="163949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574698" y="4524016"/>
              <a:ext cx="8053705" cy="0"/>
            </a:xfrm>
            <a:custGeom>
              <a:avLst/>
              <a:gdLst/>
              <a:ahLst/>
              <a:cxnLst/>
              <a:rect l="l" t="t" r="r" b="b"/>
              <a:pathLst>
                <a:path w="8053705">
                  <a:moveTo>
                    <a:pt x="0" y="0"/>
                  </a:moveTo>
                  <a:lnTo>
                    <a:pt x="8053183" y="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382746" y="4442041"/>
              <a:ext cx="211002" cy="163949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8" name="object 218"/>
          <p:cNvSpPr txBox="1"/>
          <p:nvPr/>
        </p:nvSpPr>
        <p:spPr>
          <a:xfrm>
            <a:off x="7469615" y="986146"/>
            <a:ext cx="2765425" cy="6235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300" spc="-5" dirty="0">
                <a:latin typeface="Arial"/>
                <a:cs typeface="Arial"/>
              </a:rPr>
              <a:t>Forward through entire </a:t>
            </a:r>
            <a:r>
              <a:rPr sz="1300" dirty="0">
                <a:latin typeface="Arial"/>
                <a:cs typeface="Arial"/>
              </a:rPr>
              <a:t>sequence </a:t>
            </a:r>
            <a:r>
              <a:rPr sz="1300" spc="-5" dirty="0">
                <a:latin typeface="Arial"/>
                <a:cs typeface="Arial"/>
              </a:rPr>
              <a:t>to  </a:t>
            </a:r>
            <a:r>
              <a:rPr sz="1300" dirty="0">
                <a:latin typeface="Arial"/>
                <a:cs typeface="Arial"/>
              </a:rPr>
              <a:t>compute </a:t>
            </a:r>
            <a:r>
              <a:rPr sz="1300" spc="-5" dirty="0">
                <a:latin typeface="Arial"/>
                <a:cs typeface="Arial"/>
              </a:rPr>
              <a:t>loss, then backward through  entire </a:t>
            </a:r>
            <a:r>
              <a:rPr sz="1300" dirty="0">
                <a:latin typeface="Arial"/>
                <a:cs typeface="Arial"/>
              </a:rPr>
              <a:t>sequence </a:t>
            </a:r>
            <a:r>
              <a:rPr sz="1300" spc="-5" dirty="0">
                <a:latin typeface="Arial"/>
                <a:cs typeface="Arial"/>
              </a:rPr>
              <a:t>to </a:t>
            </a:r>
            <a:r>
              <a:rPr sz="1300" dirty="0">
                <a:latin typeface="Arial"/>
                <a:cs typeface="Arial"/>
              </a:rPr>
              <a:t>compute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5" dirty="0">
                <a:latin typeface="Arial"/>
                <a:cs typeface="Arial"/>
              </a:rPr>
              <a:t>gradient</a:t>
            </a:r>
            <a:endParaRPr sz="1300">
              <a:latin typeface="Arial"/>
              <a:cs typeface="Arial"/>
            </a:endParaRPr>
          </a:p>
        </p:txBody>
      </p:sp>
      <p:sp>
        <p:nvSpPr>
          <p:cNvPr id="219" name="object 219"/>
          <p:cNvSpPr txBox="1"/>
          <p:nvPr/>
        </p:nvSpPr>
        <p:spPr>
          <a:xfrm>
            <a:off x="1681926" y="5574843"/>
            <a:ext cx="870902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&amp; Justin Johnson &amp;</a:t>
            </a:r>
            <a:r>
              <a:rPr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Serena Yeung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 10 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-	May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4,</a:t>
            </a:r>
            <a:r>
              <a:rPr sz="3000" spc="-15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2017</a:t>
            </a:r>
            <a:endParaRPr sz="3000" baseline="-4166">
              <a:latin typeface="Arial"/>
              <a:cs typeface="Arial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1669224" y="5566897"/>
            <a:ext cx="45148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&amp; Justin Johnson &amp;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Serena</a:t>
            </a:r>
            <a:r>
              <a:rPr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Yeung</a:t>
            </a:r>
            <a:endParaRPr>
              <a:latin typeface="Arial"/>
              <a:cs typeface="Arial"/>
            </a:endParaRPr>
          </a:p>
        </p:txBody>
      </p:sp>
      <p:sp>
        <p:nvSpPr>
          <p:cNvPr id="220" name="Date Placeholder 219">
            <a:extLst>
              <a:ext uri="{FF2B5EF4-FFF2-40B4-BE49-F238E27FC236}">
                <a16:creationId xmlns:a16="http://schemas.microsoft.com/office/drawing/2014/main" id="{D16801E1-B960-F24A-BC36-BA343C72C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7DD59-586C-440D-A94F-4F3886EC387C}" type="datetime1">
              <a:rPr lang="en-US" smtClean="0"/>
              <a:t>3/17/2025</a:t>
            </a:fld>
            <a:endParaRPr lang="en-US"/>
          </a:p>
        </p:txBody>
      </p:sp>
      <p:sp>
        <p:nvSpPr>
          <p:cNvPr id="221" name="Footer Placeholder 220">
            <a:extLst>
              <a:ext uri="{FF2B5EF4-FFF2-40B4-BE49-F238E27FC236}">
                <a16:creationId xmlns:a16="http://schemas.microsoft.com/office/drawing/2014/main" id="{A80E76F6-F2DD-F404-9AD1-734E44B2B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223" name="Slide Number Placeholder 222">
            <a:extLst>
              <a:ext uri="{FF2B5EF4-FFF2-40B4-BE49-F238E27FC236}">
                <a16:creationId xmlns:a16="http://schemas.microsoft.com/office/drawing/2014/main" id="{C9B0A285-D2EB-31C3-F564-9BA433D16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1888882"/>
            <a:ext cx="9144000" cy="4112260"/>
            <a:chOff x="0" y="1031632"/>
            <a:chExt cx="9144000" cy="4112260"/>
          </a:xfrm>
        </p:grpSpPr>
        <p:sp>
          <p:nvSpPr>
            <p:cNvPr id="3" name="object 3"/>
            <p:cNvSpPr/>
            <p:nvPr/>
          </p:nvSpPr>
          <p:spPr>
            <a:xfrm>
              <a:off x="35427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427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27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27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3234" y="3374993"/>
              <a:ext cx="81979" cy="2219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234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234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234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34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1308" y="3374993"/>
              <a:ext cx="81982" cy="22197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4173" y="2999969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50449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50449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50449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50449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19409" y="3374993"/>
              <a:ext cx="81979" cy="2219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22150" y="2999969"/>
              <a:ext cx="209977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9852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9852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9852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9852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67486" y="3374993"/>
              <a:ext cx="81979" cy="2219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70227" y="2999969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46600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46600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46600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46600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15560" y="3374993"/>
              <a:ext cx="81979" cy="2219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18301" y="2999969"/>
              <a:ext cx="209977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94669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94669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94669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94669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663644" y="3374993"/>
              <a:ext cx="81974" cy="2219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66377" y="2999969"/>
              <a:ext cx="209967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42743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42743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42743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42743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11718" y="3374993"/>
              <a:ext cx="81974" cy="2219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814444" y="2999969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5427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5427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23254" y="2502944"/>
              <a:ext cx="81979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235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235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71328" y="2502944"/>
              <a:ext cx="81982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25045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25045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19429" y="2502944"/>
              <a:ext cx="81979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698523" y="1853488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9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0" y="631494"/>
                  </a:lnTo>
                  <a:lnTo>
                    <a:pt x="219900" y="631494"/>
                  </a:lnTo>
                  <a:lnTo>
                    <a:pt x="219900" y="9525"/>
                  </a:lnTo>
                  <a:lnTo>
                    <a:pt x="219900" y="0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698529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767506" y="2502944"/>
              <a:ext cx="81979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146605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146605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215580" y="2502944"/>
              <a:ext cx="81979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594669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594669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663644" y="2502944"/>
              <a:ext cx="81999" cy="22227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04274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04274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111743" y="2502944"/>
              <a:ext cx="81974" cy="22227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88503" y="1283264"/>
              <a:ext cx="240029" cy="570230"/>
            </a:xfrm>
            <a:custGeom>
              <a:avLst/>
              <a:gdLst/>
              <a:ahLst/>
              <a:cxnLst/>
              <a:rect l="l" t="t" r="r" b="b"/>
              <a:pathLst>
                <a:path w="240030" h="570230">
                  <a:moveTo>
                    <a:pt x="0" y="570218"/>
                  </a:moveTo>
                  <a:lnTo>
                    <a:pt x="239532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189500" y="1194035"/>
              <a:ext cx="81542" cy="11093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436604" y="1279657"/>
              <a:ext cx="55880" cy="574040"/>
            </a:xfrm>
            <a:custGeom>
              <a:avLst/>
              <a:gdLst/>
              <a:ahLst/>
              <a:cxnLst/>
              <a:rect l="l" t="t" r="r" b="b"/>
              <a:pathLst>
                <a:path w="55880" h="574039">
                  <a:moveTo>
                    <a:pt x="0" y="573826"/>
                  </a:moveTo>
                  <a:lnTo>
                    <a:pt x="553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451089" y="1184080"/>
              <a:ext cx="81689" cy="10812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84678" y="1328519"/>
              <a:ext cx="36195" cy="525145"/>
            </a:xfrm>
            <a:custGeom>
              <a:avLst/>
              <a:gdLst/>
              <a:ahLst/>
              <a:cxnLst/>
              <a:rect l="l" t="t" r="r" b="b"/>
              <a:pathLst>
                <a:path w="36194" h="525144">
                  <a:moveTo>
                    <a:pt x="17868" y="-9524"/>
                  </a:moveTo>
                  <a:lnTo>
                    <a:pt x="17868" y="534488"/>
                  </a:lnTo>
                </a:path>
              </a:pathLst>
            </a:custGeom>
            <a:ln w="54787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879498" y="1232745"/>
              <a:ext cx="81834" cy="107437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278677" y="1279679"/>
              <a:ext cx="54610" cy="574040"/>
            </a:xfrm>
            <a:custGeom>
              <a:avLst/>
              <a:gdLst/>
              <a:ahLst/>
              <a:cxnLst/>
              <a:rect l="l" t="t" r="r" b="b"/>
              <a:pathLst>
                <a:path w="54610" h="574039">
                  <a:moveTo>
                    <a:pt x="54077" y="57380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237827" y="1184085"/>
              <a:ext cx="81702" cy="10807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544244" y="1307074"/>
              <a:ext cx="236854" cy="546735"/>
            </a:xfrm>
            <a:custGeom>
              <a:avLst/>
              <a:gdLst/>
              <a:ahLst/>
              <a:cxnLst/>
              <a:rect l="l" t="t" r="r" b="b"/>
              <a:pathLst>
                <a:path w="236855" h="546735">
                  <a:moveTo>
                    <a:pt x="236574" y="54640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500370" y="1218215"/>
              <a:ext cx="82274" cy="11088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810169" y="1293709"/>
              <a:ext cx="419100" cy="560070"/>
            </a:xfrm>
            <a:custGeom>
              <a:avLst/>
              <a:gdLst/>
              <a:ahLst/>
              <a:cxnLst/>
              <a:rect l="l" t="t" r="r" b="b"/>
              <a:pathLst>
                <a:path w="419100" h="560069">
                  <a:moveTo>
                    <a:pt x="418724" y="55977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748869" y="1214960"/>
              <a:ext cx="96024" cy="10712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46099" y="4347341"/>
              <a:ext cx="2673985" cy="0"/>
            </a:xfrm>
            <a:custGeom>
              <a:avLst/>
              <a:gdLst/>
              <a:ahLst/>
              <a:cxnLst/>
              <a:rect l="l" t="t" r="r" b="b"/>
              <a:pathLst>
                <a:path w="2673985">
                  <a:moveTo>
                    <a:pt x="0" y="0"/>
                  </a:moveTo>
                  <a:lnTo>
                    <a:pt x="2673594" y="0"/>
                  </a:lnTo>
                </a:path>
              </a:pathLst>
            </a:custGeom>
            <a:ln w="3809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000643" y="4265366"/>
              <a:ext cx="210999" cy="16394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74698" y="4524015"/>
              <a:ext cx="2649855" cy="0"/>
            </a:xfrm>
            <a:custGeom>
              <a:avLst/>
              <a:gdLst/>
              <a:ahLst/>
              <a:cxnLst/>
              <a:rect l="l" t="t" r="r" b="b"/>
              <a:pathLst>
                <a:path w="2649855">
                  <a:moveTo>
                    <a:pt x="0" y="0"/>
                  </a:moveTo>
                  <a:lnTo>
                    <a:pt x="2649294" y="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82746" y="4442041"/>
              <a:ext cx="211002" cy="16394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64226" y="1106577"/>
              <a:ext cx="645795" cy="747395"/>
            </a:xfrm>
            <a:custGeom>
              <a:avLst/>
              <a:gdLst/>
              <a:ahLst/>
              <a:cxnLst/>
              <a:rect l="l" t="t" r="r" b="b"/>
              <a:pathLst>
                <a:path w="645794" h="747394">
                  <a:moveTo>
                    <a:pt x="0" y="746905"/>
                  </a:moveTo>
                  <a:lnTo>
                    <a:pt x="645276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076167" y="1031632"/>
              <a:ext cx="99377" cy="10503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>
            <a:spLocks noGrp="1"/>
          </p:cNvSpPr>
          <p:nvPr>
            <p:ph type="title"/>
          </p:nvPr>
        </p:nvSpPr>
        <p:spPr>
          <a:xfrm>
            <a:off x="1906949" y="1133738"/>
            <a:ext cx="6570980" cy="4521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spc="-5" dirty="0">
                <a:latin typeface="Arial"/>
                <a:cs typeface="Arial"/>
              </a:rPr>
              <a:t>Truncated </a:t>
            </a:r>
            <a:r>
              <a:rPr sz="2800" spc="-10" dirty="0"/>
              <a:t>Backpropagation </a:t>
            </a:r>
            <a:r>
              <a:rPr sz="2800" spc="-5" dirty="0"/>
              <a:t>through</a:t>
            </a:r>
            <a:r>
              <a:rPr sz="2800" spc="-45" dirty="0"/>
              <a:t> </a:t>
            </a:r>
            <a:r>
              <a:rPr sz="2800" spc="-5" dirty="0"/>
              <a:t>time</a:t>
            </a:r>
            <a:endParaRPr sz="28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681926" y="5574843"/>
            <a:ext cx="870902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&amp; Justin Johnson &amp;</a:t>
            </a:r>
            <a:r>
              <a:rPr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Serena Yeung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 10 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-	May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4,</a:t>
            </a:r>
            <a:r>
              <a:rPr sz="3000" spc="-15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2017</a:t>
            </a:r>
            <a:endParaRPr sz="3000" baseline="-4166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669224" y="5566897"/>
            <a:ext cx="45148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&amp; Justin Johnson &amp;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Serena</a:t>
            </a:r>
            <a:r>
              <a:rPr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Yeung</a:t>
            </a:r>
            <a:endParaRPr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817622" y="1682925"/>
            <a:ext cx="1567180" cy="243015"/>
          </a:xfrm>
          <a:prstGeom prst="rect">
            <a:avLst/>
          </a:prstGeom>
          <a:solidFill>
            <a:srgbClr val="D8D1E8"/>
          </a:solidFill>
          <a:ln w="9524">
            <a:solidFill>
              <a:srgbClr val="666666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algn="ctr">
              <a:spcBef>
                <a:spcPts val="215"/>
              </a:spcBef>
            </a:pPr>
            <a:r>
              <a:rPr sz="1400" spc="-5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904364" y="2210100"/>
            <a:ext cx="2753360" cy="11283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latin typeface="Arial"/>
                <a:cs typeface="Arial"/>
              </a:rPr>
              <a:t>Run forward and</a:t>
            </a:r>
            <a:r>
              <a:rPr spc="-9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backward  through </a:t>
            </a:r>
            <a:r>
              <a:rPr dirty="0">
                <a:latin typeface="Arial"/>
                <a:cs typeface="Arial"/>
              </a:rPr>
              <a:t>chunks </a:t>
            </a:r>
            <a:r>
              <a:rPr spc="-5" dirty="0">
                <a:latin typeface="Arial"/>
                <a:cs typeface="Arial"/>
              </a:rPr>
              <a:t>of the  </a:t>
            </a:r>
            <a:r>
              <a:rPr dirty="0">
                <a:latin typeface="Arial"/>
                <a:cs typeface="Arial"/>
              </a:rPr>
              <a:t>sequence </a:t>
            </a:r>
            <a:r>
              <a:rPr spc="-5" dirty="0">
                <a:latin typeface="Arial"/>
                <a:cs typeface="Arial"/>
              </a:rPr>
              <a:t>instead of whole  </a:t>
            </a:r>
            <a:r>
              <a:rPr dirty="0">
                <a:latin typeface="Arial"/>
                <a:cs typeface="Arial"/>
              </a:rPr>
              <a:t>sequence</a:t>
            </a:r>
            <a:endParaRPr>
              <a:latin typeface="Arial"/>
              <a:cs typeface="Arial"/>
            </a:endParaRPr>
          </a:p>
        </p:txBody>
      </p:sp>
      <p:sp>
        <p:nvSpPr>
          <p:cNvPr id="87" name="Date Placeholder 86">
            <a:extLst>
              <a:ext uri="{FF2B5EF4-FFF2-40B4-BE49-F238E27FC236}">
                <a16:creationId xmlns:a16="http://schemas.microsoft.com/office/drawing/2014/main" id="{FDFEAD8E-6F1B-3E8F-18EC-AACB9CCE1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6FAE-A254-4AD6-AF95-4081CCC948AE}" type="datetime1">
              <a:rPr lang="en-US" smtClean="0"/>
              <a:t>3/17/2025</a:t>
            </a:fld>
            <a:endParaRPr lang="en-US"/>
          </a:p>
        </p:txBody>
      </p:sp>
      <p:sp>
        <p:nvSpPr>
          <p:cNvPr id="88" name="Footer Placeholder 87">
            <a:extLst>
              <a:ext uri="{FF2B5EF4-FFF2-40B4-BE49-F238E27FC236}">
                <a16:creationId xmlns:a16="http://schemas.microsoft.com/office/drawing/2014/main" id="{A5D2D98B-ABFE-8A69-86F6-6713F4EDA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90" name="Slide Number Placeholder 89">
            <a:extLst>
              <a:ext uri="{FF2B5EF4-FFF2-40B4-BE49-F238E27FC236}">
                <a16:creationId xmlns:a16="http://schemas.microsoft.com/office/drawing/2014/main" id="{A888718E-6582-DB08-E74A-2FD773376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2041330"/>
            <a:ext cx="9144000" cy="3959860"/>
            <a:chOff x="0" y="1184080"/>
            <a:chExt cx="9144000" cy="3959860"/>
          </a:xfrm>
        </p:grpSpPr>
        <p:sp>
          <p:nvSpPr>
            <p:cNvPr id="3" name="object 3"/>
            <p:cNvSpPr/>
            <p:nvPr/>
          </p:nvSpPr>
          <p:spPr>
            <a:xfrm>
              <a:off x="35427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427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27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27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3234" y="3374993"/>
              <a:ext cx="81979" cy="2219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234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234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234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34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1308" y="3374993"/>
              <a:ext cx="81982" cy="22197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4173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50449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50449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50449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50449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19409" y="3374993"/>
              <a:ext cx="81979" cy="2219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22150" y="2999968"/>
              <a:ext cx="209977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9852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9852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9852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9852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67486" y="3374993"/>
              <a:ext cx="81979" cy="2219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70227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46600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46600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46600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46600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15560" y="3374993"/>
              <a:ext cx="81979" cy="2219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18301" y="2999968"/>
              <a:ext cx="209977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94669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94669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94669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94669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663644" y="3374993"/>
              <a:ext cx="81974" cy="2219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66377" y="2999968"/>
              <a:ext cx="209967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42743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42743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42743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42743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11718" y="3374993"/>
              <a:ext cx="81974" cy="2219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814444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5427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5427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23254" y="2502944"/>
              <a:ext cx="81979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235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235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71328" y="2502944"/>
              <a:ext cx="81982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25045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25045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19429" y="2502944"/>
              <a:ext cx="81979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698529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698529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767506" y="2502944"/>
              <a:ext cx="81979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146605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146605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215580" y="2502944"/>
              <a:ext cx="81979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594669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594669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663644" y="2502944"/>
              <a:ext cx="81999" cy="22227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04274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04274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111743" y="2502944"/>
              <a:ext cx="81974" cy="22227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46099" y="4347341"/>
              <a:ext cx="2673985" cy="0"/>
            </a:xfrm>
            <a:custGeom>
              <a:avLst/>
              <a:gdLst/>
              <a:ahLst/>
              <a:cxnLst/>
              <a:rect l="l" t="t" r="r" b="b"/>
              <a:pathLst>
                <a:path w="2673985">
                  <a:moveTo>
                    <a:pt x="0" y="0"/>
                  </a:moveTo>
                  <a:lnTo>
                    <a:pt x="2673594" y="0"/>
                  </a:lnTo>
                </a:path>
              </a:pathLst>
            </a:custGeom>
            <a:ln w="3809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000643" y="4265366"/>
              <a:ext cx="210999" cy="16394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394093" y="4524015"/>
              <a:ext cx="2649855" cy="0"/>
            </a:xfrm>
            <a:custGeom>
              <a:avLst/>
              <a:gdLst/>
              <a:ahLst/>
              <a:cxnLst/>
              <a:rect l="l" t="t" r="r" b="b"/>
              <a:pathLst>
                <a:path w="2649854">
                  <a:moveTo>
                    <a:pt x="0" y="0"/>
                  </a:moveTo>
                  <a:lnTo>
                    <a:pt x="2649294" y="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202143" y="4442040"/>
              <a:ext cx="210999" cy="16394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466443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466443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466443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466443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535392" y="3374993"/>
              <a:ext cx="81999" cy="22197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914517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914517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914517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914517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983466" y="3374993"/>
              <a:ext cx="81999" cy="22197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686342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36261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36261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36261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36261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431591" y="3374993"/>
              <a:ext cx="81974" cy="22197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134316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810690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810690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810690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810690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879665" y="3374993"/>
              <a:ext cx="81974" cy="22197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582390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25876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25876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25876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25876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327739" y="3374993"/>
              <a:ext cx="81974" cy="22197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030465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70683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70683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70683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70683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775813" y="3374993"/>
              <a:ext cx="81974" cy="22197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478538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926613" y="2999968"/>
              <a:ext cx="209974" cy="8199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579292" y="1283264"/>
              <a:ext cx="240029" cy="570230"/>
            </a:xfrm>
            <a:custGeom>
              <a:avLst/>
              <a:gdLst/>
              <a:ahLst/>
              <a:cxnLst/>
              <a:rect l="l" t="t" r="r" b="b"/>
              <a:pathLst>
                <a:path w="240029" h="570230">
                  <a:moveTo>
                    <a:pt x="0" y="570218"/>
                  </a:moveTo>
                  <a:lnTo>
                    <a:pt x="23954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780292" y="1194035"/>
              <a:ext cx="81549" cy="11093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46644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46644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027391" y="1279657"/>
              <a:ext cx="55880" cy="574040"/>
            </a:xfrm>
            <a:custGeom>
              <a:avLst/>
              <a:gdLst/>
              <a:ahLst/>
              <a:cxnLst/>
              <a:rect l="l" t="t" r="r" b="b"/>
              <a:pathLst>
                <a:path w="55879" h="574039">
                  <a:moveTo>
                    <a:pt x="0" y="573826"/>
                  </a:moveTo>
                  <a:lnTo>
                    <a:pt x="55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041892" y="1184080"/>
              <a:ext cx="81674" cy="108122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914517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914517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493340" y="1318994"/>
              <a:ext cx="0" cy="534670"/>
            </a:xfrm>
            <a:custGeom>
              <a:avLst/>
              <a:gdLst/>
              <a:ahLst/>
              <a:cxnLst/>
              <a:rect l="l" t="t" r="r" b="b"/>
              <a:pathLst>
                <a:path h="534669">
                  <a:moveTo>
                    <a:pt x="0" y="0"/>
                  </a:moveTo>
                  <a:lnTo>
                    <a:pt x="0" y="534488"/>
                  </a:lnTo>
                </a:path>
              </a:pathLst>
            </a:custGeom>
            <a:ln w="5479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470291" y="1232745"/>
              <a:ext cx="81849" cy="107437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36261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36261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869465" y="1279679"/>
              <a:ext cx="54610" cy="574040"/>
            </a:xfrm>
            <a:custGeom>
              <a:avLst/>
              <a:gdLst/>
              <a:ahLst/>
              <a:cxnLst/>
              <a:rect l="l" t="t" r="r" b="b"/>
              <a:pathLst>
                <a:path w="54610" h="574039">
                  <a:moveTo>
                    <a:pt x="54074" y="57380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828615" y="1184085"/>
              <a:ext cx="81699" cy="10807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810690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810690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5135039" y="1307074"/>
              <a:ext cx="236854" cy="546735"/>
            </a:xfrm>
            <a:custGeom>
              <a:avLst/>
              <a:gdLst/>
              <a:ahLst/>
              <a:cxnLst/>
              <a:rect l="l" t="t" r="r" b="b"/>
              <a:pathLst>
                <a:path w="236854" h="546735">
                  <a:moveTo>
                    <a:pt x="236574" y="54640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5091164" y="1218215"/>
              <a:ext cx="82274" cy="110887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5400964" y="1293709"/>
              <a:ext cx="419100" cy="560070"/>
            </a:xfrm>
            <a:custGeom>
              <a:avLst/>
              <a:gdLst/>
              <a:ahLst/>
              <a:cxnLst/>
              <a:rect l="l" t="t" r="r" b="b"/>
              <a:pathLst>
                <a:path w="419100" h="560069">
                  <a:moveTo>
                    <a:pt x="418724" y="55977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5339664" y="1214960"/>
              <a:ext cx="96024" cy="10712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525876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25876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706838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706838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535417" y="2502944"/>
              <a:ext cx="81974" cy="222274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983492" y="2502944"/>
              <a:ext cx="81974" cy="222274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431591" y="2502944"/>
              <a:ext cx="81999" cy="222274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879665" y="2502944"/>
              <a:ext cx="81999" cy="222274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327739" y="2502944"/>
              <a:ext cx="81999" cy="222274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775813" y="2502944"/>
              <a:ext cx="81999" cy="222274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3262643" y="2999968"/>
              <a:ext cx="185374" cy="8199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3364343" y="4347341"/>
              <a:ext cx="2485390" cy="0"/>
            </a:xfrm>
            <a:custGeom>
              <a:avLst/>
              <a:gdLst/>
              <a:ahLst/>
              <a:cxnLst/>
              <a:rect l="l" t="t" r="r" b="b"/>
              <a:pathLst>
                <a:path w="2485390">
                  <a:moveTo>
                    <a:pt x="0" y="0"/>
                  </a:moveTo>
                  <a:lnTo>
                    <a:pt x="2484894" y="0"/>
                  </a:lnTo>
                </a:path>
              </a:pathLst>
            </a:custGeom>
            <a:ln w="3809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5830188" y="4265366"/>
              <a:ext cx="210999" cy="16394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369793" y="1700071"/>
              <a:ext cx="2635250" cy="2574290"/>
            </a:xfrm>
            <a:custGeom>
              <a:avLst/>
              <a:gdLst/>
              <a:ahLst/>
              <a:cxnLst/>
              <a:rect l="l" t="t" r="r" b="b"/>
              <a:pathLst>
                <a:path w="2635250" h="2574290">
                  <a:moveTo>
                    <a:pt x="0" y="0"/>
                  </a:moveTo>
                  <a:lnTo>
                    <a:pt x="2635194" y="0"/>
                  </a:lnTo>
                  <a:lnTo>
                    <a:pt x="2635194" y="2574294"/>
                  </a:lnTo>
                  <a:lnTo>
                    <a:pt x="0" y="2574294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B6B6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>
            <a:spLocks noGrp="1"/>
          </p:cNvSpPr>
          <p:nvPr>
            <p:ph type="title"/>
          </p:nvPr>
        </p:nvSpPr>
        <p:spPr>
          <a:xfrm>
            <a:off x="1906949" y="1133738"/>
            <a:ext cx="6570980" cy="4521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spc="-5" dirty="0">
                <a:latin typeface="Arial"/>
                <a:cs typeface="Arial"/>
              </a:rPr>
              <a:t>Truncated </a:t>
            </a:r>
            <a:r>
              <a:rPr sz="2800" spc="-10" dirty="0"/>
              <a:t>Backpropagation </a:t>
            </a:r>
            <a:r>
              <a:rPr sz="2800" spc="-5" dirty="0"/>
              <a:t>through</a:t>
            </a:r>
            <a:r>
              <a:rPr sz="2800" spc="-45" dirty="0"/>
              <a:t> </a:t>
            </a:r>
            <a:r>
              <a:rPr sz="2800" spc="-5" dirty="0"/>
              <a:t>time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1681926" y="5574843"/>
            <a:ext cx="870902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&amp; Justin Johnson &amp;</a:t>
            </a:r>
            <a:r>
              <a:rPr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Serena Yeung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 10 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-	May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4,</a:t>
            </a:r>
            <a:r>
              <a:rPr sz="3000" spc="-15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2017</a:t>
            </a:r>
            <a:endParaRPr sz="3000" baseline="-4166">
              <a:latin typeface="Arial"/>
              <a:cs typeface="Arial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1669224" y="5566897"/>
            <a:ext cx="45148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&amp; Justin Johnson &amp;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Serena</a:t>
            </a:r>
            <a:r>
              <a:rPr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Yeung</a:t>
            </a:r>
            <a:endParaRPr>
              <a:latin typeface="Arial"/>
              <a:cs typeface="Arial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5408417" y="1682925"/>
            <a:ext cx="1567180" cy="243015"/>
          </a:xfrm>
          <a:prstGeom prst="rect">
            <a:avLst/>
          </a:prstGeom>
          <a:solidFill>
            <a:srgbClr val="D8D1E8"/>
          </a:solidFill>
          <a:ln w="9524">
            <a:solidFill>
              <a:srgbClr val="666666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algn="ctr">
              <a:spcBef>
                <a:spcPts val="215"/>
              </a:spcBef>
            </a:pPr>
            <a:r>
              <a:rPr sz="1400" spc="-5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7964560" y="2433907"/>
            <a:ext cx="2400300" cy="1404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latin typeface="Arial"/>
                <a:cs typeface="Arial"/>
              </a:rPr>
              <a:t>Carry hidden </a:t>
            </a:r>
            <a:r>
              <a:rPr dirty="0">
                <a:latin typeface="Arial"/>
                <a:cs typeface="Arial"/>
              </a:rPr>
              <a:t>states  </a:t>
            </a:r>
            <a:r>
              <a:rPr spc="-5" dirty="0">
                <a:latin typeface="Arial"/>
                <a:cs typeface="Arial"/>
              </a:rPr>
              <a:t>forward in time forever,  but only</a:t>
            </a:r>
            <a:r>
              <a:rPr spc="-9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backpropagate  for </a:t>
            </a:r>
            <a:r>
              <a:rPr dirty="0">
                <a:latin typeface="Arial"/>
                <a:cs typeface="Arial"/>
              </a:rPr>
              <a:t>some smaller  </a:t>
            </a:r>
            <a:r>
              <a:rPr spc="-5" dirty="0">
                <a:latin typeface="Arial"/>
                <a:cs typeface="Arial"/>
              </a:rPr>
              <a:t>number of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steps</a:t>
            </a:r>
            <a:endParaRPr>
              <a:latin typeface="Arial"/>
              <a:cs typeface="Arial"/>
            </a:endParaRPr>
          </a:p>
        </p:txBody>
      </p:sp>
      <p:sp>
        <p:nvSpPr>
          <p:cNvPr id="143" name="Date Placeholder 142">
            <a:extLst>
              <a:ext uri="{FF2B5EF4-FFF2-40B4-BE49-F238E27FC236}">
                <a16:creationId xmlns:a16="http://schemas.microsoft.com/office/drawing/2014/main" id="{3FB917E6-33E1-671C-72A8-B61D8E3C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0AF9-3CC8-4BAA-891D-DB0D0F7CEFBF}" type="datetime1">
              <a:rPr lang="en-US" smtClean="0"/>
              <a:t>3/17/2025</a:t>
            </a:fld>
            <a:endParaRPr lang="en-US"/>
          </a:p>
        </p:txBody>
      </p:sp>
      <p:sp>
        <p:nvSpPr>
          <p:cNvPr id="144" name="Footer Placeholder 143">
            <a:extLst>
              <a:ext uri="{FF2B5EF4-FFF2-40B4-BE49-F238E27FC236}">
                <a16:creationId xmlns:a16="http://schemas.microsoft.com/office/drawing/2014/main" id="{7764F709-D27C-FAEA-2716-6FAC63B45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46" name="Slide Number Placeholder 145">
            <a:extLst>
              <a:ext uri="{FF2B5EF4-FFF2-40B4-BE49-F238E27FC236}">
                <a16:creationId xmlns:a16="http://schemas.microsoft.com/office/drawing/2014/main" id="{A2C99370-C3D9-4DB5-1BE9-12995E24E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2041330"/>
            <a:ext cx="9144000" cy="3959860"/>
            <a:chOff x="0" y="1184080"/>
            <a:chExt cx="9144000" cy="3959860"/>
          </a:xfrm>
        </p:grpSpPr>
        <p:sp>
          <p:nvSpPr>
            <p:cNvPr id="3" name="object 3"/>
            <p:cNvSpPr/>
            <p:nvPr/>
          </p:nvSpPr>
          <p:spPr>
            <a:xfrm>
              <a:off x="35427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427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27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27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3234" y="3374993"/>
              <a:ext cx="81979" cy="2219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234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234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234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34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1308" y="3374993"/>
              <a:ext cx="81982" cy="22197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4173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50449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50449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50449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50449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19409" y="3374993"/>
              <a:ext cx="81979" cy="2219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22150" y="2999968"/>
              <a:ext cx="209977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9852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9852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9852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9852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67486" y="3374993"/>
              <a:ext cx="81979" cy="2219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70227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46600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46600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46600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46600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15560" y="3374993"/>
              <a:ext cx="81979" cy="2219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18301" y="2999968"/>
              <a:ext cx="209977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94669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94669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94669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94669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663644" y="3374993"/>
              <a:ext cx="81974" cy="2219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66377" y="2999968"/>
              <a:ext cx="209967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42743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42743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42743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42743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11718" y="3374993"/>
              <a:ext cx="81974" cy="2219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814444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5427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5427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23254" y="2502944"/>
              <a:ext cx="81979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235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235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71328" y="2502944"/>
              <a:ext cx="81982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25045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25045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19429" y="2502944"/>
              <a:ext cx="81979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698529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698529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767506" y="2502944"/>
              <a:ext cx="81979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146605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146605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215580" y="2502944"/>
              <a:ext cx="81979" cy="2222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594669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594669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4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663644" y="2502944"/>
              <a:ext cx="81999" cy="22227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04274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04274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111743" y="2502944"/>
              <a:ext cx="81974" cy="22227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46099" y="4347341"/>
              <a:ext cx="2673985" cy="0"/>
            </a:xfrm>
            <a:custGeom>
              <a:avLst/>
              <a:gdLst/>
              <a:ahLst/>
              <a:cxnLst/>
              <a:rect l="l" t="t" r="r" b="b"/>
              <a:pathLst>
                <a:path w="2673985">
                  <a:moveTo>
                    <a:pt x="0" y="0"/>
                  </a:moveTo>
                  <a:lnTo>
                    <a:pt x="2673594" y="0"/>
                  </a:lnTo>
                </a:path>
              </a:pathLst>
            </a:custGeom>
            <a:ln w="3809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000643" y="4265366"/>
              <a:ext cx="210999" cy="16394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466443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466443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466443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466443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535392" y="3374993"/>
              <a:ext cx="81999" cy="22197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914517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914517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914517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914517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983466" y="3374993"/>
              <a:ext cx="81999" cy="22197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686342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36261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36261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36261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36261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431591" y="3374993"/>
              <a:ext cx="81974" cy="22197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134316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810690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810690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810690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810690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879665" y="3374993"/>
              <a:ext cx="81974" cy="22197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582390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25876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25876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25876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25876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327739" y="3374993"/>
              <a:ext cx="81974" cy="22197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030465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0683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70683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70683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70683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775813" y="3374993"/>
              <a:ext cx="81974" cy="22197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478538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926613" y="2999968"/>
              <a:ext cx="209974" cy="8199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46644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466443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535417" y="2502944"/>
              <a:ext cx="81974" cy="22227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914517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914517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983492" y="2502944"/>
              <a:ext cx="81974" cy="22227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36261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36261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431591" y="2502944"/>
              <a:ext cx="81999" cy="2222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810690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810690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879665" y="2502944"/>
              <a:ext cx="81999" cy="2222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25876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525876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5327739" y="2502944"/>
              <a:ext cx="81999" cy="2222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5706838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5706838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5775813" y="2502944"/>
              <a:ext cx="81999" cy="2222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262643" y="2999968"/>
              <a:ext cx="185374" cy="8199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364343" y="4347341"/>
              <a:ext cx="2339340" cy="0"/>
            </a:xfrm>
            <a:custGeom>
              <a:avLst/>
              <a:gdLst/>
              <a:ahLst/>
              <a:cxnLst/>
              <a:rect l="l" t="t" r="r" b="b"/>
              <a:pathLst>
                <a:path w="2339340">
                  <a:moveTo>
                    <a:pt x="0" y="0"/>
                  </a:moveTo>
                  <a:lnTo>
                    <a:pt x="2339095" y="0"/>
                  </a:lnTo>
                </a:path>
              </a:pathLst>
            </a:custGeom>
            <a:ln w="3809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5684388" y="4265366"/>
              <a:ext cx="210999" cy="16394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154912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154912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6154912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6154912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223887" y="3374993"/>
              <a:ext cx="81974" cy="22197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5926613" y="2999968"/>
              <a:ext cx="209974" cy="8199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246287" y="1283264"/>
              <a:ext cx="240029" cy="570230"/>
            </a:xfrm>
            <a:custGeom>
              <a:avLst/>
              <a:gdLst/>
              <a:ahLst/>
              <a:cxnLst/>
              <a:rect l="l" t="t" r="r" b="b"/>
              <a:pathLst>
                <a:path w="240029" h="570230">
                  <a:moveTo>
                    <a:pt x="0" y="570218"/>
                  </a:moveTo>
                  <a:lnTo>
                    <a:pt x="2395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447287" y="1194035"/>
              <a:ext cx="81549" cy="11093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154912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6154912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223887" y="2502944"/>
              <a:ext cx="81999" cy="2222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60298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602986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60298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6602986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6671936" y="3374993"/>
              <a:ext cx="81999" cy="22197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6374687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051061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051061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051061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051061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120035" y="3374993"/>
              <a:ext cx="81974" cy="22197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6822761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49913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499134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49913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499134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568109" y="3374993"/>
              <a:ext cx="81974" cy="22197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270835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94720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7947208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794720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947208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8016183" y="3374993"/>
              <a:ext cx="81974" cy="22197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7718909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8395282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8395282" y="3596967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8395282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8395282" y="2725219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8464257" y="3374993"/>
              <a:ext cx="81974" cy="22197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8166983" y="2999968"/>
              <a:ext cx="209974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6694386" y="1279657"/>
              <a:ext cx="55880" cy="574040"/>
            </a:xfrm>
            <a:custGeom>
              <a:avLst/>
              <a:gdLst/>
              <a:ahLst/>
              <a:cxnLst/>
              <a:rect l="l" t="t" r="r" b="b"/>
              <a:pathLst>
                <a:path w="55879" h="574039">
                  <a:moveTo>
                    <a:pt x="0" y="573826"/>
                  </a:moveTo>
                  <a:lnTo>
                    <a:pt x="55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6708886" y="1184080"/>
              <a:ext cx="81674" cy="10812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660298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6602986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160335" y="1318994"/>
              <a:ext cx="0" cy="534670"/>
            </a:xfrm>
            <a:custGeom>
              <a:avLst/>
              <a:gdLst/>
              <a:ahLst/>
              <a:cxnLst/>
              <a:rect l="l" t="t" r="r" b="b"/>
              <a:pathLst>
                <a:path h="534669">
                  <a:moveTo>
                    <a:pt x="0" y="0"/>
                  </a:moveTo>
                  <a:lnTo>
                    <a:pt x="0" y="534488"/>
                  </a:lnTo>
                </a:path>
              </a:pathLst>
            </a:custGeom>
            <a:ln w="5479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7137285" y="1232745"/>
              <a:ext cx="81824" cy="107437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051061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7051061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7536460" y="1279679"/>
              <a:ext cx="54610" cy="574040"/>
            </a:xfrm>
            <a:custGeom>
              <a:avLst/>
              <a:gdLst/>
              <a:ahLst/>
              <a:cxnLst/>
              <a:rect l="l" t="t" r="r" b="b"/>
              <a:pathLst>
                <a:path w="54609" h="574039">
                  <a:moveTo>
                    <a:pt x="54074" y="57380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7495609" y="1184085"/>
              <a:ext cx="81699" cy="10807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802034" y="1307074"/>
              <a:ext cx="236854" cy="546735"/>
            </a:xfrm>
            <a:custGeom>
              <a:avLst/>
              <a:gdLst/>
              <a:ahLst/>
              <a:cxnLst/>
              <a:rect l="l" t="t" r="r" b="b"/>
              <a:pathLst>
                <a:path w="236854" h="546735">
                  <a:moveTo>
                    <a:pt x="236574" y="54640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7758159" y="1218215"/>
              <a:ext cx="82274" cy="110887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8067958" y="1293709"/>
              <a:ext cx="419100" cy="560070"/>
            </a:xfrm>
            <a:custGeom>
              <a:avLst/>
              <a:gdLst/>
              <a:ahLst/>
              <a:cxnLst/>
              <a:rect l="l" t="t" r="r" b="b"/>
              <a:pathLst>
                <a:path w="419100" h="560069">
                  <a:moveTo>
                    <a:pt x="418724" y="55977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8006658" y="1214960"/>
              <a:ext cx="96024" cy="10712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749913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499134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7947208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7947208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8395282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219899" y="631498"/>
                  </a:moveTo>
                  <a:lnTo>
                    <a:pt x="0" y="631498"/>
                  </a:lnTo>
                  <a:lnTo>
                    <a:pt x="0" y="0"/>
                  </a:lnTo>
                  <a:lnTo>
                    <a:pt x="219899" y="0"/>
                  </a:lnTo>
                  <a:lnTo>
                    <a:pt x="219899" y="631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8395282" y="1853483"/>
              <a:ext cx="220345" cy="631825"/>
            </a:xfrm>
            <a:custGeom>
              <a:avLst/>
              <a:gdLst/>
              <a:ahLst/>
              <a:cxnLst/>
              <a:rect l="l" t="t" r="r" b="b"/>
              <a:pathLst>
                <a:path w="220345" h="631825">
                  <a:moveTo>
                    <a:pt x="0" y="0"/>
                  </a:moveTo>
                  <a:lnTo>
                    <a:pt x="219899" y="0"/>
                  </a:lnTo>
                  <a:lnTo>
                    <a:pt x="219899" y="631498"/>
                  </a:lnTo>
                  <a:lnTo>
                    <a:pt x="0" y="63149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6671961" y="2502944"/>
              <a:ext cx="81999" cy="2222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7120035" y="2502944"/>
              <a:ext cx="81999" cy="2222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7568109" y="2502944"/>
              <a:ext cx="81999" cy="2222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8016183" y="2502944"/>
              <a:ext cx="81999" cy="2222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8464257" y="2502944"/>
              <a:ext cx="81999" cy="2222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6061087" y="4524015"/>
              <a:ext cx="2649855" cy="0"/>
            </a:xfrm>
            <a:custGeom>
              <a:avLst/>
              <a:gdLst/>
              <a:ahLst/>
              <a:cxnLst/>
              <a:rect l="l" t="t" r="r" b="b"/>
              <a:pathLst>
                <a:path w="2649854">
                  <a:moveTo>
                    <a:pt x="0" y="0"/>
                  </a:moveTo>
                  <a:lnTo>
                    <a:pt x="2649294" y="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5869138" y="4442040"/>
              <a:ext cx="210999" cy="163949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6031337" y="4347341"/>
              <a:ext cx="2485390" cy="0"/>
            </a:xfrm>
            <a:custGeom>
              <a:avLst/>
              <a:gdLst/>
              <a:ahLst/>
              <a:cxnLst/>
              <a:rect l="l" t="t" r="r" b="b"/>
              <a:pathLst>
                <a:path w="2485390">
                  <a:moveTo>
                    <a:pt x="0" y="0"/>
                  </a:moveTo>
                  <a:lnTo>
                    <a:pt x="2484894" y="0"/>
                  </a:lnTo>
                </a:path>
              </a:pathLst>
            </a:custGeom>
            <a:ln w="3809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8497182" y="4265366"/>
              <a:ext cx="210999" cy="16394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6036787" y="1700071"/>
              <a:ext cx="2635250" cy="2574290"/>
            </a:xfrm>
            <a:custGeom>
              <a:avLst/>
              <a:gdLst/>
              <a:ahLst/>
              <a:cxnLst/>
              <a:rect l="l" t="t" r="r" b="b"/>
              <a:pathLst>
                <a:path w="2635250" h="2574290">
                  <a:moveTo>
                    <a:pt x="0" y="0"/>
                  </a:moveTo>
                  <a:lnTo>
                    <a:pt x="2635194" y="0"/>
                  </a:lnTo>
                  <a:lnTo>
                    <a:pt x="2635194" y="2574294"/>
                  </a:lnTo>
                  <a:lnTo>
                    <a:pt x="0" y="2574294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B6B6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5" name="object 195"/>
          <p:cNvSpPr txBox="1"/>
          <p:nvPr/>
        </p:nvSpPr>
        <p:spPr>
          <a:xfrm>
            <a:off x="1906949" y="1133738"/>
            <a:ext cx="65709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spc="-5" dirty="0">
                <a:latin typeface="Arial"/>
                <a:cs typeface="Arial"/>
              </a:rPr>
              <a:t>Truncated </a:t>
            </a:r>
            <a:r>
              <a:rPr sz="2800" spc="-10" dirty="0">
                <a:latin typeface="Arial"/>
                <a:cs typeface="Arial"/>
              </a:rPr>
              <a:t>Backpropagation </a:t>
            </a:r>
            <a:r>
              <a:rPr sz="2800" spc="-5" dirty="0">
                <a:latin typeface="Arial"/>
                <a:cs typeface="Arial"/>
              </a:rPr>
              <a:t>through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time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1681926" y="5574843"/>
            <a:ext cx="870902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&amp; Justin Johnson &amp;</a:t>
            </a:r>
            <a:r>
              <a:rPr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Serena Yeung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 10 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-	May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4,</a:t>
            </a:r>
            <a:r>
              <a:rPr sz="3000" spc="-15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2017</a:t>
            </a:r>
            <a:endParaRPr sz="3000" baseline="-4166">
              <a:latin typeface="Arial"/>
              <a:cs typeface="Arial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1669224" y="5566897"/>
            <a:ext cx="45148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&amp; Justin Johnson &amp;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Serena</a:t>
            </a:r>
            <a:r>
              <a:rPr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Yeung</a:t>
            </a:r>
            <a:endParaRPr>
              <a:latin typeface="Arial"/>
              <a:cs typeface="Arial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8075411" y="1682925"/>
            <a:ext cx="1567180" cy="243015"/>
          </a:xfrm>
          <a:prstGeom prst="rect">
            <a:avLst/>
          </a:prstGeom>
          <a:solidFill>
            <a:srgbClr val="D8D1E8"/>
          </a:solidFill>
          <a:ln w="9524">
            <a:solidFill>
              <a:srgbClr val="666666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algn="ctr">
              <a:spcBef>
                <a:spcPts val="215"/>
              </a:spcBef>
            </a:pPr>
            <a:r>
              <a:rPr sz="1400" spc="-5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8" name="Date Placeholder 197">
            <a:extLst>
              <a:ext uri="{FF2B5EF4-FFF2-40B4-BE49-F238E27FC236}">
                <a16:creationId xmlns:a16="http://schemas.microsoft.com/office/drawing/2014/main" id="{DEC57557-83A7-B774-AB15-05BE4CC7F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B1C86-4584-4A2D-879B-B760A0D1D32A}" type="datetime1">
              <a:rPr lang="en-US" smtClean="0"/>
              <a:t>3/17/2025</a:t>
            </a:fld>
            <a:endParaRPr lang="en-US"/>
          </a:p>
        </p:txBody>
      </p:sp>
      <p:sp>
        <p:nvSpPr>
          <p:cNvPr id="199" name="Footer Placeholder 198">
            <a:extLst>
              <a:ext uri="{FF2B5EF4-FFF2-40B4-BE49-F238E27FC236}">
                <a16:creationId xmlns:a16="http://schemas.microsoft.com/office/drawing/2014/main" id="{76BA7219-3DC6-A112-CC99-046B96DA7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</a:p>
        </p:txBody>
      </p:sp>
      <p:sp>
        <p:nvSpPr>
          <p:cNvPr id="201" name="Slide Number Placeholder 200">
            <a:extLst>
              <a:ext uri="{FF2B5EF4-FFF2-40B4-BE49-F238E27FC236}">
                <a16:creationId xmlns:a16="http://schemas.microsoft.com/office/drawing/2014/main" id="{37656414-9D9F-090B-BE1E-0EEE6610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3BE0C0-1E11-4C11-9F6F-0FE900F5B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Gated Recurrent Unit (GRU) </a:t>
            </a:r>
          </a:p>
          <a:p>
            <a:r>
              <a:rPr lang="en-US" sz="3200" dirty="0"/>
              <a:t>Long Short-Term Memory units (LSTM) </a:t>
            </a:r>
          </a:p>
          <a:p>
            <a:pPr fontAlgn="ctr"/>
            <a:r>
              <a:rPr lang="en-US" sz="3200" dirty="0"/>
              <a:t>Bidirectional (BRNN)</a:t>
            </a:r>
          </a:p>
          <a:p>
            <a:pPr fontAlgn="ctr"/>
            <a:r>
              <a:rPr lang="en-US" sz="3200" dirty="0"/>
              <a:t>Deep (DRNN)</a:t>
            </a:r>
          </a:p>
          <a:p>
            <a:pPr fontAlgn="ctr"/>
            <a:r>
              <a:rPr lang="en-US" sz="3200" dirty="0"/>
              <a:t>Attention model</a:t>
            </a:r>
          </a:p>
          <a:p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AA4BCB-38E7-40FC-9741-CC79ADE4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0D7E5-8475-4B23-9961-B2C9DDB2ECD2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964B0F-8F99-4BFA-A810-4530DCCF1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2A933-B160-4E81-A5DE-966A7C03F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6CFB31-6D7D-4BDB-8F95-399488A24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RNN</a:t>
            </a:r>
          </a:p>
        </p:txBody>
      </p:sp>
    </p:spTree>
    <p:extLst>
      <p:ext uri="{BB962C8B-B14F-4D97-AF65-F5344CB8AC3E}">
        <p14:creationId xmlns:p14="http://schemas.microsoft.com/office/powerpoint/2010/main" val="1807317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D656B3-9519-42E1-820A-F86D7C94C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Advantages</a:t>
            </a:r>
          </a:p>
          <a:p>
            <a:pPr lvl="1"/>
            <a:r>
              <a:rPr lang="en-US" dirty="0"/>
              <a:t>Possibility of </a:t>
            </a:r>
            <a:r>
              <a:rPr lang="en-US" dirty="0">
                <a:solidFill>
                  <a:srgbClr val="FF0000"/>
                </a:solidFill>
              </a:rPr>
              <a:t>processing input of any length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Model size </a:t>
            </a:r>
            <a:r>
              <a:rPr lang="en-US" dirty="0"/>
              <a:t>not increasing with size of input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Historical information </a:t>
            </a:r>
            <a:r>
              <a:rPr lang="en-US" dirty="0"/>
              <a:t>is used during processing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Weights are shared </a:t>
            </a:r>
            <a:r>
              <a:rPr lang="en-US" dirty="0"/>
              <a:t>across time</a:t>
            </a:r>
          </a:p>
          <a:p>
            <a:r>
              <a:rPr lang="en-US" b="1" dirty="0"/>
              <a:t>Disadvantages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Computationally expensive </a:t>
            </a:r>
            <a:r>
              <a:rPr lang="en-US" dirty="0"/>
              <a:t>(slow)</a:t>
            </a:r>
          </a:p>
          <a:p>
            <a:pPr lvl="1"/>
            <a:r>
              <a:rPr lang="en-US" dirty="0"/>
              <a:t>Difficulty of accessing information from a long time ago</a:t>
            </a:r>
          </a:p>
          <a:p>
            <a:pPr lvl="1"/>
            <a:r>
              <a:rPr lang="en-US" dirty="0"/>
              <a:t>May suffer from </a:t>
            </a:r>
            <a:r>
              <a:rPr lang="en-US" dirty="0">
                <a:solidFill>
                  <a:srgbClr val="00B0F0"/>
                </a:solidFill>
              </a:rPr>
              <a:t>vanishing/exploding gradient </a:t>
            </a:r>
            <a:r>
              <a:rPr lang="en-US" dirty="0"/>
              <a:t>problem</a:t>
            </a:r>
            <a:br>
              <a:rPr lang="en-US" dirty="0"/>
            </a:b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204D78-1953-4E86-A5F6-3540EB97A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32DA3-416D-421F-B757-C2219AF82FB5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DB94D-547C-40A1-B17D-A4052BE02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2A41F6-9557-4086-8DF8-0B75EAB3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9D094DB-9057-4BD4-9E69-23031EBC3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Notes</a:t>
            </a:r>
          </a:p>
        </p:txBody>
      </p:sp>
    </p:spTree>
    <p:extLst>
      <p:ext uri="{BB962C8B-B14F-4D97-AF65-F5344CB8AC3E}">
        <p14:creationId xmlns:p14="http://schemas.microsoft.com/office/powerpoint/2010/main" val="462390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6951" y="1133741"/>
            <a:ext cx="7661909" cy="4521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spc="-5" dirty="0"/>
              <a:t>Recurrent Neural Networks: </a:t>
            </a:r>
            <a:r>
              <a:rPr sz="2800" spc="-10" dirty="0"/>
              <a:t>Process</a:t>
            </a:r>
            <a:r>
              <a:rPr sz="2800" spc="-80" dirty="0"/>
              <a:t> </a:t>
            </a:r>
            <a:r>
              <a:rPr sz="2800" spc="-5" dirty="0"/>
              <a:t>Sequences</a:t>
            </a:r>
            <a:endParaRPr sz="2800"/>
          </a:p>
        </p:txBody>
      </p:sp>
      <p:sp>
        <p:nvSpPr>
          <p:cNvPr id="7" name="object 7"/>
          <p:cNvSpPr/>
          <p:nvPr/>
        </p:nvSpPr>
        <p:spPr>
          <a:xfrm>
            <a:off x="1724024" y="1759623"/>
            <a:ext cx="8684718" cy="2676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69224" y="5566897"/>
            <a:ext cx="45148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&amp; Justin Johnson &amp;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Serena</a:t>
            </a:r>
            <a:r>
              <a:rPr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Yeung</a:t>
            </a:r>
            <a:endParaRPr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06055" y="5570692"/>
            <a:ext cx="35877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z="2000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2310"/>
                </a:lnSpc>
              </a:pPr>
              <a:t>19</a:t>
            </a:fld>
            <a:endParaRPr sz="2000">
              <a:latin typeface="Arial"/>
              <a:cs typeface="Arial"/>
            </a:endParaRPr>
          </a:p>
        </p:txBody>
      </p:sp>
      <p:grpSp>
        <p:nvGrpSpPr>
          <p:cNvPr id="12" name="object 3">
            <a:extLst>
              <a:ext uri="{FF2B5EF4-FFF2-40B4-BE49-F238E27FC236}">
                <a16:creationId xmlns:a16="http://schemas.microsoft.com/office/drawing/2014/main" id="{2D8EF27C-A0C2-45E6-8FD2-2264A4F89906}"/>
              </a:ext>
            </a:extLst>
          </p:cNvPr>
          <p:cNvGrpSpPr/>
          <p:nvPr/>
        </p:nvGrpSpPr>
        <p:grpSpPr>
          <a:xfrm>
            <a:off x="2643835" y="4566742"/>
            <a:ext cx="614680" cy="469900"/>
            <a:chOff x="1119835" y="3709492"/>
            <a:chExt cx="614680" cy="469900"/>
          </a:xfrm>
        </p:grpSpPr>
        <p:sp>
          <p:nvSpPr>
            <p:cNvPr id="13" name="object 4">
              <a:extLst>
                <a:ext uri="{FF2B5EF4-FFF2-40B4-BE49-F238E27FC236}">
                  <a16:creationId xmlns:a16="http://schemas.microsoft.com/office/drawing/2014/main" id="{494372BE-98B7-43BA-A368-6A9415541A7C}"/>
                </a:ext>
              </a:extLst>
            </p:cNvPr>
            <p:cNvSpPr/>
            <p:nvPr/>
          </p:nvSpPr>
          <p:spPr>
            <a:xfrm>
              <a:off x="1198315" y="3771167"/>
              <a:ext cx="527050" cy="398145"/>
            </a:xfrm>
            <a:custGeom>
              <a:avLst/>
              <a:gdLst/>
              <a:ahLst/>
              <a:cxnLst/>
              <a:rect l="l" t="t" r="r" b="b"/>
              <a:pathLst>
                <a:path w="527050" h="398145">
                  <a:moveTo>
                    <a:pt x="526531" y="39814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6C8C1A78-1EF8-4C80-AE9A-54414F3E5B5B}"/>
                </a:ext>
              </a:extLst>
            </p:cNvPr>
            <p:cNvSpPr/>
            <p:nvPr/>
          </p:nvSpPr>
          <p:spPr>
            <a:xfrm>
              <a:off x="1119835" y="3709492"/>
              <a:ext cx="106984" cy="962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6">
            <a:extLst>
              <a:ext uri="{FF2B5EF4-FFF2-40B4-BE49-F238E27FC236}">
                <a16:creationId xmlns:a16="http://schemas.microsoft.com/office/drawing/2014/main" id="{9343DFEF-DAB4-478D-91C5-E574BA2C9368}"/>
              </a:ext>
            </a:extLst>
          </p:cNvPr>
          <p:cNvSpPr txBox="1"/>
          <p:nvPr/>
        </p:nvSpPr>
        <p:spPr>
          <a:xfrm>
            <a:off x="3321877" y="4856900"/>
            <a:ext cx="2625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latin typeface="Arial"/>
                <a:cs typeface="Arial"/>
              </a:rPr>
              <a:t>Vanilla Neural</a:t>
            </a:r>
            <a:r>
              <a:rPr b="1" spc="-9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Networks</a:t>
            </a:r>
            <a:endParaRPr>
              <a:latin typeface="Arial"/>
              <a:cs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04ECDF-C902-BD55-5BCB-A14E04953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1D8B-E3C7-4044-A6EC-ACAEA9DD08C8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A77C1-EDBB-CE17-C88C-06397912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70F870-200C-484F-0ACE-39D92F01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87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6951" y="1133741"/>
            <a:ext cx="7661909" cy="4521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spc="-5" dirty="0"/>
              <a:t>Recurrent Neural Networks: </a:t>
            </a:r>
            <a:r>
              <a:rPr sz="2800" spc="-10" dirty="0"/>
              <a:t>Process</a:t>
            </a:r>
            <a:r>
              <a:rPr sz="2800" spc="-80" dirty="0"/>
              <a:t> </a:t>
            </a:r>
            <a:r>
              <a:rPr sz="2800" spc="-5" dirty="0"/>
              <a:t>Sequences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566108" y="4601494"/>
            <a:ext cx="363220" cy="427355"/>
            <a:chOff x="2042108" y="3744242"/>
            <a:chExt cx="363220" cy="427355"/>
          </a:xfrm>
        </p:grpSpPr>
        <p:sp>
          <p:nvSpPr>
            <p:cNvPr id="4" name="object 4"/>
            <p:cNvSpPr/>
            <p:nvPr/>
          </p:nvSpPr>
          <p:spPr>
            <a:xfrm>
              <a:off x="2107318" y="3819892"/>
              <a:ext cx="288290" cy="342265"/>
            </a:xfrm>
            <a:custGeom>
              <a:avLst/>
              <a:gdLst/>
              <a:ahLst/>
              <a:cxnLst/>
              <a:rect l="l" t="t" r="r" b="b"/>
              <a:pathLst>
                <a:path w="288289" h="342264">
                  <a:moveTo>
                    <a:pt x="287876" y="34187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42108" y="3744242"/>
              <a:ext cx="98804" cy="10544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992226" y="4721323"/>
            <a:ext cx="290258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e.g. </a:t>
            </a:r>
            <a:r>
              <a:rPr b="1" spc="-5" dirty="0">
                <a:latin typeface="Arial"/>
                <a:cs typeface="Arial"/>
              </a:rPr>
              <a:t>Image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Captioning</a:t>
            </a:r>
            <a:endParaRPr>
              <a:latin typeface="Arial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spc="-5" dirty="0">
                <a:latin typeface="Arial"/>
                <a:cs typeface="Arial"/>
              </a:rPr>
              <a:t>image </a:t>
            </a:r>
            <a:r>
              <a:rPr dirty="0">
                <a:latin typeface="Arial"/>
                <a:cs typeface="Arial"/>
              </a:rPr>
              <a:t>-&gt; sequence </a:t>
            </a:r>
            <a:r>
              <a:rPr spc="-5" dirty="0">
                <a:latin typeface="Arial"/>
                <a:cs typeface="Arial"/>
              </a:rPr>
              <a:t>of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words</a:t>
            </a:r>
            <a:endParaRPr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24024" y="1759623"/>
            <a:ext cx="8684718" cy="2676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69224" y="5566897"/>
            <a:ext cx="45148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&amp; Justin Johnson &amp;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Serena</a:t>
            </a:r>
            <a:r>
              <a:rPr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Yeung</a:t>
            </a:r>
            <a:endParaRPr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06055" y="5570692"/>
            <a:ext cx="35877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z="2000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2310"/>
                </a:lnSpc>
              </a:pPr>
              <a:t>20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963D7A3-23B4-FC4E-F734-6F59CF05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ACDF4-A9CE-4CD9-AA93-B6331E8E0E90}" type="datetime1">
              <a:rPr lang="en-US" smtClean="0"/>
              <a:t>3/17/2025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14D8950-6630-6ED9-BD76-D6614A85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52E976F-2290-6BC5-E823-108EB92E5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24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24024" y="1759623"/>
            <a:ext cx="8684718" cy="2676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06951" y="1133741"/>
            <a:ext cx="7661909" cy="4521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spc="-5" dirty="0"/>
              <a:t>Recurrent Neural Networks: </a:t>
            </a:r>
            <a:r>
              <a:rPr sz="2800" spc="-10" dirty="0"/>
              <a:t>Process</a:t>
            </a:r>
            <a:r>
              <a:rPr sz="2800" spc="-80" dirty="0"/>
              <a:t> </a:t>
            </a:r>
            <a:r>
              <a:rPr sz="2800" spc="-5" dirty="0"/>
              <a:t>Sequences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5245792" y="4548769"/>
            <a:ext cx="363220" cy="427355"/>
            <a:chOff x="3721792" y="3691517"/>
            <a:chExt cx="363220" cy="427355"/>
          </a:xfrm>
        </p:grpSpPr>
        <p:sp>
          <p:nvSpPr>
            <p:cNvPr id="5" name="object 5"/>
            <p:cNvSpPr/>
            <p:nvPr/>
          </p:nvSpPr>
          <p:spPr>
            <a:xfrm>
              <a:off x="3786992" y="3767167"/>
              <a:ext cx="288290" cy="342265"/>
            </a:xfrm>
            <a:custGeom>
              <a:avLst/>
              <a:gdLst/>
              <a:ahLst/>
              <a:cxnLst/>
              <a:rect l="l" t="t" r="r" b="b"/>
              <a:pathLst>
                <a:path w="288289" h="342264">
                  <a:moveTo>
                    <a:pt x="287874" y="34187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21792" y="3691517"/>
              <a:ext cx="98799" cy="10544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99896" y="4706322"/>
            <a:ext cx="327088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e.g. </a:t>
            </a:r>
            <a:r>
              <a:rPr b="1" spc="-5" dirty="0">
                <a:latin typeface="Arial"/>
                <a:cs typeface="Arial"/>
              </a:rPr>
              <a:t>Sentiment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Classification</a:t>
            </a:r>
            <a:endParaRPr>
              <a:latin typeface="Arial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dirty="0">
                <a:latin typeface="Arial"/>
                <a:cs typeface="Arial"/>
              </a:rPr>
              <a:t>sequence </a:t>
            </a:r>
            <a:r>
              <a:rPr spc="-5" dirty="0">
                <a:latin typeface="Arial"/>
                <a:cs typeface="Arial"/>
              </a:rPr>
              <a:t>of words </a:t>
            </a:r>
            <a:r>
              <a:rPr dirty="0">
                <a:latin typeface="Arial"/>
                <a:cs typeface="Arial"/>
              </a:rPr>
              <a:t>-&gt;</a:t>
            </a:r>
            <a:r>
              <a:rPr spc="-9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sentiment</a:t>
            </a:r>
            <a:endParaRPr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9224" y="5566897"/>
            <a:ext cx="45148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&amp; Justin Johnson &amp;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Serena</a:t>
            </a:r>
            <a:r>
              <a:rPr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Yeung</a:t>
            </a:r>
            <a:endParaRPr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06055" y="5570692"/>
            <a:ext cx="35877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z="2000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2310"/>
                </a:lnSpc>
              </a:pPr>
              <a:t>21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B9FD6F-5F0C-010F-6D36-9243FDF0E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33520-14E3-44BC-B48C-36EAD8D5C779}" type="datetime1">
              <a:rPr lang="en-US" smtClean="0"/>
              <a:t>3/17/2025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C6C1195-3196-74D5-C623-C92CD385F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5C600A-03D3-5898-D33D-094607022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91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24024" y="1759623"/>
            <a:ext cx="8684718" cy="2676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06951" y="1133741"/>
            <a:ext cx="7661909" cy="4521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spc="-5" dirty="0"/>
              <a:t>Recurrent Neural Networks: </a:t>
            </a:r>
            <a:r>
              <a:rPr sz="2800" spc="-10" dirty="0"/>
              <a:t>Process</a:t>
            </a:r>
            <a:r>
              <a:rPr sz="2800" spc="-80" dirty="0"/>
              <a:t> </a:t>
            </a:r>
            <a:r>
              <a:rPr sz="2800" spc="-5" dirty="0"/>
              <a:t>Sequences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6948939" y="4584244"/>
            <a:ext cx="151130" cy="429259"/>
            <a:chOff x="5424939" y="3726992"/>
            <a:chExt cx="151130" cy="429259"/>
          </a:xfrm>
        </p:grpSpPr>
        <p:sp>
          <p:nvSpPr>
            <p:cNvPr id="5" name="object 5"/>
            <p:cNvSpPr/>
            <p:nvPr/>
          </p:nvSpPr>
          <p:spPr>
            <a:xfrm>
              <a:off x="5464538" y="3819067"/>
              <a:ext cx="102235" cy="327660"/>
            </a:xfrm>
            <a:custGeom>
              <a:avLst/>
              <a:gdLst/>
              <a:ahLst/>
              <a:cxnLst/>
              <a:rect l="l" t="t" r="r" b="b"/>
              <a:pathLst>
                <a:path w="102235" h="327660">
                  <a:moveTo>
                    <a:pt x="101699" y="32764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24939" y="3726992"/>
              <a:ext cx="79174" cy="11094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261142" y="4706322"/>
            <a:ext cx="295211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e.g. </a:t>
            </a:r>
            <a:r>
              <a:rPr b="1" dirty="0">
                <a:latin typeface="Arial"/>
                <a:cs typeface="Arial"/>
              </a:rPr>
              <a:t>Machine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Translation</a:t>
            </a:r>
            <a:endParaRPr>
              <a:latin typeface="Arial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dirty="0">
                <a:latin typeface="Arial"/>
                <a:cs typeface="Arial"/>
              </a:rPr>
              <a:t>seq </a:t>
            </a:r>
            <a:r>
              <a:rPr spc="-5" dirty="0">
                <a:latin typeface="Arial"/>
                <a:cs typeface="Arial"/>
              </a:rPr>
              <a:t>of words </a:t>
            </a:r>
            <a:r>
              <a:rPr dirty="0">
                <a:latin typeface="Arial"/>
                <a:cs typeface="Arial"/>
              </a:rPr>
              <a:t>-&gt; seq </a:t>
            </a:r>
            <a:r>
              <a:rPr spc="-5" dirty="0">
                <a:latin typeface="Arial"/>
                <a:cs typeface="Arial"/>
              </a:rPr>
              <a:t>of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words</a:t>
            </a:r>
            <a:endParaRPr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9224" y="5566897"/>
            <a:ext cx="45148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&amp; Justin Johnson &amp;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Serena</a:t>
            </a:r>
            <a:r>
              <a:rPr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Yeung</a:t>
            </a:r>
            <a:endParaRPr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06055" y="5570692"/>
            <a:ext cx="35877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z="2000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2310"/>
                </a:lnSpc>
              </a:pPr>
              <a:t>22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FEFB423-ADCC-CF0F-875E-AD212F5F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E2636-8D72-450B-BA4D-BFC37385563D}" type="datetime1">
              <a:rPr lang="en-US" smtClean="0"/>
              <a:t>3/17/2025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6B2C979-7684-A099-8F7D-E75415C2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2B0559B-D000-CBCE-1255-2C73B5A2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22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24024" y="1759623"/>
            <a:ext cx="8684718" cy="2676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06951" y="1133741"/>
            <a:ext cx="7661909" cy="4521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spc="-5" dirty="0"/>
              <a:t>Recurrent Neural Networks: </a:t>
            </a:r>
            <a:r>
              <a:rPr sz="2800" spc="-10" dirty="0"/>
              <a:t>Process</a:t>
            </a:r>
            <a:r>
              <a:rPr sz="2800" spc="-80" dirty="0"/>
              <a:t> </a:t>
            </a:r>
            <a:r>
              <a:rPr sz="2800" spc="-5" dirty="0"/>
              <a:t>Sequences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9490984" y="4536517"/>
            <a:ext cx="269240" cy="447040"/>
            <a:chOff x="7966984" y="3679267"/>
            <a:chExt cx="269240" cy="447040"/>
          </a:xfrm>
        </p:grpSpPr>
        <p:sp>
          <p:nvSpPr>
            <p:cNvPr id="5" name="object 5"/>
            <p:cNvSpPr/>
            <p:nvPr/>
          </p:nvSpPr>
          <p:spPr>
            <a:xfrm>
              <a:off x="7976509" y="3763467"/>
              <a:ext cx="206375" cy="353695"/>
            </a:xfrm>
            <a:custGeom>
              <a:avLst/>
              <a:gdLst/>
              <a:ahLst/>
              <a:cxnLst/>
              <a:rect l="l" t="t" r="r" b="b"/>
              <a:pathLst>
                <a:path w="206375" h="353695">
                  <a:moveTo>
                    <a:pt x="0" y="353074"/>
                  </a:moveTo>
                  <a:lnTo>
                    <a:pt x="20607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45883" y="3679267"/>
              <a:ext cx="89799" cy="10957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958113" y="4949969"/>
            <a:ext cx="4199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e.g. </a:t>
            </a:r>
            <a:r>
              <a:rPr b="1" spc="-5" dirty="0">
                <a:latin typeface="Arial"/>
                <a:cs typeface="Arial"/>
              </a:rPr>
              <a:t>Video classification on </a:t>
            </a:r>
            <a:r>
              <a:rPr b="1" dirty="0">
                <a:latin typeface="Arial"/>
                <a:cs typeface="Arial"/>
              </a:rPr>
              <a:t>frame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level</a:t>
            </a:r>
            <a:endParaRPr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9224" y="5566897"/>
            <a:ext cx="45148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&amp; Justin Johnson &amp;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Serena</a:t>
            </a:r>
            <a:r>
              <a:rPr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Yeung</a:t>
            </a:r>
            <a:endParaRPr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06055" y="5570692"/>
            <a:ext cx="35877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z="2000" dirty="0">
                <a:solidFill>
                  <a:srgbClr val="FFFFFF"/>
                </a:solidFill>
                <a:latin typeface="Arial"/>
                <a:cs typeface="Arial"/>
              </a:rPr>
              <a:pPr marL="38100">
                <a:lnSpc>
                  <a:spcPts val="2310"/>
                </a:lnSpc>
              </a:pPr>
              <a:t>23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6C7FBF1-8C2B-DCC1-8AEC-35E1501BD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35E2-32B5-4444-9C67-3D82F4689420}" type="datetime1">
              <a:rPr lang="en-US" smtClean="0"/>
              <a:t>3/17/2025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73AFA85-EF89-5305-A301-BFED4D43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3655281-3FB8-AC48-BB8F-FD1559B7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37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4D11BE-F118-0AF5-EBC9-E694C108C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0820-1C47-402B-A040-838C211C2040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C12B7-2D9C-7628-138F-F2EFB24E8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754FAD-2969-6C1F-2BE7-5EFFBFF8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A8A3706-408F-5775-BC66-21CF85456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09900"/>
            <a:ext cx="10972800" cy="838200"/>
          </a:xfrm>
        </p:spPr>
        <p:txBody>
          <a:bodyPr/>
          <a:lstStyle/>
          <a:p>
            <a:r>
              <a:rPr lang="en-US" dirty="0"/>
              <a:t>Long</a:t>
            </a:r>
            <a:r>
              <a:rPr lang="en-US" spc="-62" dirty="0"/>
              <a:t> </a:t>
            </a:r>
            <a:r>
              <a:rPr lang="en-US" dirty="0"/>
              <a:t>Short</a:t>
            </a:r>
            <a:r>
              <a:rPr lang="en-US" spc="-40" dirty="0"/>
              <a:t> </a:t>
            </a:r>
            <a:r>
              <a:rPr lang="en-US" spc="-49" dirty="0"/>
              <a:t>Term</a:t>
            </a:r>
            <a:r>
              <a:rPr lang="en-US" spc="-66" dirty="0"/>
              <a:t> </a:t>
            </a:r>
            <a:r>
              <a:rPr lang="en-US" dirty="0"/>
              <a:t>Memory</a:t>
            </a:r>
            <a:r>
              <a:rPr lang="en-US" spc="-75" dirty="0"/>
              <a:t> </a:t>
            </a:r>
            <a:r>
              <a:rPr lang="en-US" spc="-18" dirty="0"/>
              <a:t>Networks</a:t>
            </a:r>
            <a:r>
              <a:rPr lang="en-US" spc="-75" dirty="0"/>
              <a:t> </a:t>
            </a:r>
            <a:r>
              <a:rPr lang="en-US" dirty="0"/>
              <a:t>-</a:t>
            </a:r>
            <a:r>
              <a:rPr lang="en-US" spc="-49" dirty="0"/>
              <a:t> </a:t>
            </a:r>
            <a:r>
              <a:rPr lang="en-US" spc="-9" dirty="0"/>
              <a:t>LSTMs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002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Long</a:t>
            </a:r>
            <a:r>
              <a:rPr spc="-62" dirty="0"/>
              <a:t> </a:t>
            </a:r>
            <a:r>
              <a:rPr dirty="0"/>
              <a:t>Short</a:t>
            </a:r>
            <a:r>
              <a:rPr spc="-40" dirty="0"/>
              <a:t> </a:t>
            </a:r>
            <a:r>
              <a:rPr spc="-49" dirty="0"/>
              <a:t>Term</a:t>
            </a:r>
            <a:r>
              <a:rPr spc="-66" dirty="0"/>
              <a:t> </a:t>
            </a:r>
            <a:r>
              <a:rPr dirty="0"/>
              <a:t>Memory</a:t>
            </a:r>
            <a:r>
              <a:rPr spc="-75" dirty="0"/>
              <a:t> </a:t>
            </a:r>
            <a:r>
              <a:rPr spc="-18" dirty="0"/>
              <a:t>Networks</a:t>
            </a:r>
            <a:r>
              <a:rPr spc="-75" dirty="0"/>
              <a:t> </a:t>
            </a:r>
            <a:r>
              <a:rPr dirty="0"/>
              <a:t>-</a:t>
            </a:r>
            <a:r>
              <a:rPr spc="-49" dirty="0"/>
              <a:t> </a:t>
            </a:r>
            <a:r>
              <a:rPr spc="-9" dirty="0"/>
              <a:t>LSTMs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3500" y="1701970"/>
            <a:ext cx="9525000" cy="2258846"/>
          </a:xfrm>
          <a:prstGeom prst="rect">
            <a:avLst/>
          </a:prstGeom>
        </p:spPr>
        <p:txBody>
          <a:bodyPr vert="horz" wrap="square" lIns="0" tIns="46504" rIns="0" bIns="0" rtlCol="0">
            <a:spAutoFit/>
          </a:bodyPr>
          <a:lstStyle/>
          <a:p>
            <a:pPr marL="176502" marR="4483" indent="-165856">
              <a:spcBef>
                <a:spcPts val="366"/>
              </a:spcBef>
              <a:buFont typeface="Arial MT"/>
              <a:buChar char="•"/>
              <a:tabLst>
                <a:tab pos="177623" algn="l"/>
              </a:tabLst>
            </a:pPr>
            <a:r>
              <a:rPr sz="2030" dirty="0">
                <a:latin typeface="Calibri"/>
                <a:cs typeface="Calibri"/>
              </a:rPr>
              <a:t>Long</a:t>
            </a:r>
            <a:r>
              <a:rPr sz="2030" spc="-26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Short</a:t>
            </a:r>
            <a:r>
              <a:rPr sz="2030" spc="-35" dirty="0">
                <a:latin typeface="Calibri"/>
                <a:cs typeface="Calibri"/>
              </a:rPr>
              <a:t> Term</a:t>
            </a:r>
            <a:r>
              <a:rPr sz="2030" spc="-31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Memory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networks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–</a:t>
            </a:r>
            <a:r>
              <a:rPr sz="2030" spc="-18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usually</a:t>
            </a:r>
            <a:r>
              <a:rPr sz="2030" spc="-9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just</a:t>
            </a:r>
            <a:r>
              <a:rPr sz="2030" spc="-13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called</a:t>
            </a:r>
            <a:r>
              <a:rPr sz="2030" spc="-31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“LSTMs”</a:t>
            </a:r>
            <a:r>
              <a:rPr sz="2030" spc="-26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–</a:t>
            </a:r>
            <a:r>
              <a:rPr sz="2030" spc="-18" dirty="0">
                <a:latin typeface="Calibri"/>
                <a:cs typeface="Calibri"/>
              </a:rPr>
              <a:t> </a:t>
            </a:r>
            <a:r>
              <a:rPr sz="2030" spc="-22" dirty="0">
                <a:solidFill>
                  <a:srgbClr val="0099CC"/>
                </a:solidFill>
                <a:latin typeface="Calibri"/>
                <a:cs typeface="Calibri"/>
              </a:rPr>
              <a:t>are </a:t>
            </a:r>
            <a:r>
              <a:rPr sz="2030" dirty="0">
                <a:solidFill>
                  <a:srgbClr val="0099CC"/>
                </a:solidFill>
                <a:latin typeface="Calibri"/>
                <a:cs typeface="Calibri"/>
              </a:rPr>
              <a:t>a</a:t>
            </a:r>
            <a:r>
              <a:rPr sz="2030" spc="-9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0099CC"/>
                </a:solidFill>
                <a:latin typeface="Calibri"/>
                <a:cs typeface="Calibri"/>
              </a:rPr>
              <a:t>special</a:t>
            </a:r>
            <a:r>
              <a:rPr sz="2030" spc="-18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0099CC"/>
                </a:solidFill>
                <a:latin typeface="Calibri"/>
                <a:cs typeface="Calibri"/>
              </a:rPr>
              <a:t>kind</a:t>
            </a:r>
            <a:r>
              <a:rPr sz="2030" spc="-9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0099CC"/>
                </a:solidFill>
                <a:latin typeface="Calibri"/>
                <a:cs typeface="Calibri"/>
              </a:rPr>
              <a:t>of</a:t>
            </a:r>
            <a:r>
              <a:rPr sz="2030" spc="-13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0099CC"/>
                </a:solidFill>
                <a:latin typeface="Calibri"/>
                <a:cs typeface="Calibri"/>
              </a:rPr>
              <a:t>RNN</a:t>
            </a:r>
            <a:r>
              <a:rPr sz="2030" dirty="0">
                <a:latin typeface="Calibri"/>
                <a:cs typeface="Calibri"/>
              </a:rPr>
              <a:t>,</a:t>
            </a:r>
            <a:r>
              <a:rPr sz="2030" spc="-13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capable</a:t>
            </a:r>
            <a:r>
              <a:rPr sz="2030" spc="-4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of</a:t>
            </a:r>
            <a:r>
              <a:rPr sz="2030" spc="-13" dirty="0"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FF0000"/>
                </a:solidFill>
                <a:latin typeface="Calibri"/>
                <a:cs typeface="Calibri"/>
              </a:rPr>
              <a:t>learning</a:t>
            </a:r>
            <a:r>
              <a:rPr sz="2030" spc="-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30" spc="-9" dirty="0">
                <a:solidFill>
                  <a:srgbClr val="FF0000"/>
                </a:solidFill>
                <a:latin typeface="Calibri"/>
                <a:cs typeface="Calibri"/>
              </a:rPr>
              <a:t>long-</a:t>
            </a:r>
            <a:r>
              <a:rPr sz="2030" dirty="0">
                <a:solidFill>
                  <a:srgbClr val="FF0000"/>
                </a:solidFill>
                <a:latin typeface="Calibri"/>
                <a:cs typeface="Calibri"/>
              </a:rPr>
              <a:t>term</a:t>
            </a:r>
            <a:r>
              <a:rPr sz="2030" spc="-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30" spc="-9" dirty="0">
                <a:solidFill>
                  <a:srgbClr val="FF0000"/>
                </a:solidFill>
                <a:latin typeface="Calibri"/>
                <a:cs typeface="Calibri"/>
              </a:rPr>
              <a:t>dependencies</a:t>
            </a:r>
            <a:r>
              <a:rPr sz="2030" spc="-9" dirty="0">
                <a:latin typeface="Calibri"/>
                <a:cs typeface="Calibri"/>
              </a:rPr>
              <a:t>.</a:t>
            </a:r>
            <a:endParaRPr lang="en-US" sz="2030" spc="-9" dirty="0">
              <a:latin typeface="Calibri"/>
              <a:cs typeface="Calibri"/>
            </a:endParaRPr>
          </a:p>
          <a:p>
            <a:pPr marL="633702" marR="4483" lvl="1" indent="-165856">
              <a:spcBef>
                <a:spcPts val="366"/>
              </a:spcBef>
              <a:buFont typeface="Arial MT"/>
              <a:buChar char="•"/>
              <a:tabLst>
                <a:tab pos="177623" algn="l"/>
              </a:tabLst>
            </a:pPr>
            <a:r>
              <a:rPr lang="en-US" sz="2400" dirty="0"/>
              <a:t>Remembering information for long periods of time</a:t>
            </a:r>
          </a:p>
          <a:p>
            <a:pPr marL="176502" marR="4483" indent="-165856">
              <a:spcBef>
                <a:spcPts val="366"/>
              </a:spcBef>
              <a:buFont typeface="Arial MT"/>
              <a:buChar char="•"/>
              <a:tabLst>
                <a:tab pos="177623" algn="l"/>
              </a:tabLst>
            </a:pPr>
            <a:r>
              <a:rPr lang="en-US" sz="2400" dirty="0"/>
              <a:t>All recurrent neural networks have the form of a chain of repeating modules of neural network.</a:t>
            </a:r>
            <a:endParaRPr sz="2030" dirty="0">
              <a:latin typeface="Calibri"/>
              <a:cs typeface="Calibri"/>
            </a:endParaRPr>
          </a:p>
          <a:p>
            <a:pPr marL="177062" indent="-165856">
              <a:spcBef>
                <a:spcPts val="459"/>
              </a:spcBef>
              <a:buFont typeface="Arial MT"/>
              <a:buChar char="•"/>
              <a:tabLst>
                <a:tab pos="177062" algn="l"/>
              </a:tabLst>
            </a:pPr>
            <a:r>
              <a:rPr lang="en-US" sz="2030" dirty="0">
                <a:latin typeface="Calibri"/>
                <a:cs typeface="Calibri"/>
              </a:rPr>
              <a:t>They work tremendously well on a </a:t>
            </a:r>
            <a:r>
              <a:rPr lang="en-US" sz="2030" dirty="0">
                <a:solidFill>
                  <a:srgbClr val="FF0000"/>
                </a:solidFill>
                <a:latin typeface="Calibri"/>
                <a:cs typeface="Calibri"/>
              </a:rPr>
              <a:t>large variety of problems</a:t>
            </a:r>
            <a:r>
              <a:rPr lang="en-US" sz="2030" dirty="0">
                <a:latin typeface="Calibri"/>
                <a:cs typeface="Calibri"/>
              </a:rPr>
              <a:t>, and are now widely used</a:t>
            </a:r>
            <a:endParaRPr sz="203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62730" y="4251316"/>
            <a:ext cx="3783339" cy="1674427"/>
            <a:chOff x="2087879" y="3870959"/>
            <a:chExt cx="5797295" cy="21701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7391" y="3870959"/>
              <a:ext cx="280416" cy="4876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8488" y="3870959"/>
              <a:ext cx="283463" cy="4876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45407" y="4162043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9696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5577839" y="4162043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4646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3639311" y="4360163"/>
              <a:ext cx="1950720" cy="70485"/>
            </a:xfrm>
            <a:custGeom>
              <a:avLst/>
              <a:gdLst/>
              <a:ahLst/>
              <a:cxnLst/>
              <a:rect l="l" t="t" r="r" b="b"/>
              <a:pathLst>
                <a:path w="1950720" h="70485">
                  <a:moveTo>
                    <a:pt x="0" y="0"/>
                  </a:moveTo>
                  <a:lnTo>
                    <a:pt x="21335" y="0"/>
                  </a:lnTo>
                </a:path>
                <a:path w="1950720" h="70485">
                  <a:moveTo>
                    <a:pt x="1929383" y="0"/>
                  </a:moveTo>
                  <a:lnTo>
                    <a:pt x="1950719" y="0"/>
                  </a:lnTo>
                </a:path>
                <a:path w="1950720" h="70485">
                  <a:moveTo>
                    <a:pt x="0" y="3048"/>
                  </a:moveTo>
                  <a:lnTo>
                    <a:pt x="21335" y="3048"/>
                  </a:lnTo>
                </a:path>
                <a:path w="1950720" h="70485">
                  <a:moveTo>
                    <a:pt x="1929383" y="3048"/>
                  </a:moveTo>
                  <a:lnTo>
                    <a:pt x="1950719" y="3048"/>
                  </a:lnTo>
                </a:path>
                <a:path w="1950720" h="70485">
                  <a:moveTo>
                    <a:pt x="0" y="6095"/>
                  </a:moveTo>
                  <a:lnTo>
                    <a:pt x="21335" y="6095"/>
                  </a:lnTo>
                </a:path>
                <a:path w="1950720" h="70485">
                  <a:moveTo>
                    <a:pt x="1929383" y="6095"/>
                  </a:moveTo>
                  <a:lnTo>
                    <a:pt x="1950719" y="6095"/>
                  </a:lnTo>
                </a:path>
                <a:path w="1950720" h="70485">
                  <a:moveTo>
                    <a:pt x="0" y="9143"/>
                  </a:moveTo>
                  <a:lnTo>
                    <a:pt x="21335" y="9143"/>
                  </a:lnTo>
                </a:path>
                <a:path w="1950720" h="70485">
                  <a:moveTo>
                    <a:pt x="1929383" y="9143"/>
                  </a:moveTo>
                  <a:lnTo>
                    <a:pt x="1950719" y="9143"/>
                  </a:lnTo>
                </a:path>
                <a:path w="1950720" h="70485">
                  <a:moveTo>
                    <a:pt x="0" y="12191"/>
                  </a:moveTo>
                  <a:lnTo>
                    <a:pt x="21335" y="12191"/>
                  </a:lnTo>
                </a:path>
                <a:path w="1950720" h="70485">
                  <a:moveTo>
                    <a:pt x="1929383" y="12191"/>
                  </a:moveTo>
                  <a:lnTo>
                    <a:pt x="1950719" y="12191"/>
                  </a:lnTo>
                </a:path>
                <a:path w="1950720" h="70485">
                  <a:moveTo>
                    <a:pt x="0" y="15239"/>
                  </a:moveTo>
                  <a:lnTo>
                    <a:pt x="21335" y="15239"/>
                  </a:lnTo>
                </a:path>
                <a:path w="1950720" h="70485">
                  <a:moveTo>
                    <a:pt x="1929383" y="15239"/>
                  </a:moveTo>
                  <a:lnTo>
                    <a:pt x="1950719" y="15239"/>
                  </a:lnTo>
                </a:path>
                <a:path w="1950720" h="70485">
                  <a:moveTo>
                    <a:pt x="0" y="18287"/>
                  </a:moveTo>
                  <a:lnTo>
                    <a:pt x="21335" y="18287"/>
                  </a:lnTo>
                </a:path>
                <a:path w="1950720" h="70485">
                  <a:moveTo>
                    <a:pt x="1929383" y="18287"/>
                  </a:moveTo>
                  <a:lnTo>
                    <a:pt x="1950719" y="18287"/>
                  </a:lnTo>
                </a:path>
                <a:path w="1950720" h="70485">
                  <a:moveTo>
                    <a:pt x="0" y="21336"/>
                  </a:moveTo>
                  <a:lnTo>
                    <a:pt x="21335" y="21336"/>
                  </a:lnTo>
                </a:path>
                <a:path w="1950720" h="70485">
                  <a:moveTo>
                    <a:pt x="1929383" y="21336"/>
                  </a:moveTo>
                  <a:lnTo>
                    <a:pt x="1950719" y="21336"/>
                  </a:lnTo>
                </a:path>
                <a:path w="1950720" h="70485">
                  <a:moveTo>
                    <a:pt x="0" y="24384"/>
                  </a:moveTo>
                  <a:lnTo>
                    <a:pt x="21335" y="24384"/>
                  </a:lnTo>
                </a:path>
                <a:path w="1950720" h="70485">
                  <a:moveTo>
                    <a:pt x="1929383" y="24384"/>
                  </a:moveTo>
                  <a:lnTo>
                    <a:pt x="1950719" y="24384"/>
                  </a:lnTo>
                </a:path>
                <a:path w="1950720" h="70485">
                  <a:moveTo>
                    <a:pt x="0" y="27431"/>
                  </a:moveTo>
                  <a:lnTo>
                    <a:pt x="21335" y="27431"/>
                  </a:lnTo>
                </a:path>
                <a:path w="1950720" h="70485">
                  <a:moveTo>
                    <a:pt x="1929383" y="27431"/>
                  </a:moveTo>
                  <a:lnTo>
                    <a:pt x="1950719" y="27431"/>
                  </a:lnTo>
                </a:path>
                <a:path w="1950720" h="70485">
                  <a:moveTo>
                    <a:pt x="0" y="30479"/>
                  </a:moveTo>
                  <a:lnTo>
                    <a:pt x="21335" y="30479"/>
                  </a:lnTo>
                </a:path>
                <a:path w="1950720" h="70485">
                  <a:moveTo>
                    <a:pt x="1929383" y="30479"/>
                  </a:moveTo>
                  <a:lnTo>
                    <a:pt x="1950719" y="30479"/>
                  </a:lnTo>
                </a:path>
                <a:path w="1950720" h="70485">
                  <a:moveTo>
                    <a:pt x="0" y="33527"/>
                  </a:moveTo>
                  <a:lnTo>
                    <a:pt x="21335" y="33527"/>
                  </a:lnTo>
                </a:path>
                <a:path w="1950720" h="70485">
                  <a:moveTo>
                    <a:pt x="1929383" y="33527"/>
                  </a:moveTo>
                  <a:lnTo>
                    <a:pt x="1950719" y="33527"/>
                  </a:lnTo>
                </a:path>
                <a:path w="1950720" h="70485">
                  <a:moveTo>
                    <a:pt x="0" y="36575"/>
                  </a:moveTo>
                  <a:lnTo>
                    <a:pt x="21335" y="36575"/>
                  </a:lnTo>
                </a:path>
                <a:path w="1950720" h="70485">
                  <a:moveTo>
                    <a:pt x="1929383" y="36575"/>
                  </a:moveTo>
                  <a:lnTo>
                    <a:pt x="1950719" y="36575"/>
                  </a:lnTo>
                </a:path>
                <a:path w="1950720" h="70485">
                  <a:moveTo>
                    <a:pt x="0" y="39624"/>
                  </a:moveTo>
                  <a:lnTo>
                    <a:pt x="21335" y="39624"/>
                  </a:lnTo>
                </a:path>
                <a:path w="1950720" h="70485">
                  <a:moveTo>
                    <a:pt x="1929383" y="39624"/>
                  </a:moveTo>
                  <a:lnTo>
                    <a:pt x="1950719" y="39624"/>
                  </a:lnTo>
                </a:path>
                <a:path w="1950720" h="70485">
                  <a:moveTo>
                    <a:pt x="0" y="42672"/>
                  </a:moveTo>
                  <a:lnTo>
                    <a:pt x="21335" y="42672"/>
                  </a:lnTo>
                </a:path>
                <a:path w="1950720" h="70485">
                  <a:moveTo>
                    <a:pt x="1929383" y="42672"/>
                  </a:moveTo>
                  <a:lnTo>
                    <a:pt x="1950719" y="42672"/>
                  </a:lnTo>
                </a:path>
                <a:path w="1950720" h="70485">
                  <a:moveTo>
                    <a:pt x="0" y="45719"/>
                  </a:moveTo>
                  <a:lnTo>
                    <a:pt x="21335" y="45719"/>
                  </a:lnTo>
                </a:path>
                <a:path w="1950720" h="70485">
                  <a:moveTo>
                    <a:pt x="1929383" y="45719"/>
                  </a:moveTo>
                  <a:lnTo>
                    <a:pt x="1950719" y="45719"/>
                  </a:lnTo>
                </a:path>
                <a:path w="1950720" h="70485">
                  <a:moveTo>
                    <a:pt x="0" y="48767"/>
                  </a:moveTo>
                  <a:lnTo>
                    <a:pt x="21335" y="48767"/>
                  </a:lnTo>
                </a:path>
                <a:path w="1950720" h="70485">
                  <a:moveTo>
                    <a:pt x="1929383" y="48767"/>
                  </a:moveTo>
                  <a:lnTo>
                    <a:pt x="1950719" y="48767"/>
                  </a:lnTo>
                </a:path>
                <a:path w="1950720" h="70485">
                  <a:moveTo>
                    <a:pt x="0" y="51815"/>
                  </a:moveTo>
                  <a:lnTo>
                    <a:pt x="21335" y="51815"/>
                  </a:lnTo>
                </a:path>
                <a:path w="1950720" h="70485">
                  <a:moveTo>
                    <a:pt x="1929383" y="51815"/>
                  </a:moveTo>
                  <a:lnTo>
                    <a:pt x="1950719" y="51815"/>
                  </a:lnTo>
                </a:path>
                <a:path w="1950720" h="70485">
                  <a:moveTo>
                    <a:pt x="0" y="54863"/>
                  </a:moveTo>
                  <a:lnTo>
                    <a:pt x="21335" y="54863"/>
                  </a:lnTo>
                </a:path>
                <a:path w="1950720" h="70485">
                  <a:moveTo>
                    <a:pt x="1929383" y="54863"/>
                  </a:moveTo>
                  <a:lnTo>
                    <a:pt x="1950719" y="54863"/>
                  </a:lnTo>
                </a:path>
                <a:path w="1950720" h="70485">
                  <a:moveTo>
                    <a:pt x="0" y="57912"/>
                  </a:moveTo>
                  <a:lnTo>
                    <a:pt x="21335" y="57912"/>
                  </a:lnTo>
                </a:path>
                <a:path w="1950720" h="70485">
                  <a:moveTo>
                    <a:pt x="1929383" y="57912"/>
                  </a:moveTo>
                  <a:lnTo>
                    <a:pt x="1950719" y="57912"/>
                  </a:lnTo>
                </a:path>
                <a:path w="1950720" h="70485">
                  <a:moveTo>
                    <a:pt x="0" y="60960"/>
                  </a:moveTo>
                  <a:lnTo>
                    <a:pt x="21335" y="60960"/>
                  </a:lnTo>
                </a:path>
                <a:path w="1950720" h="70485">
                  <a:moveTo>
                    <a:pt x="1929383" y="60960"/>
                  </a:moveTo>
                  <a:lnTo>
                    <a:pt x="1950719" y="60960"/>
                  </a:lnTo>
                </a:path>
                <a:path w="1950720" h="70485">
                  <a:moveTo>
                    <a:pt x="0" y="64007"/>
                  </a:moveTo>
                  <a:lnTo>
                    <a:pt x="21335" y="64007"/>
                  </a:lnTo>
                </a:path>
                <a:path w="1950720" h="70485">
                  <a:moveTo>
                    <a:pt x="1929383" y="64007"/>
                  </a:moveTo>
                  <a:lnTo>
                    <a:pt x="1950719" y="64007"/>
                  </a:lnTo>
                </a:path>
                <a:path w="1950720" h="70485">
                  <a:moveTo>
                    <a:pt x="0" y="67055"/>
                  </a:moveTo>
                  <a:lnTo>
                    <a:pt x="21335" y="67055"/>
                  </a:lnTo>
                </a:path>
                <a:path w="1950720" h="70485">
                  <a:moveTo>
                    <a:pt x="0" y="70103"/>
                  </a:moveTo>
                  <a:lnTo>
                    <a:pt x="21335" y="701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3975" y="3870959"/>
              <a:ext cx="5791199" cy="94183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928872" y="481126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E6E6E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5858255" y="481126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D6D6D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7793735" y="481126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E5E5E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7879" y="4812791"/>
              <a:ext cx="1728216" cy="12283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17263" y="4809743"/>
              <a:ext cx="1725168" cy="12313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34455" y="4809743"/>
              <a:ext cx="1737360" cy="1231391"/>
            </a:xfrm>
            <a:prstGeom prst="rect">
              <a:avLst/>
            </a:prstGeom>
          </p:spPr>
        </p:pic>
      </p:grp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645D67C4-B5FF-2ABE-B781-5160E614B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D12DD-A339-47EC-8B87-218FE93CD5A4}" type="datetime1">
              <a:rPr lang="en-US" smtClean="0"/>
              <a:t>3/17/2025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53857256-D4CC-DD74-C2D6-5B1DA4C4E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E66C56D-9832-2E4D-78C1-9070D9CED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18" name="Picture 17" descr="A group of symbols on a black background&#10;&#10;Description automatically generated">
            <a:extLst>
              <a:ext uri="{FF2B5EF4-FFF2-40B4-BE49-F238E27FC236}">
                <a16:creationId xmlns:a16="http://schemas.microsoft.com/office/drawing/2014/main" id="{3D217C3B-754D-68BB-E191-09B40DFD2AD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251316"/>
            <a:ext cx="3783339" cy="174380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C9CC314-C9B0-B78F-0429-E2C716F8EA86}"/>
              </a:ext>
            </a:extLst>
          </p:cNvPr>
          <p:cNvSpPr txBox="1"/>
          <p:nvPr/>
        </p:nvSpPr>
        <p:spPr>
          <a:xfrm>
            <a:off x="8787769" y="6121664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Generic RNN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9B7770-B32F-142A-864C-B8BB9F6CE41F}"/>
              </a:ext>
            </a:extLst>
          </p:cNvPr>
          <p:cNvSpPr txBox="1"/>
          <p:nvPr/>
        </p:nvSpPr>
        <p:spPr>
          <a:xfrm>
            <a:off x="2868650" y="6121664"/>
            <a:ext cx="1032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LSTM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Long</a:t>
            </a:r>
            <a:r>
              <a:rPr spc="-62" dirty="0"/>
              <a:t> </a:t>
            </a:r>
            <a:r>
              <a:rPr dirty="0"/>
              <a:t>Short</a:t>
            </a:r>
            <a:r>
              <a:rPr spc="-40" dirty="0"/>
              <a:t> </a:t>
            </a:r>
            <a:r>
              <a:rPr spc="-49" dirty="0"/>
              <a:t>Term</a:t>
            </a:r>
            <a:r>
              <a:rPr spc="-66" dirty="0"/>
              <a:t> </a:t>
            </a:r>
            <a:r>
              <a:rPr dirty="0"/>
              <a:t>Memory</a:t>
            </a:r>
            <a:r>
              <a:rPr spc="-75" dirty="0"/>
              <a:t> </a:t>
            </a:r>
            <a:r>
              <a:rPr spc="-18" dirty="0"/>
              <a:t>Networks</a:t>
            </a:r>
            <a:r>
              <a:rPr spc="-75" dirty="0"/>
              <a:t> </a:t>
            </a:r>
            <a:r>
              <a:rPr dirty="0"/>
              <a:t>-</a:t>
            </a:r>
            <a:r>
              <a:rPr spc="-49" dirty="0"/>
              <a:t> </a:t>
            </a:r>
            <a:r>
              <a:rPr spc="-9" dirty="0"/>
              <a:t>LSTMs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8380" y="1685408"/>
            <a:ext cx="8915400" cy="1076893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77062" indent="-165856">
              <a:spcBef>
                <a:spcPts val="101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dirty="0">
                <a:latin typeface="Calibri"/>
                <a:cs typeface="Calibri"/>
              </a:rPr>
              <a:t>The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repeating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unit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is</a:t>
            </a:r>
            <a:r>
              <a:rPr sz="2030" spc="-31" dirty="0"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FF0000"/>
                </a:solidFill>
                <a:latin typeface="Calibri"/>
                <a:cs typeface="Calibri"/>
              </a:rPr>
              <a:t>more</a:t>
            </a:r>
            <a:r>
              <a:rPr sz="203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30" dirty="0">
                <a:solidFill>
                  <a:srgbClr val="FF0000"/>
                </a:solidFill>
                <a:latin typeface="Calibri"/>
                <a:cs typeface="Calibri"/>
              </a:rPr>
              <a:t>complex</a:t>
            </a:r>
            <a:r>
              <a:rPr sz="2030" spc="-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in</a:t>
            </a:r>
            <a:r>
              <a:rPr sz="2030" spc="-31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LSTMs</a:t>
            </a:r>
            <a:endParaRPr lang="en-US" sz="2030" spc="-9" dirty="0">
              <a:latin typeface="Calibri"/>
              <a:cs typeface="Calibri"/>
            </a:endParaRPr>
          </a:p>
          <a:p>
            <a:pPr marL="177062" indent="-165856">
              <a:spcBef>
                <a:spcPts val="101"/>
              </a:spcBef>
              <a:buFont typeface="Arial MT"/>
              <a:buChar char="•"/>
              <a:tabLst>
                <a:tab pos="177062" algn="l"/>
              </a:tabLst>
            </a:pPr>
            <a:r>
              <a:rPr lang="en-US" sz="2400" dirty="0"/>
              <a:t>Instead of having a single neural network layer, </a:t>
            </a:r>
            <a:r>
              <a:rPr lang="en-US" sz="2400" dirty="0">
                <a:solidFill>
                  <a:srgbClr val="FF0000"/>
                </a:solidFill>
              </a:rPr>
              <a:t>there are four, interacting in a very special way.</a:t>
            </a:r>
            <a:endParaRPr sz="203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14600" y="2862004"/>
            <a:ext cx="6167158" cy="2577935"/>
            <a:chOff x="1905000" y="3060192"/>
            <a:chExt cx="5968365" cy="2243455"/>
          </a:xfrm>
        </p:grpSpPr>
        <p:sp>
          <p:nvSpPr>
            <p:cNvPr id="5" name="object 5"/>
            <p:cNvSpPr/>
            <p:nvPr/>
          </p:nvSpPr>
          <p:spPr>
            <a:xfrm>
              <a:off x="7504176" y="336042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3508247" y="3387852"/>
              <a:ext cx="2033270" cy="24765"/>
            </a:xfrm>
            <a:custGeom>
              <a:avLst/>
              <a:gdLst/>
              <a:ahLst/>
              <a:cxnLst/>
              <a:rect l="l" t="t" r="r" b="b"/>
              <a:pathLst>
                <a:path w="2033270" h="24764">
                  <a:moveTo>
                    <a:pt x="0" y="0"/>
                  </a:moveTo>
                  <a:lnTo>
                    <a:pt x="33528" y="0"/>
                  </a:lnTo>
                </a:path>
                <a:path w="2033270" h="24764">
                  <a:moveTo>
                    <a:pt x="1984247" y="0"/>
                  </a:moveTo>
                  <a:lnTo>
                    <a:pt x="2020824" y="0"/>
                  </a:lnTo>
                </a:path>
                <a:path w="2033270" h="24764">
                  <a:moveTo>
                    <a:pt x="1972055" y="24384"/>
                  </a:moveTo>
                  <a:lnTo>
                    <a:pt x="2033016" y="243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7191" y="3060192"/>
              <a:ext cx="5955791" cy="90525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82055" y="39639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2626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7778496" y="39639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7191" y="3962400"/>
              <a:ext cx="5952743" cy="68884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03904" y="453999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8152" y="453999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2C2C2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803904" y="46497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788152" y="46497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5656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5000" y="4651248"/>
              <a:ext cx="1789175" cy="65227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98392" y="4648200"/>
              <a:ext cx="1780031" cy="65531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76544" y="4648200"/>
              <a:ext cx="1798320" cy="65531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036063" y="4820412"/>
              <a:ext cx="4002404" cy="125095"/>
            </a:xfrm>
            <a:custGeom>
              <a:avLst/>
              <a:gdLst/>
              <a:ahLst/>
              <a:cxnLst/>
              <a:rect l="l" t="t" r="r" b="b"/>
              <a:pathLst>
                <a:path w="4002404" h="125095">
                  <a:moveTo>
                    <a:pt x="0" y="0"/>
                  </a:moveTo>
                  <a:lnTo>
                    <a:pt x="21335" y="0"/>
                  </a:lnTo>
                </a:path>
                <a:path w="4002404" h="125095">
                  <a:moveTo>
                    <a:pt x="0" y="3047"/>
                  </a:moveTo>
                  <a:lnTo>
                    <a:pt x="21335" y="3047"/>
                  </a:lnTo>
                </a:path>
                <a:path w="4002404" h="125095">
                  <a:moveTo>
                    <a:pt x="0" y="6095"/>
                  </a:moveTo>
                  <a:lnTo>
                    <a:pt x="21335" y="6095"/>
                  </a:lnTo>
                </a:path>
                <a:path w="4002404" h="125095">
                  <a:moveTo>
                    <a:pt x="0" y="9143"/>
                  </a:moveTo>
                  <a:lnTo>
                    <a:pt x="21335" y="9143"/>
                  </a:lnTo>
                </a:path>
                <a:path w="4002404" h="125095">
                  <a:moveTo>
                    <a:pt x="1987295" y="9143"/>
                  </a:moveTo>
                  <a:lnTo>
                    <a:pt x="2005584" y="9143"/>
                  </a:lnTo>
                </a:path>
                <a:path w="4002404" h="125095">
                  <a:moveTo>
                    <a:pt x="0" y="12191"/>
                  </a:moveTo>
                  <a:lnTo>
                    <a:pt x="21335" y="12191"/>
                  </a:lnTo>
                </a:path>
                <a:path w="4002404" h="125095">
                  <a:moveTo>
                    <a:pt x="1987295" y="12191"/>
                  </a:moveTo>
                  <a:lnTo>
                    <a:pt x="2005584" y="12191"/>
                  </a:lnTo>
                </a:path>
                <a:path w="4002404" h="125095">
                  <a:moveTo>
                    <a:pt x="0" y="15239"/>
                  </a:moveTo>
                  <a:lnTo>
                    <a:pt x="21335" y="15239"/>
                  </a:lnTo>
                </a:path>
                <a:path w="4002404" h="125095">
                  <a:moveTo>
                    <a:pt x="1987295" y="15239"/>
                  </a:moveTo>
                  <a:lnTo>
                    <a:pt x="2005584" y="15239"/>
                  </a:lnTo>
                </a:path>
                <a:path w="4002404" h="125095">
                  <a:moveTo>
                    <a:pt x="0" y="18287"/>
                  </a:moveTo>
                  <a:lnTo>
                    <a:pt x="21335" y="18287"/>
                  </a:lnTo>
                </a:path>
                <a:path w="4002404" h="125095">
                  <a:moveTo>
                    <a:pt x="1987295" y="18287"/>
                  </a:moveTo>
                  <a:lnTo>
                    <a:pt x="2005584" y="18287"/>
                  </a:lnTo>
                </a:path>
                <a:path w="4002404" h="125095">
                  <a:moveTo>
                    <a:pt x="1987295" y="21336"/>
                  </a:moveTo>
                  <a:lnTo>
                    <a:pt x="2005584" y="21336"/>
                  </a:lnTo>
                </a:path>
                <a:path w="4002404" h="125095">
                  <a:moveTo>
                    <a:pt x="1987295" y="24383"/>
                  </a:moveTo>
                  <a:lnTo>
                    <a:pt x="2005584" y="24383"/>
                  </a:lnTo>
                </a:path>
                <a:path w="4002404" h="125095">
                  <a:moveTo>
                    <a:pt x="1987295" y="27431"/>
                  </a:moveTo>
                  <a:lnTo>
                    <a:pt x="2005584" y="27431"/>
                  </a:lnTo>
                </a:path>
                <a:path w="4002404" h="125095">
                  <a:moveTo>
                    <a:pt x="3980687" y="112775"/>
                  </a:moveTo>
                  <a:lnTo>
                    <a:pt x="4002023" y="112775"/>
                  </a:lnTo>
                </a:path>
                <a:path w="4002404" h="125095">
                  <a:moveTo>
                    <a:pt x="3980687" y="115823"/>
                  </a:moveTo>
                  <a:lnTo>
                    <a:pt x="4002023" y="115823"/>
                  </a:lnTo>
                </a:path>
                <a:path w="4002404" h="125095">
                  <a:moveTo>
                    <a:pt x="3980687" y="118871"/>
                  </a:moveTo>
                  <a:lnTo>
                    <a:pt x="4002023" y="118871"/>
                  </a:lnTo>
                </a:path>
                <a:path w="4002404" h="125095">
                  <a:moveTo>
                    <a:pt x="3980687" y="121919"/>
                  </a:moveTo>
                  <a:lnTo>
                    <a:pt x="4002023" y="121919"/>
                  </a:lnTo>
                </a:path>
                <a:path w="4002404" h="125095">
                  <a:moveTo>
                    <a:pt x="3980687" y="124967"/>
                  </a:moveTo>
                  <a:lnTo>
                    <a:pt x="4002023" y="1249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93718" y="5705462"/>
            <a:ext cx="4262275" cy="587453"/>
          </a:xfrm>
          <a:prstGeom prst="rect">
            <a:avLst/>
          </a:prstGeom>
        </p:spPr>
      </p:pic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2EF47898-436C-D738-BA97-0EEAD0ED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0C603-100C-48B6-81A0-495F2CF1E90B}" type="datetime1">
              <a:rPr lang="en-US" smtClean="0"/>
              <a:t>3/17/2025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2DAA54AA-6580-BB4B-59B6-0AB0FC05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6AFBA4A7-1944-A0BC-4502-8F70456C3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spc="-9" dirty="0"/>
              <a:t>LSTMs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2239831"/>
            <a:ext cx="8356600" cy="3747708"/>
          </a:xfrm>
          <a:prstGeom prst="rect">
            <a:avLst/>
          </a:prstGeom>
        </p:spPr>
        <p:txBody>
          <a:bodyPr vert="horz" wrap="square" lIns="0" tIns="43703" rIns="0" bIns="0" rtlCol="0">
            <a:spAutoFit/>
          </a:bodyPr>
          <a:lstStyle/>
          <a:p>
            <a:pPr marL="177623" marR="155210" indent="-166977">
              <a:spcBef>
                <a:spcPts val="344"/>
              </a:spcBef>
              <a:buFont typeface="Arial MT"/>
              <a:buChar char="•"/>
              <a:tabLst>
                <a:tab pos="177623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6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LSTMs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3200" i="1" spc="-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spc="-22" dirty="0">
                <a:latin typeface="Calibri"/>
                <a:cs typeface="Calibri"/>
              </a:rPr>
              <a:t>the </a:t>
            </a:r>
            <a:r>
              <a:rPr sz="3200" spc="-9" dirty="0">
                <a:latin typeface="Calibri"/>
                <a:cs typeface="Calibri"/>
              </a:rPr>
              <a:t>horizontal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line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running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through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top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spc="-22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1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diagram.</a:t>
            </a:r>
            <a:endParaRPr sz="3200" dirty="0">
              <a:latin typeface="Calibri"/>
              <a:cs typeface="Calibri"/>
            </a:endParaRPr>
          </a:p>
          <a:p>
            <a:pPr marL="177623" indent="-166416">
              <a:spcBef>
                <a:spcPts val="459"/>
              </a:spcBef>
              <a:buFont typeface="Arial MT"/>
              <a:buChar char="•"/>
              <a:tabLst>
                <a:tab pos="177623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cell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state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2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kind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like</a:t>
            </a:r>
            <a:r>
              <a:rPr sz="3200" spc="-18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1" dirty="0">
                <a:latin typeface="Calibri"/>
                <a:cs typeface="Calibri"/>
              </a:rPr>
              <a:t> </a:t>
            </a:r>
            <a:r>
              <a:rPr sz="3200" spc="-18" dirty="0">
                <a:latin typeface="Calibri"/>
                <a:cs typeface="Calibri"/>
              </a:rPr>
              <a:t>conveyor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belt.</a:t>
            </a:r>
            <a:endParaRPr sz="3200" dirty="0">
              <a:latin typeface="Calibri"/>
              <a:cs typeface="Calibri"/>
            </a:endParaRPr>
          </a:p>
          <a:p>
            <a:pPr marL="177623" marR="45946" indent="-166977">
              <a:spcBef>
                <a:spcPts val="759"/>
              </a:spcBef>
              <a:buFont typeface="Arial MT"/>
              <a:buChar char="•"/>
              <a:tabLst>
                <a:tab pos="177623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runs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straight</a:t>
            </a:r>
            <a:r>
              <a:rPr sz="3200" spc="-2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down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entire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chain,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spc="-18" dirty="0">
                <a:latin typeface="Calibri"/>
                <a:cs typeface="Calibri"/>
              </a:rPr>
              <a:t>with </a:t>
            </a:r>
            <a:r>
              <a:rPr sz="3200" dirty="0">
                <a:latin typeface="Calibri"/>
                <a:cs typeface="Calibri"/>
              </a:rPr>
              <a:t>only</a:t>
            </a:r>
            <a:r>
              <a:rPr sz="3200" spc="-2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some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minor</a:t>
            </a:r>
            <a:r>
              <a:rPr sz="3200" spc="-18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linear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interactions.</a:t>
            </a:r>
            <a:endParaRPr sz="3200" dirty="0">
              <a:latin typeface="Calibri"/>
              <a:cs typeface="Calibri"/>
            </a:endParaRPr>
          </a:p>
          <a:p>
            <a:pPr marL="177623" marR="270636" indent="-166977">
              <a:spcBef>
                <a:spcPts val="715"/>
              </a:spcBef>
              <a:buFont typeface="Arial MT"/>
              <a:buChar char="•"/>
              <a:tabLst>
                <a:tab pos="177623" algn="l"/>
              </a:tabLst>
            </a:pPr>
            <a:r>
              <a:rPr sz="3200" dirty="0">
                <a:latin typeface="Calibri"/>
                <a:cs typeface="Calibri"/>
              </a:rPr>
              <a:t>It’s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very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easy</a:t>
            </a:r>
            <a:r>
              <a:rPr sz="3200" spc="-6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49" dirty="0">
                <a:latin typeface="Calibri"/>
                <a:cs typeface="Calibri"/>
              </a:rPr>
              <a:t> </a:t>
            </a:r>
            <a:r>
              <a:rPr sz="3200" spc="-9" dirty="0">
                <a:solidFill>
                  <a:srgbClr val="FF0000"/>
                </a:solidFill>
                <a:latin typeface="Calibri"/>
                <a:cs typeface="Calibri"/>
              </a:rPr>
              <a:t>information</a:t>
            </a:r>
            <a:r>
              <a:rPr sz="3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3200" spc="-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just</a:t>
            </a:r>
            <a:r>
              <a:rPr sz="3200" spc="-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8" dirty="0">
                <a:solidFill>
                  <a:srgbClr val="FF0000"/>
                </a:solidFill>
                <a:latin typeface="Calibri"/>
                <a:cs typeface="Calibri"/>
              </a:rPr>
              <a:t>flow </a:t>
            </a:r>
            <a:r>
              <a:rPr sz="3200" dirty="0">
                <a:latin typeface="Calibri"/>
                <a:cs typeface="Calibri"/>
              </a:rPr>
              <a:t>along</a:t>
            </a:r>
            <a:r>
              <a:rPr sz="3200" spc="-22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13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unchanged.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7900" y="2209800"/>
            <a:ext cx="3124200" cy="1798769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6F3CA8-FC1E-70B3-0F2A-AFA90D91C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75AB3-7D33-473B-9371-3F9DCC8B14D8}" type="datetime1">
              <a:rPr lang="en-US" smtClean="0"/>
              <a:t>3/17/2025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DE77981-68B4-8E5B-7F2D-8C3CE46D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DA2B8DD-C434-0ABD-7C7D-40D793975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LSTMs</a:t>
            </a:r>
            <a:r>
              <a:rPr spc="-57" dirty="0"/>
              <a:t> </a:t>
            </a:r>
            <a:r>
              <a:rPr dirty="0"/>
              <a:t>-</a:t>
            </a:r>
            <a:r>
              <a:rPr spc="-22" dirty="0"/>
              <a:t> </a:t>
            </a:r>
            <a:r>
              <a:rPr spc="-9" dirty="0"/>
              <a:t>Gates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024" y="1931894"/>
            <a:ext cx="8258261" cy="3653074"/>
          </a:xfrm>
          <a:prstGeom prst="rect">
            <a:avLst/>
          </a:prstGeom>
        </p:spPr>
        <p:txBody>
          <a:bodyPr vert="horz" wrap="square" lIns="0" tIns="46504" rIns="0" bIns="0" rtlCol="0">
            <a:spAutoFit/>
          </a:bodyPr>
          <a:lstStyle/>
          <a:p>
            <a:pPr marL="176502" marR="196674" indent="-165856">
              <a:spcBef>
                <a:spcPts val="366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LSTM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ability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remove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add </a:t>
            </a:r>
            <a:r>
              <a:rPr sz="2400" spc="-9" dirty="0">
                <a:latin typeface="Calibri"/>
                <a:cs typeface="Calibri"/>
              </a:rPr>
              <a:t>information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2400" i="1" spc="-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carefully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regulated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by</a:t>
            </a:r>
            <a:r>
              <a:rPr lang="en-US"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structures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i="1" spc="-9" dirty="0">
                <a:solidFill>
                  <a:srgbClr val="FF0000"/>
                </a:solidFill>
                <a:latin typeface="Calibri"/>
                <a:cs typeface="Calibri"/>
              </a:rPr>
              <a:t>gates</a:t>
            </a:r>
            <a:r>
              <a:rPr sz="2400" spc="-9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76502" marR="4483" indent="-165856">
              <a:spcBef>
                <a:spcPts val="693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Gates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optionally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information </a:t>
            </a:r>
            <a:r>
              <a:rPr sz="2400" dirty="0">
                <a:latin typeface="Calibri"/>
                <a:cs typeface="Calibri"/>
              </a:rPr>
              <a:t>through.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composed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sigmoid</a:t>
            </a:r>
            <a:r>
              <a:rPr sz="2400" spc="-31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99CC"/>
                </a:solidFill>
                <a:latin typeface="Calibri"/>
                <a:cs typeface="Calibri"/>
              </a:rPr>
              <a:t>neural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net</a:t>
            </a:r>
            <a:r>
              <a:rPr sz="2400" spc="-31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layer</a:t>
            </a:r>
            <a:r>
              <a:rPr sz="2400" spc="-35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and</a:t>
            </a:r>
            <a:r>
              <a:rPr sz="2400" spc="-18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a</a:t>
            </a:r>
            <a:r>
              <a:rPr sz="2400" spc="-35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99CC"/>
                </a:solidFill>
                <a:latin typeface="Calibri"/>
                <a:cs typeface="Calibri"/>
              </a:rPr>
              <a:t>point-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wise</a:t>
            </a:r>
            <a:r>
              <a:rPr sz="2400" spc="-22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99CC"/>
                </a:solidFill>
                <a:latin typeface="Calibri"/>
                <a:cs typeface="Calibri"/>
              </a:rPr>
              <a:t>multiplication</a:t>
            </a:r>
            <a:r>
              <a:rPr sz="2400" spc="-49" dirty="0">
                <a:solidFill>
                  <a:srgbClr val="0099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99CC"/>
                </a:solidFill>
                <a:latin typeface="Calibri"/>
                <a:cs typeface="Calibri"/>
              </a:rPr>
              <a:t>operation</a:t>
            </a:r>
            <a:r>
              <a:rPr sz="2400" spc="-9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76502" marR="188829" indent="-165856">
              <a:spcBef>
                <a:spcPts val="763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sigmoid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numbers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between</a:t>
            </a:r>
            <a:r>
              <a:rPr sz="2400" i="1" spc="-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18" dirty="0">
                <a:solidFill>
                  <a:srgbClr val="FF0000"/>
                </a:solidFill>
                <a:latin typeface="Calibri"/>
                <a:cs typeface="Calibri"/>
              </a:rPr>
              <a:t>zero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i="1" spc="-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describing how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much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component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through.</a:t>
            </a:r>
            <a:endParaRPr sz="2400" dirty="0">
              <a:latin typeface="Calibri"/>
              <a:cs typeface="Calibri"/>
            </a:endParaRPr>
          </a:p>
          <a:p>
            <a:pPr marL="176502" marR="21853" indent="-165856">
              <a:spcBef>
                <a:spcPts val="710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zero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</a:t>
            </a:r>
            <a:r>
              <a:rPr sz="2400" dirty="0">
                <a:solidFill>
                  <a:srgbClr val="FFC000"/>
                </a:solidFill>
                <a:latin typeface="Calibri"/>
                <a:cs typeface="Calibri"/>
              </a:rPr>
              <a:t>let</a:t>
            </a:r>
            <a:r>
              <a:rPr sz="2400" spc="-26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C000"/>
                </a:solidFill>
                <a:latin typeface="Calibri"/>
                <a:cs typeface="Calibri"/>
              </a:rPr>
              <a:t>nothing</a:t>
            </a:r>
            <a:r>
              <a:rPr sz="2400" spc="-31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FFC000"/>
                </a:solidFill>
                <a:latin typeface="Calibri"/>
                <a:cs typeface="Calibri"/>
              </a:rPr>
              <a:t>through</a:t>
            </a:r>
            <a:r>
              <a:rPr sz="2400" spc="-18" dirty="0">
                <a:latin typeface="Calibri"/>
                <a:cs typeface="Calibri"/>
              </a:rPr>
              <a:t>,”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44" dirty="0">
                <a:latin typeface="Calibri"/>
                <a:cs typeface="Calibri"/>
              </a:rPr>
              <a:t>a</a:t>
            </a:r>
            <a:r>
              <a:rPr lang="en-US"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</a:t>
            </a:r>
            <a:r>
              <a:rPr sz="2400" dirty="0">
                <a:solidFill>
                  <a:srgbClr val="FFC000"/>
                </a:solidFill>
                <a:latin typeface="Calibri"/>
                <a:cs typeface="Calibri"/>
              </a:rPr>
              <a:t>let</a:t>
            </a:r>
            <a:r>
              <a:rPr sz="24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C000"/>
                </a:solidFill>
                <a:latin typeface="Calibri"/>
                <a:cs typeface="Calibri"/>
              </a:rPr>
              <a:t>everything</a:t>
            </a:r>
            <a:r>
              <a:rPr sz="24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FFC000"/>
                </a:solidFill>
                <a:latin typeface="Calibri"/>
                <a:cs typeface="Calibri"/>
              </a:rPr>
              <a:t>through</a:t>
            </a:r>
            <a:r>
              <a:rPr sz="2400" spc="-9" dirty="0">
                <a:latin typeface="Calibri"/>
                <a:cs typeface="Calibri"/>
              </a:rPr>
              <a:t>!”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627591" y="3495899"/>
            <a:ext cx="1370479" cy="1674159"/>
            <a:chOff x="7650480" y="2948939"/>
            <a:chExt cx="1553210" cy="18973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0480" y="2948939"/>
              <a:ext cx="1552955" cy="3581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42960" y="334898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8160" y="3352799"/>
              <a:ext cx="601980" cy="149352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8991600" y="1564900"/>
            <a:ext cx="2435768" cy="1406899"/>
            <a:chOff x="7144511" y="1303013"/>
            <a:chExt cx="2646045" cy="117348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6619" y="1344161"/>
              <a:ext cx="2464308" cy="365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92339" y="1383023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29">
                  <a:moveTo>
                    <a:pt x="0" y="0"/>
                  </a:moveTo>
                  <a:lnTo>
                    <a:pt x="4572" y="0"/>
                  </a:lnTo>
                </a:path>
                <a:path w="608329">
                  <a:moveTo>
                    <a:pt x="603504" y="0"/>
                  </a:moveTo>
                  <a:lnTo>
                    <a:pt x="608076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8501633" y="1380737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0"/>
                  </a:moveTo>
                  <a:lnTo>
                    <a:pt x="0" y="370338"/>
                  </a:lnTo>
                </a:path>
              </a:pathLst>
            </a:custGeom>
            <a:ln w="1371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7292339" y="1387595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29">
                  <a:moveTo>
                    <a:pt x="0" y="0"/>
                  </a:moveTo>
                  <a:lnTo>
                    <a:pt x="4572" y="0"/>
                  </a:lnTo>
                </a:path>
                <a:path w="608329">
                  <a:moveTo>
                    <a:pt x="603504" y="0"/>
                  </a:moveTo>
                  <a:lnTo>
                    <a:pt x="608076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24543" y="1380737"/>
              <a:ext cx="786384" cy="1828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292339" y="1392167"/>
              <a:ext cx="2418715" cy="13970"/>
            </a:xfrm>
            <a:custGeom>
              <a:avLst/>
              <a:gdLst/>
              <a:ahLst/>
              <a:cxnLst/>
              <a:rect l="l" t="t" r="r" b="b"/>
              <a:pathLst>
                <a:path w="2418715" h="13969">
                  <a:moveTo>
                    <a:pt x="0" y="0"/>
                  </a:moveTo>
                  <a:lnTo>
                    <a:pt x="4572" y="0"/>
                  </a:lnTo>
                </a:path>
                <a:path w="2418715" h="13969">
                  <a:moveTo>
                    <a:pt x="603504" y="0"/>
                  </a:moveTo>
                  <a:lnTo>
                    <a:pt x="608076" y="0"/>
                  </a:lnTo>
                </a:path>
                <a:path w="2418715" h="13969">
                  <a:moveTo>
                    <a:pt x="0" y="4572"/>
                  </a:moveTo>
                  <a:lnTo>
                    <a:pt x="4572" y="4572"/>
                  </a:lnTo>
                </a:path>
                <a:path w="2418715" h="13969">
                  <a:moveTo>
                    <a:pt x="603504" y="4572"/>
                  </a:moveTo>
                  <a:lnTo>
                    <a:pt x="608076" y="4572"/>
                  </a:lnTo>
                </a:path>
                <a:path w="2418715" h="13969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13969">
                  <a:moveTo>
                    <a:pt x="0" y="9144"/>
                  </a:moveTo>
                  <a:lnTo>
                    <a:pt x="4572" y="9144"/>
                  </a:lnTo>
                </a:path>
                <a:path w="2418715" h="13969">
                  <a:moveTo>
                    <a:pt x="603504" y="9144"/>
                  </a:moveTo>
                  <a:lnTo>
                    <a:pt x="608076" y="9144"/>
                  </a:lnTo>
                </a:path>
                <a:path w="2418715" h="13969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13969">
                  <a:moveTo>
                    <a:pt x="0" y="13716"/>
                  </a:moveTo>
                  <a:lnTo>
                    <a:pt x="4572" y="13716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7895843" y="140588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7292339" y="1405883"/>
              <a:ext cx="2418715" cy="32384"/>
            </a:xfrm>
            <a:custGeom>
              <a:avLst/>
              <a:gdLst/>
              <a:ahLst/>
              <a:cxnLst/>
              <a:rect l="l" t="t" r="r" b="b"/>
              <a:pathLst>
                <a:path w="2418715" h="32384">
                  <a:moveTo>
                    <a:pt x="2414016" y="0"/>
                  </a:moveTo>
                  <a:lnTo>
                    <a:pt x="2418588" y="0"/>
                  </a:lnTo>
                </a:path>
                <a:path w="2418715" h="32384">
                  <a:moveTo>
                    <a:pt x="0" y="4572"/>
                  </a:moveTo>
                  <a:lnTo>
                    <a:pt x="4572" y="4572"/>
                  </a:lnTo>
                </a:path>
                <a:path w="2418715" h="32384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32384">
                  <a:moveTo>
                    <a:pt x="0" y="9144"/>
                  </a:moveTo>
                  <a:lnTo>
                    <a:pt x="4572" y="9144"/>
                  </a:lnTo>
                </a:path>
                <a:path w="2418715" h="32384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32384">
                  <a:moveTo>
                    <a:pt x="0" y="13716"/>
                  </a:moveTo>
                  <a:lnTo>
                    <a:pt x="4572" y="13716"/>
                  </a:lnTo>
                </a:path>
                <a:path w="2418715" h="32384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32384">
                  <a:moveTo>
                    <a:pt x="0" y="18287"/>
                  </a:moveTo>
                  <a:lnTo>
                    <a:pt x="4572" y="18287"/>
                  </a:lnTo>
                </a:path>
                <a:path w="2418715" h="32384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32384">
                  <a:moveTo>
                    <a:pt x="0" y="22860"/>
                  </a:moveTo>
                  <a:lnTo>
                    <a:pt x="4572" y="22860"/>
                  </a:lnTo>
                </a:path>
                <a:path w="2418715" h="32384">
                  <a:moveTo>
                    <a:pt x="2414016" y="22860"/>
                  </a:moveTo>
                  <a:lnTo>
                    <a:pt x="2418588" y="22860"/>
                  </a:lnTo>
                </a:path>
                <a:path w="2418715" h="32384">
                  <a:moveTo>
                    <a:pt x="0" y="27432"/>
                  </a:moveTo>
                  <a:lnTo>
                    <a:pt x="4572" y="27432"/>
                  </a:lnTo>
                </a:path>
                <a:path w="2418715" h="32384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32384">
                  <a:moveTo>
                    <a:pt x="0" y="32003"/>
                  </a:moveTo>
                  <a:lnTo>
                    <a:pt x="4572" y="32003"/>
                  </a:lnTo>
                </a:path>
                <a:path w="2418715" h="32384">
                  <a:moveTo>
                    <a:pt x="2414016" y="32003"/>
                  </a:moveTo>
                  <a:lnTo>
                    <a:pt x="2418588" y="32003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7187183" y="144245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7292339" y="1442459"/>
              <a:ext cx="2418715" cy="9525"/>
            </a:xfrm>
            <a:custGeom>
              <a:avLst/>
              <a:gdLst/>
              <a:ahLst/>
              <a:cxnLst/>
              <a:rect l="l" t="t" r="r" b="b"/>
              <a:pathLst>
                <a:path w="2418715" h="9525">
                  <a:moveTo>
                    <a:pt x="0" y="0"/>
                  </a:moveTo>
                  <a:lnTo>
                    <a:pt x="4572" y="0"/>
                  </a:lnTo>
                </a:path>
                <a:path w="2418715" h="9525">
                  <a:moveTo>
                    <a:pt x="2414016" y="0"/>
                  </a:moveTo>
                  <a:lnTo>
                    <a:pt x="2418588" y="0"/>
                  </a:lnTo>
                </a:path>
                <a:path w="2418715" h="9525">
                  <a:moveTo>
                    <a:pt x="0" y="4572"/>
                  </a:moveTo>
                  <a:lnTo>
                    <a:pt x="4572" y="4572"/>
                  </a:lnTo>
                </a:path>
                <a:path w="2418715" h="9525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9525">
                  <a:moveTo>
                    <a:pt x="0" y="9144"/>
                  </a:moveTo>
                  <a:lnTo>
                    <a:pt x="4572" y="9144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3467" y="1353305"/>
              <a:ext cx="150875" cy="1325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706355" y="1451603"/>
              <a:ext cx="5080" cy="22860"/>
            </a:xfrm>
            <a:custGeom>
              <a:avLst/>
              <a:gdLst/>
              <a:ahLst/>
              <a:cxnLst/>
              <a:rect l="l" t="t" r="r" b="b"/>
              <a:pathLst>
                <a:path w="5079" h="22859">
                  <a:moveTo>
                    <a:pt x="0" y="0"/>
                  </a:moveTo>
                  <a:lnTo>
                    <a:pt x="4572" y="0"/>
                  </a:lnTo>
                </a:path>
                <a:path w="5079" h="22859">
                  <a:moveTo>
                    <a:pt x="0" y="4571"/>
                  </a:moveTo>
                  <a:lnTo>
                    <a:pt x="4572" y="4571"/>
                  </a:lnTo>
                </a:path>
                <a:path w="5079" h="22859">
                  <a:moveTo>
                    <a:pt x="0" y="9143"/>
                  </a:moveTo>
                  <a:lnTo>
                    <a:pt x="4572" y="9143"/>
                  </a:lnTo>
                </a:path>
                <a:path w="5079" h="22859">
                  <a:moveTo>
                    <a:pt x="0" y="13715"/>
                  </a:moveTo>
                  <a:lnTo>
                    <a:pt x="4572" y="13715"/>
                  </a:lnTo>
                </a:path>
                <a:path w="5079" h="22859">
                  <a:moveTo>
                    <a:pt x="0" y="18287"/>
                  </a:moveTo>
                  <a:lnTo>
                    <a:pt x="4572" y="18287"/>
                  </a:lnTo>
                </a:path>
                <a:path w="5079" h="22859">
                  <a:moveTo>
                    <a:pt x="0" y="22859"/>
                  </a:moveTo>
                  <a:lnTo>
                    <a:pt x="4572" y="22859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8067" y="1476749"/>
              <a:ext cx="22859" cy="457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706355" y="1483607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78039" y="1453889"/>
              <a:ext cx="118872" cy="4572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219187" y="14927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764EA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7292339" y="1492751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7219187" y="149732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7292339" y="1497323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7219187" y="150189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7292339" y="1501895"/>
              <a:ext cx="2418715" cy="55244"/>
            </a:xfrm>
            <a:custGeom>
              <a:avLst/>
              <a:gdLst/>
              <a:ahLst/>
              <a:cxnLst/>
              <a:rect l="l" t="t" r="r" b="b"/>
              <a:pathLst>
                <a:path w="2418715" h="55244">
                  <a:moveTo>
                    <a:pt x="0" y="0"/>
                  </a:moveTo>
                  <a:lnTo>
                    <a:pt x="4572" y="0"/>
                  </a:lnTo>
                </a:path>
                <a:path w="2418715" h="55244">
                  <a:moveTo>
                    <a:pt x="2414016" y="0"/>
                  </a:moveTo>
                  <a:lnTo>
                    <a:pt x="2418588" y="0"/>
                  </a:lnTo>
                </a:path>
                <a:path w="2418715" h="55244">
                  <a:moveTo>
                    <a:pt x="0" y="4572"/>
                  </a:moveTo>
                  <a:lnTo>
                    <a:pt x="4572" y="4572"/>
                  </a:lnTo>
                </a:path>
                <a:path w="2418715" h="55244">
                  <a:moveTo>
                    <a:pt x="2414016" y="4571"/>
                  </a:moveTo>
                  <a:lnTo>
                    <a:pt x="2418588" y="4571"/>
                  </a:lnTo>
                </a:path>
                <a:path w="2418715" h="55244">
                  <a:moveTo>
                    <a:pt x="0" y="9143"/>
                  </a:moveTo>
                  <a:lnTo>
                    <a:pt x="4572" y="9143"/>
                  </a:lnTo>
                </a:path>
                <a:path w="2418715" h="55244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55244">
                  <a:moveTo>
                    <a:pt x="0" y="13715"/>
                  </a:moveTo>
                  <a:lnTo>
                    <a:pt x="4572" y="13715"/>
                  </a:lnTo>
                </a:path>
                <a:path w="2418715" h="55244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55244">
                  <a:moveTo>
                    <a:pt x="0" y="18287"/>
                  </a:moveTo>
                  <a:lnTo>
                    <a:pt x="4572" y="18287"/>
                  </a:lnTo>
                </a:path>
                <a:path w="2418715" h="55244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55244">
                  <a:moveTo>
                    <a:pt x="0" y="22866"/>
                  </a:moveTo>
                  <a:lnTo>
                    <a:pt x="4572" y="22866"/>
                  </a:lnTo>
                </a:path>
                <a:path w="2418715" h="55244">
                  <a:moveTo>
                    <a:pt x="2414016" y="22866"/>
                  </a:moveTo>
                  <a:lnTo>
                    <a:pt x="2418588" y="22866"/>
                  </a:lnTo>
                </a:path>
                <a:path w="2418715" h="55244">
                  <a:moveTo>
                    <a:pt x="0" y="27438"/>
                  </a:moveTo>
                  <a:lnTo>
                    <a:pt x="4572" y="27438"/>
                  </a:lnTo>
                </a:path>
                <a:path w="2418715" h="55244">
                  <a:moveTo>
                    <a:pt x="2414016" y="27438"/>
                  </a:moveTo>
                  <a:lnTo>
                    <a:pt x="2418588" y="27438"/>
                  </a:lnTo>
                </a:path>
                <a:path w="2418715" h="55244">
                  <a:moveTo>
                    <a:pt x="0" y="32010"/>
                  </a:moveTo>
                  <a:lnTo>
                    <a:pt x="4572" y="32010"/>
                  </a:lnTo>
                </a:path>
                <a:path w="2418715" h="55244">
                  <a:moveTo>
                    <a:pt x="2414016" y="32010"/>
                  </a:moveTo>
                  <a:lnTo>
                    <a:pt x="2418588" y="32010"/>
                  </a:lnTo>
                </a:path>
                <a:path w="2418715" h="55244">
                  <a:moveTo>
                    <a:pt x="0" y="36582"/>
                  </a:moveTo>
                  <a:lnTo>
                    <a:pt x="4572" y="36582"/>
                  </a:lnTo>
                </a:path>
                <a:path w="2418715" h="55244">
                  <a:moveTo>
                    <a:pt x="2414016" y="36582"/>
                  </a:moveTo>
                  <a:lnTo>
                    <a:pt x="2418588" y="36582"/>
                  </a:lnTo>
                </a:path>
                <a:path w="2418715" h="55244">
                  <a:moveTo>
                    <a:pt x="0" y="41154"/>
                  </a:moveTo>
                  <a:lnTo>
                    <a:pt x="4572" y="41154"/>
                  </a:lnTo>
                </a:path>
                <a:path w="2418715" h="55244">
                  <a:moveTo>
                    <a:pt x="2414016" y="41154"/>
                  </a:moveTo>
                  <a:lnTo>
                    <a:pt x="2418588" y="41154"/>
                  </a:lnTo>
                </a:path>
                <a:path w="2418715" h="55244">
                  <a:moveTo>
                    <a:pt x="0" y="45726"/>
                  </a:moveTo>
                  <a:lnTo>
                    <a:pt x="4572" y="45726"/>
                  </a:lnTo>
                </a:path>
                <a:path w="2418715" h="55244">
                  <a:moveTo>
                    <a:pt x="2414016" y="45726"/>
                  </a:moveTo>
                  <a:lnTo>
                    <a:pt x="2418588" y="45726"/>
                  </a:lnTo>
                </a:path>
                <a:path w="2418715" h="55244">
                  <a:moveTo>
                    <a:pt x="0" y="50298"/>
                  </a:moveTo>
                  <a:lnTo>
                    <a:pt x="4572" y="50298"/>
                  </a:lnTo>
                </a:path>
                <a:path w="2418715" h="55244">
                  <a:moveTo>
                    <a:pt x="2414016" y="50298"/>
                  </a:moveTo>
                  <a:lnTo>
                    <a:pt x="2418588" y="50298"/>
                  </a:lnTo>
                </a:path>
                <a:path w="2418715" h="55244">
                  <a:moveTo>
                    <a:pt x="0" y="54870"/>
                  </a:moveTo>
                  <a:lnTo>
                    <a:pt x="4572" y="54870"/>
                  </a:lnTo>
                </a:path>
                <a:path w="2418715" h="55244">
                  <a:moveTo>
                    <a:pt x="2414016" y="54870"/>
                  </a:moveTo>
                  <a:lnTo>
                    <a:pt x="2418588" y="5487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73467" y="1495037"/>
              <a:ext cx="150875" cy="9144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54211" y="1399025"/>
              <a:ext cx="800100" cy="33833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706355" y="1561338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88067" y="1568196"/>
              <a:ext cx="22859" cy="1371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706355" y="158419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78039" y="1559052"/>
              <a:ext cx="118872" cy="3657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706355" y="1588770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19187" y="1586484"/>
              <a:ext cx="77724" cy="914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292339" y="1593342"/>
              <a:ext cx="2418715" cy="55244"/>
            </a:xfrm>
            <a:custGeom>
              <a:avLst/>
              <a:gdLst/>
              <a:ahLst/>
              <a:cxnLst/>
              <a:rect l="l" t="t" r="r" b="b"/>
              <a:pathLst>
                <a:path w="2418715" h="55244">
                  <a:moveTo>
                    <a:pt x="0" y="0"/>
                  </a:moveTo>
                  <a:lnTo>
                    <a:pt x="4572" y="0"/>
                  </a:lnTo>
                </a:path>
                <a:path w="2418715" h="55244">
                  <a:moveTo>
                    <a:pt x="2414016" y="0"/>
                  </a:moveTo>
                  <a:lnTo>
                    <a:pt x="2418588" y="0"/>
                  </a:lnTo>
                </a:path>
                <a:path w="2418715" h="55244">
                  <a:moveTo>
                    <a:pt x="0" y="4572"/>
                  </a:moveTo>
                  <a:lnTo>
                    <a:pt x="4572" y="4572"/>
                  </a:lnTo>
                </a:path>
                <a:path w="2418715" h="55244">
                  <a:moveTo>
                    <a:pt x="2414016" y="4571"/>
                  </a:moveTo>
                  <a:lnTo>
                    <a:pt x="2418588" y="4571"/>
                  </a:lnTo>
                </a:path>
                <a:path w="2418715" h="55244">
                  <a:moveTo>
                    <a:pt x="0" y="9143"/>
                  </a:moveTo>
                  <a:lnTo>
                    <a:pt x="4572" y="9143"/>
                  </a:lnTo>
                </a:path>
                <a:path w="2418715" h="55244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55244">
                  <a:moveTo>
                    <a:pt x="0" y="13715"/>
                  </a:moveTo>
                  <a:lnTo>
                    <a:pt x="4572" y="13715"/>
                  </a:lnTo>
                </a:path>
                <a:path w="2418715" h="55244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55244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55244">
                  <a:moveTo>
                    <a:pt x="2414016" y="22859"/>
                  </a:moveTo>
                  <a:lnTo>
                    <a:pt x="2418588" y="22859"/>
                  </a:lnTo>
                </a:path>
                <a:path w="2418715" h="55244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55244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55244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55244">
                  <a:moveTo>
                    <a:pt x="2414016" y="41147"/>
                  </a:moveTo>
                  <a:lnTo>
                    <a:pt x="2418588" y="41147"/>
                  </a:lnTo>
                </a:path>
                <a:path w="2418715" h="55244">
                  <a:moveTo>
                    <a:pt x="2414016" y="45719"/>
                  </a:moveTo>
                  <a:lnTo>
                    <a:pt x="2418588" y="45719"/>
                  </a:lnTo>
                </a:path>
                <a:path w="2418715" h="55244">
                  <a:moveTo>
                    <a:pt x="2414016" y="50291"/>
                  </a:moveTo>
                  <a:lnTo>
                    <a:pt x="2418588" y="50291"/>
                  </a:lnTo>
                </a:path>
                <a:path w="2418715" h="55244">
                  <a:moveTo>
                    <a:pt x="2414016" y="54863"/>
                  </a:moveTo>
                  <a:lnTo>
                    <a:pt x="2418588" y="54863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73467" y="1609344"/>
              <a:ext cx="150875" cy="6858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9706355" y="1652778"/>
              <a:ext cx="5080" cy="13970"/>
            </a:xfrm>
            <a:custGeom>
              <a:avLst/>
              <a:gdLst/>
              <a:ahLst/>
              <a:cxnLst/>
              <a:rect l="l" t="t" r="r" b="b"/>
              <a:pathLst>
                <a:path w="5079" h="13969">
                  <a:moveTo>
                    <a:pt x="0" y="0"/>
                  </a:moveTo>
                  <a:lnTo>
                    <a:pt x="4572" y="0"/>
                  </a:lnTo>
                </a:path>
                <a:path w="5079" h="13969">
                  <a:moveTo>
                    <a:pt x="0" y="4572"/>
                  </a:moveTo>
                  <a:lnTo>
                    <a:pt x="4572" y="4572"/>
                  </a:lnTo>
                </a:path>
                <a:path w="5079" h="13969">
                  <a:moveTo>
                    <a:pt x="0" y="9144"/>
                  </a:moveTo>
                  <a:lnTo>
                    <a:pt x="4572" y="9144"/>
                  </a:lnTo>
                </a:path>
                <a:path w="5079" h="13969">
                  <a:moveTo>
                    <a:pt x="0" y="13716"/>
                  </a:moveTo>
                  <a:lnTo>
                    <a:pt x="4572" y="13716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8067" y="1668780"/>
              <a:ext cx="22859" cy="457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9706355" y="1675638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1"/>
                  </a:moveTo>
                  <a:lnTo>
                    <a:pt x="4572" y="4571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73467" y="1655064"/>
              <a:ext cx="123444" cy="3657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9706355" y="168478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219187" y="1682496"/>
              <a:ext cx="77724" cy="914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9706355" y="1689354"/>
              <a:ext cx="5080" cy="41275"/>
            </a:xfrm>
            <a:custGeom>
              <a:avLst/>
              <a:gdLst/>
              <a:ahLst/>
              <a:cxnLst/>
              <a:rect l="l" t="t" r="r" b="b"/>
              <a:pathLst>
                <a:path w="5079" h="41275">
                  <a:moveTo>
                    <a:pt x="0" y="0"/>
                  </a:moveTo>
                  <a:lnTo>
                    <a:pt x="4572" y="0"/>
                  </a:lnTo>
                </a:path>
                <a:path w="5079" h="41275">
                  <a:moveTo>
                    <a:pt x="0" y="4572"/>
                  </a:moveTo>
                  <a:lnTo>
                    <a:pt x="4572" y="4572"/>
                  </a:lnTo>
                </a:path>
                <a:path w="5079" h="41275">
                  <a:moveTo>
                    <a:pt x="0" y="9144"/>
                  </a:moveTo>
                  <a:lnTo>
                    <a:pt x="4572" y="9144"/>
                  </a:lnTo>
                </a:path>
                <a:path w="5079" h="41275">
                  <a:moveTo>
                    <a:pt x="0" y="13716"/>
                  </a:moveTo>
                  <a:lnTo>
                    <a:pt x="4572" y="13716"/>
                  </a:lnTo>
                </a:path>
                <a:path w="5079" h="41275">
                  <a:moveTo>
                    <a:pt x="0" y="18287"/>
                  </a:moveTo>
                  <a:lnTo>
                    <a:pt x="4572" y="18287"/>
                  </a:lnTo>
                </a:path>
                <a:path w="5079" h="41275">
                  <a:moveTo>
                    <a:pt x="0" y="22860"/>
                  </a:moveTo>
                  <a:lnTo>
                    <a:pt x="4572" y="22860"/>
                  </a:lnTo>
                </a:path>
                <a:path w="5079" h="41275">
                  <a:moveTo>
                    <a:pt x="0" y="27431"/>
                  </a:moveTo>
                  <a:lnTo>
                    <a:pt x="4572" y="27431"/>
                  </a:lnTo>
                </a:path>
                <a:path w="5079" h="41275">
                  <a:moveTo>
                    <a:pt x="0" y="32003"/>
                  </a:moveTo>
                  <a:lnTo>
                    <a:pt x="4572" y="32003"/>
                  </a:lnTo>
                </a:path>
                <a:path w="5079" h="41275">
                  <a:moveTo>
                    <a:pt x="0" y="36575"/>
                  </a:moveTo>
                  <a:lnTo>
                    <a:pt x="4572" y="36575"/>
                  </a:lnTo>
                </a:path>
                <a:path w="5079" h="41275">
                  <a:moveTo>
                    <a:pt x="0" y="41148"/>
                  </a:moveTo>
                  <a:lnTo>
                    <a:pt x="4572" y="41148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73467" y="1687068"/>
              <a:ext cx="123444" cy="6400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9706355" y="1735074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253727" y="1732788"/>
              <a:ext cx="50292" cy="1371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9706355" y="1744218"/>
              <a:ext cx="5080" cy="13970"/>
            </a:xfrm>
            <a:custGeom>
              <a:avLst/>
              <a:gdLst/>
              <a:ahLst/>
              <a:cxnLst/>
              <a:rect l="l" t="t" r="r" b="b"/>
              <a:pathLst>
                <a:path w="5079" h="13969">
                  <a:moveTo>
                    <a:pt x="0" y="0"/>
                  </a:moveTo>
                  <a:lnTo>
                    <a:pt x="4572" y="0"/>
                  </a:lnTo>
                </a:path>
                <a:path w="5079" h="13969">
                  <a:moveTo>
                    <a:pt x="0" y="4572"/>
                  </a:moveTo>
                  <a:lnTo>
                    <a:pt x="4572" y="4572"/>
                  </a:lnTo>
                </a:path>
                <a:path w="5079" h="13969">
                  <a:moveTo>
                    <a:pt x="0" y="9144"/>
                  </a:moveTo>
                  <a:lnTo>
                    <a:pt x="4572" y="9144"/>
                  </a:lnTo>
                </a:path>
                <a:path w="5079" h="13969">
                  <a:moveTo>
                    <a:pt x="0" y="13715"/>
                  </a:moveTo>
                  <a:lnTo>
                    <a:pt x="4572" y="13715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1" name="object 5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942831" y="1737360"/>
              <a:ext cx="118871" cy="7772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73467" y="1737360"/>
              <a:ext cx="150875" cy="41148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9706355" y="176250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4" name="object 5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688067" y="1764792"/>
              <a:ext cx="22859" cy="914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07423" y="1737360"/>
              <a:ext cx="68580" cy="6858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833103" y="1737360"/>
              <a:ext cx="45719" cy="64008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9706355" y="177622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8" name="object 5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178039" y="1773936"/>
              <a:ext cx="118872" cy="13716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9706355" y="178079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0" name="object 60"/>
            <p:cNvSpPr/>
            <p:nvPr/>
          </p:nvSpPr>
          <p:spPr>
            <a:xfrm>
              <a:off x="7219187" y="178536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764EA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7292339" y="1785366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7187183" y="178993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7292339" y="1789938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7187183" y="179451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7292339" y="1794510"/>
              <a:ext cx="2418715" cy="50800"/>
            </a:xfrm>
            <a:custGeom>
              <a:avLst/>
              <a:gdLst/>
              <a:ahLst/>
              <a:cxnLst/>
              <a:rect l="l" t="t" r="r" b="b"/>
              <a:pathLst>
                <a:path w="2418715" h="50800">
                  <a:moveTo>
                    <a:pt x="0" y="0"/>
                  </a:moveTo>
                  <a:lnTo>
                    <a:pt x="4572" y="0"/>
                  </a:lnTo>
                </a:path>
                <a:path w="2418715" h="50800">
                  <a:moveTo>
                    <a:pt x="2414016" y="0"/>
                  </a:moveTo>
                  <a:lnTo>
                    <a:pt x="2418588" y="0"/>
                  </a:lnTo>
                </a:path>
                <a:path w="2418715" h="50800">
                  <a:moveTo>
                    <a:pt x="0" y="4572"/>
                  </a:moveTo>
                  <a:lnTo>
                    <a:pt x="4572" y="4572"/>
                  </a:lnTo>
                </a:path>
                <a:path w="2418715" h="50800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50800">
                  <a:moveTo>
                    <a:pt x="0" y="9144"/>
                  </a:moveTo>
                  <a:lnTo>
                    <a:pt x="4572" y="9144"/>
                  </a:lnTo>
                </a:path>
                <a:path w="2418715" h="50800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50800">
                  <a:moveTo>
                    <a:pt x="0" y="13716"/>
                  </a:moveTo>
                  <a:lnTo>
                    <a:pt x="4572" y="13716"/>
                  </a:lnTo>
                </a:path>
                <a:path w="2418715" h="50800">
                  <a:moveTo>
                    <a:pt x="2414016" y="13716"/>
                  </a:moveTo>
                  <a:lnTo>
                    <a:pt x="2418588" y="13716"/>
                  </a:lnTo>
                </a:path>
                <a:path w="2418715" h="50800">
                  <a:moveTo>
                    <a:pt x="0" y="18288"/>
                  </a:moveTo>
                  <a:lnTo>
                    <a:pt x="4572" y="18288"/>
                  </a:lnTo>
                </a:path>
                <a:path w="2418715" h="50800">
                  <a:moveTo>
                    <a:pt x="2414016" y="18288"/>
                  </a:moveTo>
                  <a:lnTo>
                    <a:pt x="2418588" y="18288"/>
                  </a:lnTo>
                </a:path>
                <a:path w="2418715" h="50800">
                  <a:moveTo>
                    <a:pt x="0" y="22860"/>
                  </a:moveTo>
                  <a:lnTo>
                    <a:pt x="4572" y="22860"/>
                  </a:lnTo>
                </a:path>
                <a:path w="2418715" h="50800">
                  <a:moveTo>
                    <a:pt x="2414016" y="22860"/>
                  </a:moveTo>
                  <a:lnTo>
                    <a:pt x="2418588" y="22860"/>
                  </a:lnTo>
                </a:path>
                <a:path w="2418715" h="50800">
                  <a:moveTo>
                    <a:pt x="0" y="27432"/>
                  </a:moveTo>
                  <a:lnTo>
                    <a:pt x="4572" y="27432"/>
                  </a:lnTo>
                </a:path>
                <a:path w="2418715" h="50800">
                  <a:moveTo>
                    <a:pt x="2414016" y="27432"/>
                  </a:moveTo>
                  <a:lnTo>
                    <a:pt x="2418588" y="27432"/>
                  </a:lnTo>
                </a:path>
                <a:path w="2418715" h="50800">
                  <a:moveTo>
                    <a:pt x="0" y="32004"/>
                  </a:moveTo>
                  <a:lnTo>
                    <a:pt x="4572" y="32004"/>
                  </a:lnTo>
                </a:path>
                <a:path w="2418715" h="50800">
                  <a:moveTo>
                    <a:pt x="2414016" y="32004"/>
                  </a:moveTo>
                  <a:lnTo>
                    <a:pt x="2418588" y="32004"/>
                  </a:lnTo>
                </a:path>
                <a:path w="2418715" h="50800">
                  <a:moveTo>
                    <a:pt x="0" y="36576"/>
                  </a:moveTo>
                  <a:lnTo>
                    <a:pt x="4572" y="36576"/>
                  </a:lnTo>
                </a:path>
                <a:path w="2418715" h="50800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50800">
                  <a:moveTo>
                    <a:pt x="0" y="41148"/>
                  </a:moveTo>
                  <a:lnTo>
                    <a:pt x="4572" y="41148"/>
                  </a:lnTo>
                </a:path>
                <a:path w="2418715" h="50800">
                  <a:moveTo>
                    <a:pt x="2414016" y="41148"/>
                  </a:moveTo>
                  <a:lnTo>
                    <a:pt x="2418588" y="41148"/>
                  </a:lnTo>
                </a:path>
                <a:path w="2418715" h="50800">
                  <a:moveTo>
                    <a:pt x="0" y="45720"/>
                  </a:moveTo>
                  <a:lnTo>
                    <a:pt x="4572" y="45720"/>
                  </a:lnTo>
                </a:path>
                <a:path w="2418715" h="50800">
                  <a:moveTo>
                    <a:pt x="2414016" y="45720"/>
                  </a:moveTo>
                  <a:lnTo>
                    <a:pt x="2418588" y="45720"/>
                  </a:lnTo>
                </a:path>
                <a:path w="2418715" h="50800">
                  <a:moveTo>
                    <a:pt x="0" y="50292"/>
                  </a:moveTo>
                  <a:lnTo>
                    <a:pt x="4572" y="50292"/>
                  </a:lnTo>
                </a:path>
                <a:path w="2418715" h="50800">
                  <a:moveTo>
                    <a:pt x="2414016" y="50292"/>
                  </a:moveTo>
                  <a:lnTo>
                    <a:pt x="2418588" y="5029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6" name="object 6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173467" y="1783080"/>
              <a:ext cx="150875" cy="9144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9706355" y="1849374"/>
              <a:ext cx="5080" cy="9525"/>
            </a:xfrm>
            <a:custGeom>
              <a:avLst/>
              <a:gdLst/>
              <a:ahLst/>
              <a:cxnLst/>
              <a:rect l="l" t="t" r="r" b="b"/>
              <a:pathLst>
                <a:path w="5079" h="9525">
                  <a:moveTo>
                    <a:pt x="0" y="0"/>
                  </a:moveTo>
                  <a:lnTo>
                    <a:pt x="4572" y="0"/>
                  </a:lnTo>
                </a:path>
                <a:path w="5079" h="9525">
                  <a:moveTo>
                    <a:pt x="0" y="4572"/>
                  </a:moveTo>
                  <a:lnTo>
                    <a:pt x="4572" y="4572"/>
                  </a:lnTo>
                </a:path>
                <a:path w="5079" h="9525">
                  <a:moveTo>
                    <a:pt x="0" y="9143"/>
                  </a:moveTo>
                  <a:lnTo>
                    <a:pt x="4572" y="9143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8" name="object 6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688067" y="1860804"/>
              <a:ext cx="22859" cy="9144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9706355" y="187223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0" name="object 7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173467" y="1847088"/>
              <a:ext cx="123444" cy="36576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9706355" y="187680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2" name="object 7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182611" y="1874520"/>
              <a:ext cx="114300" cy="1371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9706355" y="188137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4" name="object 7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219187" y="1883664"/>
              <a:ext cx="50291" cy="4572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7292339" y="1885950"/>
              <a:ext cx="2418715" cy="64135"/>
            </a:xfrm>
            <a:custGeom>
              <a:avLst/>
              <a:gdLst/>
              <a:ahLst/>
              <a:cxnLst/>
              <a:rect l="l" t="t" r="r" b="b"/>
              <a:pathLst>
                <a:path w="2418715" h="64135">
                  <a:moveTo>
                    <a:pt x="0" y="0"/>
                  </a:moveTo>
                  <a:lnTo>
                    <a:pt x="4572" y="0"/>
                  </a:lnTo>
                </a:path>
                <a:path w="2418715" h="64135">
                  <a:moveTo>
                    <a:pt x="2414016" y="0"/>
                  </a:moveTo>
                  <a:lnTo>
                    <a:pt x="2418588" y="0"/>
                  </a:lnTo>
                </a:path>
                <a:path w="2418715" h="64135">
                  <a:moveTo>
                    <a:pt x="0" y="4572"/>
                  </a:moveTo>
                  <a:lnTo>
                    <a:pt x="4572" y="4572"/>
                  </a:lnTo>
                </a:path>
                <a:path w="2418715" h="64135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64135">
                  <a:moveTo>
                    <a:pt x="0" y="9144"/>
                  </a:moveTo>
                  <a:lnTo>
                    <a:pt x="4572" y="9144"/>
                  </a:lnTo>
                </a:path>
                <a:path w="2418715" h="64135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64135">
                  <a:moveTo>
                    <a:pt x="0" y="13716"/>
                  </a:moveTo>
                  <a:lnTo>
                    <a:pt x="4572" y="13716"/>
                  </a:lnTo>
                </a:path>
                <a:path w="2418715" h="64135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64135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64135">
                  <a:moveTo>
                    <a:pt x="2414016" y="22859"/>
                  </a:moveTo>
                  <a:lnTo>
                    <a:pt x="2418588" y="22859"/>
                  </a:lnTo>
                </a:path>
                <a:path w="2418715" h="64135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64135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64135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64135">
                  <a:moveTo>
                    <a:pt x="2414016" y="41148"/>
                  </a:moveTo>
                  <a:lnTo>
                    <a:pt x="2418588" y="41148"/>
                  </a:lnTo>
                </a:path>
                <a:path w="2418715" h="64135">
                  <a:moveTo>
                    <a:pt x="2414016" y="45720"/>
                  </a:moveTo>
                  <a:lnTo>
                    <a:pt x="2418588" y="45720"/>
                  </a:lnTo>
                </a:path>
                <a:path w="2418715" h="64135">
                  <a:moveTo>
                    <a:pt x="2414016" y="50291"/>
                  </a:moveTo>
                  <a:lnTo>
                    <a:pt x="2418588" y="50291"/>
                  </a:lnTo>
                </a:path>
                <a:path w="2418715" h="64135">
                  <a:moveTo>
                    <a:pt x="2414016" y="54863"/>
                  </a:moveTo>
                  <a:lnTo>
                    <a:pt x="2418588" y="54863"/>
                  </a:lnTo>
                </a:path>
                <a:path w="2418715" h="64135">
                  <a:moveTo>
                    <a:pt x="2414016" y="59435"/>
                  </a:moveTo>
                  <a:lnTo>
                    <a:pt x="2418588" y="59435"/>
                  </a:lnTo>
                </a:path>
                <a:path w="2418715" h="64135">
                  <a:moveTo>
                    <a:pt x="2414016" y="64007"/>
                  </a:moveTo>
                  <a:lnTo>
                    <a:pt x="2418588" y="64007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6" name="object 7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173467" y="1901952"/>
              <a:ext cx="150875" cy="68580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7292339" y="1954530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8" name="object 7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688067" y="1956816"/>
              <a:ext cx="22859" cy="9144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7292339" y="1968246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0" name="object 80"/>
            <p:cNvSpPr/>
            <p:nvPr/>
          </p:nvSpPr>
          <p:spPr>
            <a:xfrm>
              <a:off x="7219187" y="197281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1" name="object 81"/>
            <p:cNvSpPr/>
            <p:nvPr/>
          </p:nvSpPr>
          <p:spPr>
            <a:xfrm>
              <a:off x="7292339" y="1972818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2" name="object 82"/>
            <p:cNvSpPr/>
            <p:nvPr/>
          </p:nvSpPr>
          <p:spPr>
            <a:xfrm>
              <a:off x="7219187" y="197739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764EA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3" name="object 83"/>
            <p:cNvSpPr/>
            <p:nvPr/>
          </p:nvSpPr>
          <p:spPr>
            <a:xfrm>
              <a:off x="7292339" y="1977390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4" name="object 84"/>
            <p:cNvSpPr/>
            <p:nvPr/>
          </p:nvSpPr>
          <p:spPr>
            <a:xfrm>
              <a:off x="7219187" y="198196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764EA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5" name="object 85"/>
            <p:cNvSpPr/>
            <p:nvPr/>
          </p:nvSpPr>
          <p:spPr>
            <a:xfrm>
              <a:off x="7292339" y="1981962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6" name="object 86"/>
            <p:cNvSpPr/>
            <p:nvPr/>
          </p:nvSpPr>
          <p:spPr>
            <a:xfrm>
              <a:off x="7219187" y="198653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7" name="object 87"/>
            <p:cNvSpPr/>
            <p:nvPr/>
          </p:nvSpPr>
          <p:spPr>
            <a:xfrm>
              <a:off x="7292339" y="1986534"/>
              <a:ext cx="2418715" cy="45720"/>
            </a:xfrm>
            <a:custGeom>
              <a:avLst/>
              <a:gdLst/>
              <a:ahLst/>
              <a:cxnLst/>
              <a:rect l="l" t="t" r="r" b="b"/>
              <a:pathLst>
                <a:path w="2418715" h="45719">
                  <a:moveTo>
                    <a:pt x="0" y="0"/>
                  </a:moveTo>
                  <a:lnTo>
                    <a:pt x="4572" y="0"/>
                  </a:lnTo>
                </a:path>
                <a:path w="2418715" h="45719">
                  <a:moveTo>
                    <a:pt x="2414016" y="0"/>
                  </a:moveTo>
                  <a:lnTo>
                    <a:pt x="2418588" y="0"/>
                  </a:lnTo>
                </a:path>
                <a:path w="2418715" h="45719">
                  <a:moveTo>
                    <a:pt x="0" y="4572"/>
                  </a:moveTo>
                  <a:lnTo>
                    <a:pt x="4572" y="4572"/>
                  </a:lnTo>
                </a:path>
                <a:path w="2418715" h="45719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45719">
                  <a:moveTo>
                    <a:pt x="0" y="9144"/>
                  </a:moveTo>
                  <a:lnTo>
                    <a:pt x="4572" y="9144"/>
                  </a:lnTo>
                </a:path>
                <a:path w="2418715" h="45719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45719">
                  <a:moveTo>
                    <a:pt x="0" y="13716"/>
                  </a:moveTo>
                  <a:lnTo>
                    <a:pt x="4572" y="13716"/>
                  </a:lnTo>
                </a:path>
                <a:path w="2418715" h="45719">
                  <a:moveTo>
                    <a:pt x="2414016" y="13716"/>
                  </a:moveTo>
                  <a:lnTo>
                    <a:pt x="2418588" y="13716"/>
                  </a:lnTo>
                </a:path>
                <a:path w="2418715" h="45719">
                  <a:moveTo>
                    <a:pt x="0" y="18288"/>
                  </a:moveTo>
                  <a:lnTo>
                    <a:pt x="4572" y="18288"/>
                  </a:lnTo>
                </a:path>
                <a:path w="2418715" h="45719">
                  <a:moveTo>
                    <a:pt x="2414016" y="18288"/>
                  </a:moveTo>
                  <a:lnTo>
                    <a:pt x="2418588" y="18288"/>
                  </a:lnTo>
                </a:path>
                <a:path w="2418715" h="45719">
                  <a:moveTo>
                    <a:pt x="0" y="22860"/>
                  </a:moveTo>
                  <a:lnTo>
                    <a:pt x="4572" y="22860"/>
                  </a:lnTo>
                </a:path>
                <a:path w="2418715" h="45719">
                  <a:moveTo>
                    <a:pt x="2414016" y="22860"/>
                  </a:moveTo>
                  <a:lnTo>
                    <a:pt x="2418588" y="22860"/>
                  </a:lnTo>
                </a:path>
                <a:path w="2418715" h="45719">
                  <a:moveTo>
                    <a:pt x="0" y="27432"/>
                  </a:moveTo>
                  <a:lnTo>
                    <a:pt x="4572" y="27432"/>
                  </a:lnTo>
                </a:path>
                <a:path w="2418715" h="45719">
                  <a:moveTo>
                    <a:pt x="2414016" y="27432"/>
                  </a:moveTo>
                  <a:lnTo>
                    <a:pt x="2418588" y="27432"/>
                  </a:lnTo>
                </a:path>
                <a:path w="2418715" h="45719">
                  <a:moveTo>
                    <a:pt x="0" y="32004"/>
                  </a:moveTo>
                  <a:lnTo>
                    <a:pt x="4572" y="32004"/>
                  </a:lnTo>
                </a:path>
                <a:path w="2418715" h="45719">
                  <a:moveTo>
                    <a:pt x="2414016" y="32004"/>
                  </a:moveTo>
                  <a:lnTo>
                    <a:pt x="2418588" y="32004"/>
                  </a:lnTo>
                </a:path>
                <a:path w="2418715" h="45719">
                  <a:moveTo>
                    <a:pt x="0" y="36576"/>
                  </a:moveTo>
                  <a:lnTo>
                    <a:pt x="4572" y="36576"/>
                  </a:lnTo>
                </a:path>
                <a:path w="2418715" h="45719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45719">
                  <a:moveTo>
                    <a:pt x="0" y="41148"/>
                  </a:moveTo>
                  <a:lnTo>
                    <a:pt x="4572" y="41148"/>
                  </a:lnTo>
                </a:path>
                <a:path w="2418715" h="45719">
                  <a:moveTo>
                    <a:pt x="2414016" y="41148"/>
                  </a:moveTo>
                  <a:lnTo>
                    <a:pt x="2418588" y="41148"/>
                  </a:lnTo>
                </a:path>
                <a:path w="2418715" h="45719">
                  <a:moveTo>
                    <a:pt x="0" y="45720"/>
                  </a:moveTo>
                  <a:lnTo>
                    <a:pt x="4572" y="4572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8" name="object 8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173467" y="1970532"/>
              <a:ext cx="150875" cy="96012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9706355" y="2032254"/>
              <a:ext cx="5080" cy="22860"/>
            </a:xfrm>
            <a:custGeom>
              <a:avLst/>
              <a:gdLst/>
              <a:ahLst/>
              <a:cxnLst/>
              <a:rect l="l" t="t" r="r" b="b"/>
              <a:pathLst>
                <a:path w="5079" h="22860">
                  <a:moveTo>
                    <a:pt x="0" y="0"/>
                  </a:moveTo>
                  <a:lnTo>
                    <a:pt x="4572" y="0"/>
                  </a:lnTo>
                </a:path>
                <a:path w="5079" h="22860">
                  <a:moveTo>
                    <a:pt x="0" y="4572"/>
                  </a:moveTo>
                  <a:lnTo>
                    <a:pt x="4572" y="4572"/>
                  </a:lnTo>
                </a:path>
                <a:path w="5079" h="22860">
                  <a:moveTo>
                    <a:pt x="0" y="9144"/>
                  </a:moveTo>
                  <a:lnTo>
                    <a:pt x="4572" y="9144"/>
                  </a:lnTo>
                </a:path>
                <a:path w="5079" h="22860">
                  <a:moveTo>
                    <a:pt x="0" y="13716"/>
                  </a:moveTo>
                  <a:lnTo>
                    <a:pt x="4572" y="13716"/>
                  </a:lnTo>
                </a:path>
                <a:path w="5079" h="22860">
                  <a:moveTo>
                    <a:pt x="0" y="18287"/>
                  </a:moveTo>
                  <a:lnTo>
                    <a:pt x="4572" y="18287"/>
                  </a:lnTo>
                </a:path>
                <a:path w="5079" h="22860">
                  <a:moveTo>
                    <a:pt x="0" y="22860"/>
                  </a:moveTo>
                  <a:lnTo>
                    <a:pt x="4572" y="2286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0" name="object 9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8067" y="2057400"/>
              <a:ext cx="22859" cy="4572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9706355" y="206425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2" name="object 9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173467" y="2034540"/>
              <a:ext cx="123444" cy="41148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9706355" y="2068830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4" name="object 9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178039" y="2066544"/>
              <a:ext cx="118872" cy="13716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9706355" y="207340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6" name="object 96"/>
            <p:cNvSpPr/>
            <p:nvPr/>
          </p:nvSpPr>
          <p:spPr>
            <a:xfrm>
              <a:off x="7219187" y="207797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987AB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7" name="object 97"/>
            <p:cNvSpPr/>
            <p:nvPr/>
          </p:nvSpPr>
          <p:spPr>
            <a:xfrm>
              <a:off x="7292339" y="2077974"/>
              <a:ext cx="2418715" cy="36830"/>
            </a:xfrm>
            <a:custGeom>
              <a:avLst/>
              <a:gdLst/>
              <a:ahLst/>
              <a:cxnLst/>
              <a:rect l="l" t="t" r="r" b="b"/>
              <a:pathLst>
                <a:path w="2418715" h="36830">
                  <a:moveTo>
                    <a:pt x="0" y="0"/>
                  </a:moveTo>
                  <a:lnTo>
                    <a:pt x="4572" y="0"/>
                  </a:lnTo>
                </a:path>
                <a:path w="2418715" h="36830">
                  <a:moveTo>
                    <a:pt x="2414016" y="0"/>
                  </a:moveTo>
                  <a:lnTo>
                    <a:pt x="2418588" y="0"/>
                  </a:lnTo>
                </a:path>
                <a:path w="2418715" h="36830">
                  <a:moveTo>
                    <a:pt x="0" y="4572"/>
                  </a:moveTo>
                  <a:lnTo>
                    <a:pt x="4572" y="4572"/>
                  </a:lnTo>
                </a:path>
                <a:path w="2418715" h="36830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36830">
                  <a:moveTo>
                    <a:pt x="0" y="9144"/>
                  </a:moveTo>
                  <a:lnTo>
                    <a:pt x="4572" y="9144"/>
                  </a:lnTo>
                </a:path>
                <a:path w="2418715" h="36830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36830">
                  <a:moveTo>
                    <a:pt x="0" y="13716"/>
                  </a:moveTo>
                  <a:lnTo>
                    <a:pt x="4572" y="13716"/>
                  </a:lnTo>
                </a:path>
                <a:path w="2418715" h="36830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36830">
                  <a:moveTo>
                    <a:pt x="0" y="18287"/>
                  </a:moveTo>
                  <a:lnTo>
                    <a:pt x="4572" y="18287"/>
                  </a:lnTo>
                </a:path>
                <a:path w="2418715" h="36830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36830">
                  <a:moveTo>
                    <a:pt x="0" y="22860"/>
                  </a:moveTo>
                  <a:lnTo>
                    <a:pt x="4572" y="22860"/>
                  </a:lnTo>
                </a:path>
                <a:path w="2418715" h="36830">
                  <a:moveTo>
                    <a:pt x="2414016" y="22859"/>
                  </a:moveTo>
                  <a:lnTo>
                    <a:pt x="2418588" y="22859"/>
                  </a:lnTo>
                </a:path>
                <a:path w="2418715" h="36830">
                  <a:moveTo>
                    <a:pt x="0" y="27432"/>
                  </a:moveTo>
                  <a:lnTo>
                    <a:pt x="4572" y="27432"/>
                  </a:lnTo>
                </a:path>
                <a:path w="2418715" h="36830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36830">
                  <a:moveTo>
                    <a:pt x="0" y="32003"/>
                  </a:moveTo>
                  <a:lnTo>
                    <a:pt x="4572" y="32003"/>
                  </a:lnTo>
                </a:path>
                <a:path w="2418715" h="36830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36830">
                  <a:moveTo>
                    <a:pt x="0" y="36575"/>
                  </a:moveTo>
                  <a:lnTo>
                    <a:pt x="4572" y="36575"/>
                  </a:lnTo>
                </a:path>
                <a:path w="2418715" h="36830">
                  <a:moveTo>
                    <a:pt x="2414016" y="36575"/>
                  </a:moveTo>
                  <a:lnTo>
                    <a:pt x="2418588" y="36575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8" name="object 98"/>
            <p:cNvSpPr/>
            <p:nvPr/>
          </p:nvSpPr>
          <p:spPr>
            <a:xfrm>
              <a:off x="7187183" y="211912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9" name="object 99"/>
            <p:cNvSpPr/>
            <p:nvPr/>
          </p:nvSpPr>
          <p:spPr>
            <a:xfrm>
              <a:off x="7292339" y="2119122"/>
              <a:ext cx="2418715" cy="13970"/>
            </a:xfrm>
            <a:custGeom>
              <a:avLst/>
              <a:gdLst/>
              <a:ahLst/>
              <a:cxnLst/>
              <a:rect l="l" t="t" r="r" b="b"/>
              <a:pathLst>
                <a:path w="2418715" h="13969">
                  <a:moveTo>
                    <a:pt x="0" y="0"/>
                  </a:moveTo>
                  <a:lnTo>
                    <a:pt x="4572" y="0"/>
                  </a:lnTo>
                </a:path>
                <a:path w="2418715" h="13969">
                  <a:moveTo>
                    <a:pt x="2414016" y="0"/>
                  </a:moveTo>
                  <a:lnTo>
                    <a:pt x="2418588" y="0"/>
                  </a:lnTo>
                </a:path>
                <a:path w="2418715" h="13969">
                  <a:moveTo>
                    <a:pt x="0" y="4572"/>
                  </a:moveTo>
                  <a:lnTo>
                    <a:pt x="4572" y="4572"/>
                  </a:lnTo>
                </a:path>
                <a:path w="2418715" h="13969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13969">
                  <a:moveTo>
                    <a:pt x="0" y="9144"/>
                  </a:moveTo>
                  <a:lnTo>
                    <a:pt x="4572" y="9144"/>
                  </a:lnTo>
                </a:path>
                <a:path w="2418715" h="13969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13969">
                  <a:moveTo>
                    <a:pt x="0" y="13716"/>
                  </a:moveTo>
                  <a:lnTo>
                    <a:pt x="4572" y="13716"/>
                  </a:lnTo>
                </a:path>
                <a:path w="2418715" h="13969">
                  <a:moveTo>
                    <a:pt x="2414016" y="13715"/>
                  </a:moveTo>
                  <a:lnTo>
                    <a:pt x="2418588" y="13715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0" name="object 10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173467" y="2075688"/>
              <a:ext cx="150875" cy="86868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9706355" y="2137410"/>
              <a:ext cx="5080" cy="13970"/>
            </a:xfrm>
            <a:custGeom>
              <a:avLst/>
              <a:gdLst/>
              <a:ahLst/>
              <a:cxnLst/>
              <a:rect l="l" t="t" r="r" b="b"/>
              <a:pathLst>
                <a:path w="5079" h="13969">
                  <a:moveTo>
                    <a:pt x="0" y="0"/>
                  </a:moveTo>
                  <a:lnTo>
                    <a:pt x="4572" y="0"/>
                  </a:lnTo>
                </a:path>
                <a:path w="5079" h="13969">
                  <a:moveTo>
                    <a:pt x="0" y="4572"/>
                  </a:moveTo>
                  <a:lnTo>
                    <a:pt x="4572" y="4572"/>
                  </a:lnTo>
                </a:path>
                <a:path w="5079" h="13969">
                  <a:moveTo>
                    <a:pt x="0" y="9144"/>
                  </a:moveTo>
                  <a:lnTo>
                    <a:pt x="4572" y="9144"/>
                  </a:lnTo>
                </a:path>
                <a:path w="5079" h="13969">
                  <a:moveTo>
                    <a:pt x="0" y="13716"/>
                  </a:moveTo>
                  <a:lnTo>
                    <a:pt x="4572" y="13716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2" name="object 10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8067" y="2153412"/>
              <a:ext cx="22859" cy="4572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9706355" y="2160269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4" name="object 10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173467" y="2135124"/>
              <a:ext cx="123444" cy="36576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9706355" y="216484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6" name="object 10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178039" y="2167127"/>
              <a:ext cx="118872" cy="9144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9706355" y="216941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8" name="object 10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182611" y="2171700"/>
              <a:ext cx="114300" cy="9144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9706355" y="2173986"/>
              <a:ext cx="5080" cy="13970"/>
            </a:xfrm>
            <a:custGeom>
              <a:avLst/>
              <a:gdLst/>
              <a:ahLst/>
              <a:cxnLst/>
              <a:rect l="l" t="t" r="r" b="b"/>
              <a:pathLst>
                <a:path w="5079" h="13969">
                  <a:moveTo>
                    <a:pt x="0" y="0"/>
                  </a:moveTo>
                  <a:lnTo>
                    <a:pt x="4572" y="0"/>
                  </a:lnTo>
                </a:path>
                <a:path w="5079" h="13969">
                  <a:moveTo>
                    <a:pt x="0" y="4572"/>
                  </a:moveTo>
                  <a:lnTo>
                    <a:pt x="4572" y="4572"/>
                  </a:lnTo>
                </a:path>
                <a:path w="5079" h="13969">
                  <a:moveTo>
                    <a:pt x="0" y="9144"/>
                  </a:moveTo>
                  <a:lnTo>
                    <a:pt x="4572" y="9144"/>
                  </a:lnTo>
                </a:path>
                <a:path w="5079" h="13969">
                  <a:moveTo>
                    <a:pt x="0" y="13716"/>
                  </a:moveTo>
                  <a:lnTo>
                    <a:pt x="4572" y="13716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0" name="object 11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182611" y="2176272"/>
              <a:ext cx="114300" cy="45720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7292339" y="2192274"/>
              <a:ext cx="2418715" cy="22860"/>
            </a:xfrm>
            <a:custGeom>
              <a:avLst/>
              <a:gdLst/>
              <a:ahLst/>
              <a:cxnLst/>
              <a:rect l="l" t="t" r="r" b="b"/>
              <a:pathLst>
                <a:path w="2418715" h="22860">
                  <a:moveTo>
                    <a:pt x="0" y="0"/>
                  </a:moveTo>
                  <a:lnTo>
                    <a:pt x="4572" y="0"/>
                  </a:lnTo>
                </a:path>
                <a:path w="2418715" h="22860">
                  <a:moveTo>
                    <a:pt x="2414016" y="0"/>
                  </a:moveTo>
                  <a:lnTo>
                    <a:pt x="2418588" y="0"/>
                  </a:lnTo>
                </a:path>
                <a:path w="2418715" h="22860">
                  <a:moveTo>
                    <a:pt x="0" y="4572"/>
                  </a:moveTo>
                  <a:lnTo>
                    <a:pt x="4572" y="4572"/>
                  </a:lnTo>
                </a:path>
                <a:path w="2418715" h="22860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22860">
                  <a:moveTo>
                    <a:pt x="0" y="9144"/>
                  </a:moveTo>
                  <a:lnTo>
                    <a:pt x="4572" y="9144"/>
                  </a:lnTo>
                </a:path>
                <a:path w="2418715" h="22860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22860">
                  <a:moveTo>
                    <a:pt x="0" y="13716"/>
                  </a:moveTo>
                  <a:lnTo>
                    <a:pt x="4572" y="13716"/>
                  </a:lnTo>
                </a:path>
                <a:path w="2418715" h="22860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22860">
                  <a:moveTo>
                    <a:pt x="0" y="18287"/>
                  </a:moveTo>
                  <a:lnTo>
                    <a:pt x="4572" y="18287"/>
                  </a:lnTo>
                </a:path>
                <a:path w="2418715" h="22860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22860">
                  <a:moveTo>
                    <a:pt x="0" y="22860"/>
                  </a:moveTo>
                  <a:lnTo>
                    <a:pt x="4572" y="22860"/>
                  </a:lnTo>
                </a:path>
                <a:path w="2418715" h="22860">
                  <a:moveTo>
                    <a:pt x="2414016" y="22859"/>
                  </a:moveTo>
                  <a:lnTo>
                    <a:pt x="2418588" y="22859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255763" y="221970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BBA6D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292339" y="2219705"/>
              <a:ext cx="2418715" cy="5080"/>
            </a:xfrm>
            <a:custGeom>
              <a:avLst/>
              <a:gdLst/>
              <a:ahLst/>
              <a:cxnLst/>
              <a:rect l="l" t="t" r="r" b="b"/>
              <a:pathLst>
                <a:path w="2418715" h="5080">
                  <a:moveTo>
                    <a:pt x="0" y="0"/>
                  </a:moveTo>
                  <a:lnTo>
                    <a:pt x="4572" y="0"/>
                  </a:lnTo>
                </a:path>
                <a:path w="2418715" h="5080">
                  <a:moveTo>
                    <a:pt x="2414016" y="0"/>
                  </a:moveTo>
                  <a:lnTo>
                    <a:pt x="2418588" y="0"/>
                  </a:lnTo>
                </a:path>
                <a:path w="2418715" h="5080">
                  <a:moveTo>
                    <a:pt x="0" y="4572"/>
                  </a:moveTo>
                  <a:lnTo>
                    <a:pt x="4572" y="4572"/>
                  </a:lnTo>
                </a:path>
                <a:path w="2418715" h="5080">
                  <a:moveTo>
                    <a:pt x="2414016" y="4572"/>
                  </a:moveTo>
                  <a:lnTo>
                    <a:pt x="2418588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4" name="object 11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223759" y="1737360"/>
              <a:ext cx="2537460" cy="662940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173467" y="2221991"/>
              <a:ext cx="150875" cy="41148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7292339" y="2242566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7" name="object 11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688067" y="2226563"/>
              <a:ext cx="22860" cy="32004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7292339" y="2260854"/>
              <a:ext cx="2418715" cy="5080"/>
            </a:xfrm>
            <a:custGeom>
              <a:avLst/>
              <a:gdLst/>
              <a:ahLst/>
              <a:cxnLst/>
              <a:rect l="l" t="t" r="r" b="b"/>
              <a:pathLst>
                <a:path w="2418715" h="5080">
                  <a:moveTo>
                    <a:pt x="0" y="0"/>
                  </a:moveTo>
                  <a:lnTo>
                    <a:pt x="4572" y="0"/>
                  </a:lnTo>
                </a:path>
                <a:path w="2418715" h="5080">
                  <a:moveTo>
                    <a:pt x="2414016" y="0"/>
                  </a:moveTo>
                  <a:lnTo>
                    <a:pt x="2418588" y="0"/>
                  </a:lnTo>
                </a:path>
                <a:path w="2418715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9" name="object 11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178039" y="2263140"/>
              <a:ext cx="50292" cy="13716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9706355" y="226542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1" name="object 12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219187" y="2263140"/>
              <a:ext cx="45720" cy="13716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7292339" y="2269998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3" name="object 123"/>
            <p:cNvSpPr/>
            <p:nvPr/>
          </p:nvSpPr>
          <p:spPr>
            <a:xfrm>
              <a:off x="7219187" y="227456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987AB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292339" y="2274569"/>
              <a:ext cx="2418715" cy="50800"/>
            </a:xfrm>
            <a:custGeom>
              <a:avLst/>
              <a:gdLst/>
              <a:ahLst/>
              <a:cxnLst/>
              <a:rect l="l" t="t" r="r" b="b"/>
              <a:pathLst>
                <a:path w="2418715" h="50800">
                  <a:moveTo>
                    <a:pt x="0" y="0"/>
                  </a:moveTo>
                  <a:lnTo>
                    <a:pt x="4572" y="0"/>
                  </a:lnTo>
                </a:path>
                <a:path w="2418715" h="50800">
                  <a:moveTo>
                    <a:pt x="2414016" y="0"/>
                  </a:moveTo>
                  <a:lnTo>
                    <a:pt x="2418588" y="0"/>
                  </a:lnTo>
                </a:path>
                <a:path w="2418715" h="50800">
                  <a:moveTo>
                    <a:pt x="0" y="4572"/>
                  </a:moveTo>
                  <a:lnTo>
                    <a:pt x="4572" y="4572"/>
                  </a:lnTo>
                </a:path>
                <a:path w="2418715" h="50800">
                  <a:moveTo>
                    <a:pt x="2414016" y="4571"/>
                  </a:moveTo>
                  <a:lnTo>
                    <a:pt x="2418588" y="4571"/>
                  </a:lnTo>
                </a:path>
                <a:path w="2418715" h="50800">
                  <a:moveTo>
                    <a:pt x="0" y="9144"/>
                  </a:moveTo>
                  <a:lnTo>
                    <a:pt x="4572" y="9144"/>
                  </a:lnTo>
                </a:path>
                <a:path w="2418715" h="50800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50800">
                  <a:moveTo>
                    <a:pt x="0" y="13715"/>
                  </a:moveTo>
                  <a:lnTo>
                    <a:pt x="4572" y="13715"/>
                  </a:lnTo>
                </a:path>
                <a:path w="2418715" h="50800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50800">
                  <a:moveTo>
                    <a:pt x="0" y="18287"/>
                  </a:moveTo>
                  <a:lnTo>
                    <a:pt x="4572" y="18287"/>
                  </a:lnTo>
                </a:path>
                <a:path w="2418715" h="50800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50800">
                  <a:moveTo>
                    <a:pt x="0" y="22859"/>
                  </a:moveTo>
                  <a:lnTo>
                    <a:pt x="4572" y="22859"/>
                  </a:lnTo>
                </a:path>
                <a:path w="2418715" h="50800">
                  <a:moveTo>
                    <a:pt x="2414016" y="22859"/>
                  </a:moveTo>
                  <a:lnTo>
                    <a:pt x="2418588" y="22859"/>
                  </a:lnTo>
                </a:path>
                <a:path w="2418715" h="50800">
                  <a:moveTo>
                    <a:pt x="0" y="27431"/>
                  </a:moveTo>
                  <a:lnTo>
                    <a:pt x="4572" y="27431"/>
                  </a:lnTo>
                </a:path>
                <a:path w="2418715" h="50800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50800">
                  <a:moveTo>
                    <a:pt x="0" y="32003"/>
                  </a:moveTo>
                  <a:lnTo>
                    <a:pt x="4572" y="32003"/>
                  </a:lnTo>
                </a:path>
                <a:path w="2418715" h="50800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50800">
                  <a:moveTo>
                    <a:pt x="0" y="36575"/>
                  </a:moveTo>
                  <a:lnTo>
                    <a:pt x="4572" y="36575"/>
                  </a:lnTo>
                </a:path>
                <a:path w="2418715" h="50800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50800">
                  <a:moveTo>
                    <a:pt x="0" y="41148"/>
                  </a:moveTo>
                  <a:lnTo>
                    <a:pt x="4572" y="41148"/>
                  </a:lnTo>
                </a:path>
                <a:path w="2418715" h="50800">
                  <a:moveTo>
                    <a:pt x="2414016" y="41147"/>
                  </a:moveTo>
                  <a:lnTo>
                    <a:pt x="2418588" y="41147"/>
                  </a:lnTo>
                </a:path>
                <a:path w="2418715" h="50800">
                  <a:moveTo>
                    <a:pt x="0" y="45720"/>
                  </a:moveTo>
                  <a:lnTo>
                    <a:pt x="4572" y="45720"/>
                  </a:lnTo>
                </a:path>
                <a:path w="2418715" h="50800">
                  <a:moveTo>
                    <a:pt x="2414016" y="45719"/>
                  </a:moveTo>
                  <a:lnTo>
                    <a:pt x="2418588" y="45719"/>
                  </a:lnTo>
                </a:path>
                <a:path w="2418715" h="50800">
                  <a:moveTo>
                    <a:pt x="0" y="50291"/>
                  </a:moveTo>
                  <a:lnTo>
                    <a:pt x="4572" y="50291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895843" y="232486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292339" y="2324862"/>
              <a:ext cx="2418715" cy="18415"/>
            </a:xfrm>
            <a:custGeom>
              <a:avLst/>
              <a:gdLst/>
              <a:ahLst/>
              <a:cxnLst/>
              <a:rect l="l" t="t" r="r" b="b"/>
              <a:pathLst>
                <a:path w="2418715" h="18414">
                  <a:moveTo>
                    <a:pt x="2414016" y="0"/>
                  </a:moveTo>
                  <a:lnTo>
                    <a:pt x="2418588" y="0"/>
                  </a:lnTo>
                </a:path>
                <a:path w="2418715" h="18414">
                  <a:moveTo>
                    <a:pt x="0" y="4572"/>
                  </a:moveTo>
                  <a:lnTo>
                    <a:pt x="4572" y="4572"/>
                  </a:lnTo>
                </a:path>
                <a:path w="2418715" h="18414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18414">
                  <a:moveTo>
                    <a:pt x="0" y="9144"/>
                  </a:moveTo>
                  <a:lnTo>
                    <a:pt x="4572" y="9144"/>
                  </a:lnTo>
                </a:path>
                <a:path w="2418715" h="18414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18414">
                  <a:moveTo>
                    <a:pt x="2414016" y="13716"/>
                  </a:moveTo>
                  <a:lnTo>
                    <a:pt x="2418588" y="13716"/>
                  </a:lnTo>
                </a:path>
                <a:path w="2418715" h="18414">
                  <a:moveTo>
                    <a:pt x="2414016" y="18288"/>
                  </a:moveTo>
                  <a:lnTo>
                    <a:pt x="2418588" y="18288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7" name="object 12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872983" y="2400300"/>
              <a:ext cx="64008" cy="36576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251191" y="2400300"/>
              <a:ext cx="109728" cy="36576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093707" y="2395727"/>
              <a:ext cx="41148" cy="41148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697211" y="2345436"/>
              <a:ext cx="68579" cy="91440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8485631" y="2400300"/>
              <a:ext cx="41148" cy="36576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7144511" y="1303013"/>
              <a:ext cx="2646045" cy="1173480"/>
            </a:xfrm>
            <a:custGeom>
              <a:avLst/>
              <a:gdLst/>
              <a:ahLst/>
              <a:cxnLst/>
              <a:rect l="l" t="t" r="r" b="b"/>
              <a:pathLst>
                <a:path w="2646045" h="1173480">
                  <a:moveTo>
                    <a:pt x="2645664" y="1168914"/>
                  </a:moveTo>
                  <a:lnTo>
                    <a:pt x="2645664" y="4572"/>
                  </a:lnTo>
                  <a:lnTo>
                    <a:pt x="2639568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1168914"/>
                  </a:lnTo>
                  <a:lnTo>
                    <a:pt x="4572" y="1173486"/>
                  </a:lnTo>
                  <a:lnTo>
                    <a:pt x="10668" y="1173486"/>
                  </a:lnTo>
                  <a:lnTo>
                    <a:pt x="10668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2621280" y="22860"/>
                  </a:lnTo>
                  <a:lnTo>
                    <a:pt x="2621280" y="10668"/>
                  </a:lnTo>
                  <a:lnTo>
                    <a:pt x="2633472" y="22860"/>
                  </a:lnTo>
                  <a:lnTo>
                    <a:pt x="2633472" y="1173486"/>
                  </a:lnTo>
                  <a:lnTo>
                    <a:pt x="2639568" y="1173486"/>
                  </a:lnTo>
                  <a:lnTo>
                    <a:pt x="2645664" y="1168914"/>
                  </a:lnTo>
                  <a:close/>
                </a:path>
                <a:path w="2646045" h="1173480">
                  <a:moveTo>
                    <a:pt x="22860" y="22860"/>
                  </a:moveTo>
                  <a:lnTo>
                    <a:pt x="22860" y="10668"/>
                  </a:lnTo>
                  <a:lnTo>
                    <a:pt x="10668" y="22860"/>
                  </a:lnTo>
                  <a:lnTo>
                    <a:pt x="22860" y="22860"/>
                  </a:lnTo>
                  <a:close/>
                </a:path>
                <a:path w="2646045" h="1173480">
                  <a:moveTo>
                    <a:pt x="22860" y="1150626"/>
                  </a:moveTo>
                  <a:lnTo>
                    <a:pt x="22860" y="22860"/>
                  </a:lnTo>
                  <a:lnTo>
                    <a:pt x="10668" y="22860"/>
                  </a:lnTo>
                  <a:lnTo>
                    <a:pt x="10668" y="1150626"/>
                  </a:lnTo>
                  <a:lnTo>
                    <a:pt x="22860" y="1150626"/>
                  </a:lnTo>
                  <a:close/>
                </a:path>
                <a:path w="2646045" h="1173480">
                  <a:moveTo>
                    <a:pt x="2633472" y="1150626"/>
                  </a:moveTo>
                  <a:lnTo>
                    <a:pt x="10668" y="1150626"/>
                  </a:lnTo>
                  <a:lnTo>
                    <a:pt x="22860" y="1161294"/>
                  </a:lnTo>
                  <a:lnTo>
                    <a:pt x="22860" y="1173486"/>
                  </a:lnTo>
                  <a:lnTo>
                    <a:pt x="2621280" y="1173486"/>
                  </a:lnTo>
                  <a:lnTo>
                    <a:pt x="2621280" y="1161294"/>
                  </a:lnTo>
                  <a:lnTo>
                    <a:pt x="2633472" y="1150626"/>
                  </a:lnTo>
                  <a:close/>
                </a:path>
                <a:path w="2646045" h="1173480">
                  <a:moveTo>
                    <a:pt x="22860" y="1173486"/>
                  </a:moveTo>
                  <a:lnTo>
                    <a:pt x="22860" y="1161294"/>
                  </a:lnTo>
                  <a:lnTo>
                    <a:pt x="10668" y="1150626"/>
                  </a:lnTo>
                  <a:lnTo>
                    <a:pt x="10668" y="1173486"/>
                  </a:lnTo>
                  <a:lnTo>
                    <a:pt x="22860" y="1173486"/>
                  </a:lnTo>
                  <a:close/>
                </a:path>
                <a:path w="2646045" h="1173480">
                  <a:moveTo>
                    <a:pt x="2633472" y="22860"/>
                  </a:moveTo>
                  <a:lnTo>
                    <a:pt x="2621280" y="10668"/>
                  </a:lnTo>
                  <a:lnTo>
                    <a:pt x="2621280" y="22860"/>
                  </a:lnTo>
                  <a:lnTo>
                    <a:pt x="2633472" y="22860"/>
                  </a:lnTo>
                  <a:close/>
                </a:path>
                <a:path w="2646045" h="1173480">
                  <a:moveTo>
                    <a:pt x="2633472" y="1150626"/>
                  </a:moveTo>
                  <a:lnTo>
                    <a:pt x="2633472" y="22860"/>
                  </a:lnTo>
                  <a:lnTo>
                    <a:pt x="2621280" y="22860"/>
                  </a:lnTo>
                  <a:lnTo>
                    <a:pt x="2621280" y="1150626"/>
                  </a:lnTo>
                  <a:lnTo>
                    <a:pt x="2633472" y="1150626"/>
                  </a:lnTo>
                  <a:close/>
                </a:path>
                <a:path w="2646045" h="1173480">
                  <a:moveTo>
                    <a:pt x="2633472" y="1173486"/>
                  </a:moveTo>
                  <a:lnTo>
                    <a:pt x="2633472" y="1150626"/>
                  </a:lnTo>
                  <a:lnTo>
                    <a:pt x="2621280" y="1161294"/>
                  </a:lnTo>
                  <a:lnTo>
                    <a:pt x="2621280" y="1173486"/>
                  </a:lnTo>
                  <a:lnTo>
                    <a:pt x="2633472" y="117348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6" name="Date Placeholder 135">
            <a:extLst>
              <a:ext uri="{FF2B5EF4-FFF2-40B4-BE49-F238E27FC236}">
                <a16:creationId xmlns:a16="http://schemas.microsoft.com/office/drawing/2014/main" id="{A4C81D3E-76FC-242A-9D32-FE9B43C5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C00E-D9B2-4269-919A-99827E9FAE97}" type="datetime1">
              <a:rPr lang="en-US" smtClean="0"/>
              <a:t>3/17/2025</a:t>
            </a:fld>
            <a:endParaRPr lang="en-US"/>
          </a:p>
        </p:txBody>
      </p:sp>
      <p:sp>
        <p:nvSpPr>
          <p:cNvPr id="137" name="Footer Placeholder 136">
            <a:extLst>
              <a:ext uri="{FF2B5EF4-FFF2-40B4-BE49-F238E27FC236}">
                <a16:creationId xmlns:a16="http://schemas.microsoft.com/office/drawing/2014/main" id="{2BF64564-89CB-0B73-BEAF-3082650C3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38" name="Slide Number Placeholder 137">
            <a:extLst>
              <a:ext uri="{FF2B5EF4-FFF2-40B4-BE49-F238E27FC236}">
                <a16:creationId xmlns:a16="http://schemas.microsoft.com/office/drawing/2014/main" id="{C27B9900-836E-B1FF-A20E-FF7749CF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LSTMs</a:t>
            </a:r>
            <a:r>
              <a:rPr spc="-57" dirty="0"/>
              <a:t> </a:t>
            </a:r>
            <a:r>
              <a:rPr dirty="0"/>
              <a:t>-</a:t>
            </a:r>
            <a:r>
              <a:rPr spc="-22" dirty="0"/>
              <a:t> </a:t>
            </a:r>
            <a:r>
              <a:rPr spc="-9" dirty="0"/>
              <a:t>Gates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95046" y="1755945"/>
            <a:ext cx="4000954" cy="380082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77623" indent="-166416">
              <a:spcBef>
                <a:spcPts val="84"/>
              </a:spcBef>
              <a:buFont typeface="Arial MT"/>
              <a:buChar char="•"/>
              <a:tabLst>
                <a:tab pos="177623" algn="l"/>
              </a:tabLst>
            </a:pPr>
            <a:r>
              <a:rPr sz="2400" dirty="0">
                <a:latin typeface="Calibri"/>
                <a:cs typeface="Calibri"/>
              </a:rPr>
              <a:t>Concept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Gating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19400" y="2743200"/>
            <a:ext cx="6331323" cy="3345180"/>
            <a:chOff x="2171700" y="3031236"/>
            <a:chExt cx="5057140" cy="27190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2179" y="3063240"/>
              <a:ext cx="4995671" cy="26548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171700" y="3031236"/>
              <a:ext cx="5057140" cy="2719070"/>
            </a:xfrm>
            <a:custGeom>
              <a:avLst/>
              <a:gdLst/>
              <a:ahLst/>
              <a:cxnLst/>
              <a:rect l="l" t="t" r="r" b="b"/>
              <a:pathLst>
                <a:path w="5057140" h="2719070">
                  <a:moveTo>
                    <a:pt x="5056632" y="2711196"/>
                  </a:moveTo>
                  <a:lnTo>
                    <a:pt x="5056632" y="7620"/>
                  </a:lnTo>
                  <a:lnTo>
                    <a:pt x="5050536" y="0"/>
                  </a:lnTo>
                  <a:lnTo>
                    <a:pt x="6096" y="0"/>
                  </a:lnTo>
                  <a:lnTo>
                    <a:pt x="0" y="7620"/>
                  </a:lnTo>
                  <a:lnTo>
                    <a:pt x="0" y="2711196"/>
                  </a:lnTo>
                  <a:lnTo>
                    <a:pt x="6096" y="2718816"/>
                  </a:lnTo>
                  <a:lnTo>
                    <a:pt x="15240" y="2718816"/>
                  </a:lnTo>
                  <a:lnTo>
                    <a:pt x="15240" y="32004"/>
                  </a:lnTo>
                  <a:lnTo>
                    <a:pt x="30480" y="16764"/>
                  </a:lnTo>
                  <a:lnTo>
                    <a:pt x="30480" y="32004"/>
                  </a:lnTo>
                  <a:lnTo>
                    <a:pt x="5026152" y="32004"/>
                  </a:lnTo>
                  <a:lnTo>
                    <a:pt x="5026152" y="16764"/>
                  </a:lnTo>
                  <a:lnTo>
                    <a:pt x="5041392" y="32004"/>
                  </a:lnTo>
                  <a:lnTo>
                    <a:pt x="5041392" y="2718816"/>
                  </a:lnTo>
                  <a:lnTo>
                    <a:pt x="5050536" y="2718816"/>
                  </a:lnTo>
                  <a:lnTo>
                    <a:pt x="5056632" y="2711196"/>
                  </a:lnTo>
                  <a:close/>
                </a:path>
                <a:path w="5057140" h="2719070">
                  <a:moveTo>
                    <a:pt x="30480" y="32004"/>
                  </a:moveTo>
                  <a:lnTo>
                    <a:pt x="30480" y="16764"/>
                  </a:lnTo>
                  <a:lnTo>
                    <a:pt x="15240" y="32004"/>
                  </a:lnTo>
                  <a:lnTo>
                    <a:pt x="30480" y="32004"/>
                  </a:lnTo>
                  <a:close/>
                </a:path>
                <a:path w="5057140" h="2719070">
                  <a:moveTo>
                    <a:pt x="30480" y="2686812"/>
                  </a:moveTo>
                  <a:lnTo>
                    <a:pt x="30480" y="32004"/>
                  </a:lnTo>
                  <a:lnTo>
                    <a:pt x="15240" y="32004"/>
                  </a:lnTo>
                  <a:lnTo>
                    <a:pt x="15240" y="2686812"/>
                  </a:lnTo>
                  <a:lnTo>
                    <a:pt x="30480" y="2686812"/>
                  </a:lnTo>
                  <a:close/>
                </a:path>
                <a:path w="5057140" h="2719070">
                  <a:moveTo>
                    <a:pt x="5041392" y="2686812"/>
                  </a:moveTo>
                  <a:lnTo>
                    <a:pt x="15240" y="2686812"/>
                  </a:lnTo>
                  <a:lnTo>
                    <a:pt x="30480" y="2703576"/>
                  </a:lnTo>
                  <a:lnTo>
                    <a:pt x="30480" y="2718816"/>
                  </a:lnTo>
                  <a:lnTo>
                    <a:pt x="5026152" y="2718816"/>
                  </a:lnTo>
                  <a:lnTo>
                    <a:pt x="5026152" y="2703576"/>
                  </a:lnTo>
                  <a:lnTo>
                    <a:pt x="5041392" y="2686812"/>
                  </a:lnTo>
                  <a:close/>
                </a:path>
                <a:path w="5057140" h="2719070">
                  <a:moveTo>
                    <a:pt x="30480" y="2718816"/>
                  </a:moveTo>
                  <a:lnTo>
                    <a:pt x="30480" y="2703576"/>
                  </a:lnTo>
                  <a:lnTo>
                    <a:pt x="15240" y="2686812"/>
                  </a:lnTo>
                  <a:lnTo>
                    <a:pt x="15240" y="2718816"/>
                  </a:lnTo>
                  <a:lnTo>
                    <a:pt x="30480" y="2718816"/>
                  </a:lnTo>
                  <a:close/>
                </a:path>
                <a:path w="5057140" h="2719070">
                  <a:moveTo>
                    <a:pt x="5041392" y="32004"/>
                  </a:moveTo>
                  <a:lnTo>
                    <a:pt x="5026152" y="16764"/>
                  </a:lnTo>
                  <a:lnTo>
                    <a:pt x="5026152" y="32004"/>
                  </a:lnTo>
                  <a:lnTo>
                    <a:pt x="5041392" y="32004"/>
                  </a:lnTo>
                  <a:close/>
                </a:path>
                <a:path w="5057140" h="2719070">
                  <a:moveTo>
                    <a:pt x="5041392" y="2686812"/>
                  </a:moveTo>
                  <a:lnTo>
                    <a:pt x="5041392" y="32004"/>
                  </a:lnTo>
                  <a:lnTo>
                    <a:pt x="5026152" y="32004"/>
                  </a:lnTo>
                  <a:lnTo>
                    <a:pt x="5026152" y="2686812"/>
                  </a:lnTo>
                  <a:lnTo>
                    <a:pt x="5041392" y="2686812"/>
                  </a:lnTo>
                  <a:close/>
                </a:path>
                <a:path w="5057140" h="2719070">
                  <a:moveTo>
                    <a:pt x="5041392" y="2718816"/>
                  </a:moveTo>
                  <a:lnTo>
                    <a:pt x="5041392" y="2686812"/>
                  </a:lnTo>
                  <a:lnTo>
                    <a:pt x="5026152" y="2703576"/>
                  </a:lnTo>
                  <a:lnTo>
                    <a:pt x="5026152" y="2718816"/>
                  </a:lnTo>
                  <a:lnTo>
                    <a:pt x="5041392" y="271881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2B50C80-3882-9E24-1927-BAA277F71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AFAFB-03F7-42DC-A0F5-F79529C58A77}" type="datetime1">
              <a:rPr lang="en-US" smtClean="0"/>
              <a:t>3/17/2025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A4F2D1-A56F-7B4B-317C-393D5C5EE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586E199-FB95-55D0-E13B-092A2CF8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LSTM</a:t>
            </a:r>
            <a:r>
              <a:rPr spc="-40" dirty="0"/>
              <a:t> </a:t>
            </a:r>
            <a:r>
              <a:rPr dirty="0"/>
              <a:t>-</a:t>
            </a:r>
            <a:r>
              <a:rPr spc="-26" dirty="0"/>
              <a:t> </a:t>
            </a:r>
            <a:r>
              <a:rPr spc="-9" dirty="0"/>
              <a:t>Gates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01894" y="1567254"/>
            <a:ext cx="7035706" cy="443899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77062" indent="-165856">
              <a:spcBef>
                <a:spcPts val="101"/>
              </a:spcBef>
              <a:buFont typeface="Arial MT"/>
              <a:buChar char="•"/>
              <a:tabLst>
                <a:tab pos="177062" algn="l"/>
              </a:tabLst>
            </a:pPr>
            <a:r>
              <a:rPr sz="2800" dirty="0">
                <a:latin typeface="Calibri"/>
                <a:cs typeface="Calibri"/>
              </a:rPr>
              <a:t>Plus Junction</a:t>
            </a:r>
            <a:r>
              <a:rPr sz="2800" spc="-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spc="-18" dirty="0">
                <a:latin typeface="Calibri"/>
                <a:cs typeface="Calibri"/>
              </a:rPr>
              <a:t>Point-</a:t>
            </a:r>
            <a:r>
              <a:rPr sz="2800" dirty="0">
                <a:latin typeface="Calibri"/>
                <a:cs typeface="Calibri"/>
              </a:rPr>
              <a:t>wise</a:t>
            </a:r>
            <a:r>
              <a:rPr sz="2800" spc="-13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Addition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82931" y="2386092"/>
            <a:ext cx="7294469" cy="3557508"/>
            <a:chOff x="2240280" y="3311652"/>
            <a:chExt cx="5274945" cy="28746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2284" y="3342132"/>
              <a:ext cx="5212079" cy="28117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40280" y="3311652"/>
              <a:ext cx="5274945" cy="2874645"/>
            </a:xfrm>
            <a:custGeom>
              <a:avLst/>
              <a:gdLst/>
              <a:ahLst/>
              <a:cxnLst/>
              <a:rect l="l" t="t" r="r" b="b"/>
              <a:pathLst>
                <a:path w="5274945" h="2874645">
                  <a:moveTo>
                    <a:pt x="5274564" y="2866644"/>
                  </a:moveTo>
                  <a:lnTo>
                    <a:pt x="5274564" y="6096"/>
                  </a:lnTo>
                  <a:lnTo>
                    <a:pt x="5268468" y="0"/>
                  </a:lnTo>
                  <a:lnTo>
                    <a:pt x="7620" y="0"/>
                  </a:lnTo>
                  <a:lnTo>
                    <a:pt x="0" y="6096"/>
                  </a:lnTo>
                  <a:lnTo>
                    <a:pt x="0" y="2866644"/>
                  </a:lnTo>
                  <a:lnTo>
                    <a:pt x="7620" y="2874264"/>
                  </a:lnTo>
                  <a:lnTo>
                    <a:pt x="16764" y="2874264"/>
                  </a:lnTo>
                  <a:lnTo>
                    <a:pt x="16764" y="30480"/>
                  </a:lnTo>
                  <a:lnTo>
                    <a:pt x="32004" y="15240"/>
                  </a:lnTo>
                  <a:lnTo>
                    <a:pt x="32004" y="30480"/>
                  </a:lnTo>
                  <a:lnTo>
                    <a:pt x="5244084" y="30480"/>
                  </a:lnTo>
                  <a:lnTo>
                    <a:pt x="5244084" y="15240"/>
                  </a:lnTo>
                  <a:lnTo>
                    <a:pt x="5259324" y="30480"/>
                  </a:lnTo>
                  <a:lnTo>
                    <a:pt x="5259324" y="2874264"/>
                  </a:lnTo>
                  <a:lnTo>
                    <a:pt x="5268468" y="2874264"/>
                  </a:lnTo>
                  <a:lnTo>
                    <a:pt x="5274564" y="2866644"/>
                  </a:lnTo>
                  <a:close/>
                </a:path>
                <a:path w="5274945" h="2874645">
                  <a:moveTo>
                    <a:pt x="32004" y="30480"/>
                  </a:moveTo>
                  <a:lnTo>
                    <a:pt x="32004" y="15240"/>
                  </a:lnTo>
                  <a:lnTo>
                    <a:pt x="16764" y="30480"/>
                  </a:lnTo>
                  <a:lnTo>
                    <a:pt x="32004" y="30480"/>
                  </a:lnTo>
                  <a:close/>
                </a:path>
                <a:path w="5274945" h="2874645">
                  <a:moveTo>
                    <a:pt x="32004" y="2842260"/>
                  </a:moveTo>
                  <a:lnTo>
                    <a:pt x="32004" y="30480"/>
                  </a:lnTo>
                  <a:lnTo>
                    <a:pt x="16764" y="30480"/>
                  </a:lnTo>
                  <a:lnTo>
                    <a:pt x="16764" y="2842260"/>
                  </a:lnTo>
                  <a:lnTo>
                    <a:pt x="32004" y="2842260"/>
                  </a:lnTo>
                  <a:close/>
                </a:path>
                <a:path w="5274945" h="2874645">
                  <a:moveTo>
                    <a:pt x="5259324" y="2842260"/>
                  </a:moveTo>
                  <a:lnTo>
                    <a:pt x="16764" y="2842260"/>
                  </a:lnTo>
                  <a:lnTo>
                    <a:pt x="32004" y="2859024"/>
                  </a:lnTo>
                  <a:lnTo>
                    <a:pt x="32004" y="2874264"/>
                  </a:lnTo>
                  <a:lnTo>
                    <a:pt x="5244084" y="2874264"/>
                  </a:lnTo>
                  <a:lnTo>
                    <a:pt x="5244084" y="2859024"/>
                  </a:lnTo>
                  <a:lnTo>
                    <a:pt x="5259324" y="2842260"/>
                  </a:lnTo>
                  <a:close/>
                </a:path>
                <a:path w="5274945" h="2874645">
                  <a:moveTo>
                    <a:pt x="32004" y="2874264"/>
                  </a:moveTo>
                  <a:lnTo>
                    <a:pt x="32004" y="2859024"/>
                  </a:lnTo>
                  <a:lnTo>
                    <a:pt x="16764" y="2842260"/>
                  </a:lnTo>
                  <a:lnTo>
                    <a:pt x="16764" y="2874264"/>
                  </a:lnTo>
                  <a:lnTo>
                    <a:pt x="32004" y="2874264"/>
                  </a:lnTo>
                  <a:close/>
                </a:path>
                <a:path w="5274945" h="2874645">
                  <a:moveTo>
                    <a:pt x="5259324" y="30480"/>
                  </a:moveTo>
                  <a:lnTo>
                    <a:pt x="5244084" y="15240"/>
                  </a:lnTo>
                  <a:lnTo>
                    <a:pt x="5244084" y="30480"/>
                  </a:lnTo>
                  <a:lnTo>
                    <a:pt x="5259324" y="30480"/>
                  </a:lnTo>
                  <a:close/>
                </a:path>
                <a:path w="5274945" h="2874645">
                  <a:moveTo>
                    <a:pt x="5259324" y="2842260"/>
                  </a:moveTo>
                  <a:lnTo>
                    <a:pt x="5259324" y="30480"/>
                  </a:lnTo>
                  <a:lnTo>
                    <a:pt x="5244084" y="30480"/>
                  </a:lnTo>
                  <a:lnTo>
                    <a:pt x="5244084" y="2842260"/>
                  </a:lnTo>
                  <a:lnTo>
                    <a:pt x="5259324" y="2842260"/>
                  </a:lnTo>
                  <a:close/>
                </a:path>
                <a:path w="5274945" h="2874645">
                  <a:moveTo>
                    <a:pt x="5259324" y="2874264"/>
                  </a:moveTo>
                  <a:lnTo>
                    <a:pt x="5259324" y="2842260"/>
                  </a:lnTo>
                  <a:lnTo>
                    <a:pt x="5244084" y="2859024"/>
                  </a:lnTo>
                  <a:lnTo>
                    <a:pt x="5244084" y="2874264"/>
                  </a:lnTo>
                  <a:lnTo>
                    <a:pt x="5259324" y="2874264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B15E19A-7275-6C89-9907-35ADF4270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5BD90-EBB5-46B7-9ACE-CAE16A836423}" type="datetime1">
              <a:rPr lang="en-US" smtClean="0"/>
              <a:t>3/17/2025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EC98B7C-9155-28F0-A37E-D27386CFD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B9CD143-50F5-B28B-A3AA-93E49CEF6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345039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spc="-9" dirty="0"/>
              <a:t>LSTMs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68566"/>
            <a:ext cx="9829800" cy="2557902"/>
          </a:xfrm>
          <a:prstGeom prst="rect">
            <a:avLst/>
          </a:prstGeom>
        </p:spPr>
        <p:txBody>
          <a:bodyPr vert="horz" wrap="square" lIns="0" tIns="46504" rIns="0" bIns="0" rtlCol="0">
            <a:spAutoFit/>
          </a:bodyPr>
          <a:lstStyle/>
          <a:p>
            <a:pPr marL="198915" marR="26896" indent="-165856">
              <a:spcBef>
                <a:spcPts val="366"/>
              </a:spcBef>
              <a:buFont typeface="Arial MT"/>
              <a:buChar char="•"/>
              <a:tabLst>
                <a:tab pos="200036" algn="l"/>
              </a:tabLst>
            </a:pPr>
            <a:r>
              <a:rPr lang="en-US" sz="2200" dirty="0"/>
              <a:t>The first step in our LSTM is to decide what </a:t>
            </a:r>
            <a:r>
              <a:rPr lang="en-US" sz="2200" dirty="0">
                <a:solidFill>
                  <a:srgbClr val="00B0F0"/>
                </a:solidFill>
              </a:rPr>
              <a:t>information we’re going to throw away from the cell state</a:t>
            </a:r>
            <a:r>
              <a:rPr lang="en-US" sz="2200" dirty="0"/>
              <a:t>. This decision is made by a sigmoid layer called the “</a:t>
            </a:r>
            <a:r>
              <a:rPr lang="en-US" sz="2200" dirty="0">
                <a:solidFill>
                  <a:srgbClr val="00B0F0"/>
                </a:solidFill>
              </a:rPr>
              <a:t>forget gate layer</a:t>
            </a:r>
            <a:r>
              <a:rPr lang="en-US" sz="2200" dirty="0"/>
              <a:t>.” </a:t>
            </a:r>
          </a:p>
          <a:p>
            <a:pPr marL="198915" marR="26896" indent="-165856">
              <a:spcBef>
                <a:spcPts val="366"/>
              </a:spcBef>
              <a:buFont typeface="Arial MT"/>
              <a:buChar char="•"/>
              <a:tabLst>
                <a:tab pos="200036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FF0000"/>
                </a:solidFill>
                <a:latin typeface="Calibri"/>
                <a:cs typeface="Calibri"/>
              </a:rPr>
              <a:t>forget</a:t>
            </a:r>
            <a:r>
              <a:rPr sz="2200" i="1" spc="-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FF0000"/>
                </a:solidFill>
                <a:latin typeface="Calibri"/>
                <a:cs typeface="Calibri"/>
              </a:rPr>
              <a:t>layer</a:t>
            </a:r>
            <a:r>
              <a:rPr sz="2200" i="1" spc="-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looks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FF0000"/>
                </a:solidFill>
                <a:latin typeface="Calibri"/>
                <a:cs typeface="Calibri"/>
              </a:rPr>
              <a:t>h</a:t>
            </a:r>
            <a:r>
              <a:rPr sz="2200" i="1" baseline="-20370" dirty="0">
                <a:solidFill>
                  <a:srgbClr val="FF0000"/>
                </a:solidFill>
                <a:latin typeface="Calibri"/>
                <a:cs typeface="Calibri"/>
              </a:rPr>
              <a:t>t−1</a:t>
            </a:r>
            <a:r>
              <a:rPr sz="2200" i="1" spc="218" baseline="-203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2200" i="1" baseline="-2037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44" dirty="0">
                <a:latin typeface="Calibri"/>
                <a:cs typeface="Calibri"/>
              </a:rPr>
              <a:t>0 	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cell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state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i="1" spc="-9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200" i="1" spc="-13" baseline="-20370" dirty="0">
                <a:solidFill>
                  <a:srgbClr val="FF0000"/>
                </a:solidFill>
                <a:latin typeface="Calibri"/>
                <a:cs typeface="Calibri"/>
              </a:rPr>
              <a:t>t−1</a:t>
            </a:r>
            <a:r>
              <a:rPr sz="2200" spc="-9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198915" marR="1199093" indent="-165856">
              <a:spcBef>
                <a:spcPts val="723"/>
              </a:spcBef>
              <a:buFont typeface="Arial MT"/>
              <a:buChar char="•"/>
              <a:tabLst>
                <a:tab pos="200036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represents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“</a:t>
            </a:r>
            <a:r>
              <a:rPr sz="2200" spc="-9" dirty="0">
                <a:solidFill>
                  <a:srgbClr val="FFC000"/>
                </a:solidFill>
                <a:latin typeface="Calibri"/>
                <a:cs typeface="Calibri"/>
              </a:rPr>
              <a:t>completely</a:t>
            </a:r>
            <a:r>
              <a:rPr sz="2200" spc="-57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C000"/>
                </a:solidFill>
                <a:latin typeface="Calibri"/>
                <a:cs typeface="Calibri"/>
              </a:rPr>
              <a:t>keep</a:t>
            </a:r>
            <a:r>
              <a:rPr sz="2200" spc="-49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C000"/>
                </a:solidFill>
                <a:latin typeface="Calibri"/>
                <a:cs typeface="Calibri"/>
              </a:rPr>
              <a:t>this</a:t>
            </a:r>
            <a:r>
              <a:rPr sz="2200" dirty="0">
                <a:latin typeface="Calibri"/>
                <a:cs typeface="Calibri"/>
              </a:rPr>
              <a:t>”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while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represents 	“</a:t>
            </a:r>
            <a:r>
              <a:rPr sz="2200" spc="-9" dirty="0">
                <a:solidFill>
                  <a:srgbClr val="FF0000"/>
                </a:solidFill>
                <a:latin typeface="Calibri"/>
                <a:cs typeface="Calibri"/>
              </a:rPr>
              <a:t>completely</a:t>
            </a:r>
            <a:r>
              <a:rPr sz="2200" spc="-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get</a:t>
            </a:r>
            <a:r>
              <a:rPr sz="2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rid</a:t>
            </a:r>
            <a:r>
              <a:rPr sz="2200" spc="-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200" spc="-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r>
              <a:rPr sz="2200" spc="-9" dirty="0">
                <a:latin typeface="Calibri"/>
                <a:cs typeface="Calibri"/>
              </a:rPr>
              <a:t>.”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847719"/>
            <a:ext cx="5883469" cy="9716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7382" y="4426468"/>
            <a:ext cx="3141811" cy="206363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400800" y="5069241"/>
            <a:ext cx="3581400" cy="569274"/>
            <a:chOff x="5689092" y="4855464"/>
            <a:chExt cx="3522345" cy="55943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9236" y="5030723"/>
              <a:ext cx="3335915" cy="28803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89092" y="4855464"/>
              <a:ext cx="3522345" cy="559435"/>
            </a:xfrm>
            <a:custGeom>
              <a:avLst/>
              <a:gdLst/>
              <a:ahLst/>
              <a:cxnLst/>
              <a:rect l="l" t="t" r="r" b="b"/>
              <a:pathLst>
                <a:path w="3522345" h="559435">
                  <a:moveTo>
                    <a:pt x="3521964" y="554736"/>
                  </a:moveTo>
                  <a:lnTo>
                    <a:pt x="3521964" y="6096"/>
                  </a:lnTo>
                  <a:lnTo>
                    <a:pt x="3515868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554736"/>
                  </a:lnTo>
                  <a:lnTo>
                    <a:pt x="6096" y="559308"/>
                  </a:lnTo>
                  <a:lnTo>
                    <a:pt x="12192" y="559308"/>
                  </a:lnTo>
                  <a:lnTo>
                    <a:pt x="12192" y="24384"/>
                  </a:lnTo>
                  <a:lnTo>
                    <a:pt x="24384" y="12192"/>
                  </a:lnTo>
                  <a:lnTo>
                    <a:pt x="24384" y="24384"/>
                  </a:lnTo>
                  <a:lnTo>
                    <a:pt x="3497580" y="24384"/>
                  </a:lnTo>
                  <a:lnTo>
                    <a:pt x="3497580" y="12192"/>
                  </a:lnTo>
                  <a:lnTo>
                    <a:pt x="3509772" y="24384"/>
                  </a:lnTo>
                  <a:lnTo>
                    <a:pt x="3509772" y="559308"/>
                  </a:lnTo>
                  <a:lnTo>
                    <a:pt x="3515868" y="559308"/>
                  </a:lnTo>
                  <a:lnTo>
                    <a:pt x="3521964" y="554736"/>
                  </a:lnTo>
                  <a:close/>
                </a:path>
                <a:path w="3522345" h="559435">
                  <a:moveTo>
                    <a:pt x="24384" y="24384"/>
                  </a:moveTo>
                  <a:lnTo>
                    <a:pt x="24384" y="12192"/>
                  </a:lnTo>
                  <a:lnTo>
                    <a:pt x="12192" y="24384"/>
                  </a:lnTo>
                  <a:lnTo>
                    <a:pt x="24384" y="24384"/>
                  </a:lnTo>
                  <a:close/>
                </a:path>
                <a:path w="3522345" h="559435">
                  <a:moveTo>
                    <a:pt x="24384" y="536448"/>
                  </a:moveTo>
                  <a:lnTo>
                    <a:pt x="24384" y="24384"/>
                  </a:lnTo>
                  <a:lnTo>
                    <a:pt x="12192" y="24384"/>
                  </a:lnTo>
                  <a:lnTo>
                    <a:pt x="12192" y="536448"/>
                  </a:lnTo>
                  <a:lnTo>
                    <a:pt x="24384" y="536448"/>
                  </a:lnTo>
                  <a:close/>
                </a:path>
                <a:path w="3522345" h="559435">
                  <a:moveTo>
                    <a:pt x="3509772" y="536448"/>
                  </a:moveTo>
                  <a:lnTo>
                    <a:pt x="12192" y="536448"/>
                  </a:lnTo>
                  <a:lnTo>
                    <a:pt x="24384" y="548640"/>
                  </a:lnTo>
                  <a:lnTo>
                    <a:pt x="24384" y="559308"/>
                  </a:lnTo>
                  <a:lnTo>
                    <a:pt x="3497580" y="559308"/>
                  </a:lnTo>
                  <a:lnTo>
                    <a:pt x="3497580" y="548640"/>
                  </a:lnTo>
                  <a:lnTo>
                    <a:pt x="3509772" y="536448"/>
                  </a:lnTo>
                  <a:close/>
                </a:path>
                <a:path w="3522345" h="559435">
                  <a:moveTo>
                    <a:pt x="24384" y="559308"/>
                  </a:moveTo>
                  <a:lnTo>
                    <a:pt x="24384" y="548640"/>
                  </a:lnTo>
                  <a:lnTo>
                    <a:pt x="12192" y="536448"/>
                  </a:lnTo>
                  <a:lnTo>
                    <a:pt x="12192" y="559308"/>
                  </a:lnTo>
                  <a:lnTo>
                    <a:pt x="24384" y="559308"/>
                  </a:lnTo>
                  <a:close/>
                </a:path>
                <a:path w="3522345" h="559435">
                  <a:moveTo>
                    <a:pt x="3509772" y="24384"/>
                  </a:moveTo>
                  <a:lnTo>
                    <a:pt x="3497580" y="12192"/>
                  </a:lnTo>
                  <a:lnTo>
                    <a:pt x="3497580" y="24384"/>
                  </a:lnTo>
                  <a:lnTo>
                    <a:pt x="3509772" y="24384"/>
                  </a:lnTo>
                  <a:close/>
                </a:path>
                <a:path w="3522345" h="559435">
                  <a:moveTo>
                    <a:pt x="3509772" y="536448"/>
                  </a:moveTo>
                  <a:lnTo>
                    <a:pt x="3509772" y="24384"/>
                  </a:lnTo>
                  <a:lnTo>
                    <a:pt x="3497580" y="24384"/>
                  </a:lnTo>
                  <a:lnTo>
                    <a:pt x="3497580" y="536448"/>
                  </a:lnTo>
                  <a:lnTo>
                    <a:pt x="3509772" y="536448"/>
                  </a:lnTo>
                  <a:close/>
                </a:path>
                <a:path w="3522345" h="559435">
                  <a:moveTo>
                    <a:pt x="3509772" y="559308"/>
                  </a:moveTo>
                  <a:lnTo>
                    <a:pt x="3509772" y="536448"/>
                  </a:lnTo>
                  <a:lnTo>
                    <a:pt x="3497580" y="548640"/>
                  </a:lnTo>
                  <a:lnTo>
                    <a:pt x="3497580" y="559308"/>
                  </a:lnTo>
                  <a:lnTo>
                    <a:pt x="3509772" y="55930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560A0E3-EB07-2E25-E192-7B0FCEE11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4988D-265F-4049-B823-DE34520FA513}" type="datetime1">
              <a:rPr lang="en-US" smtClean="0"/>
              <a:t>3/17/2025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4CF0991-1D08-6DC8-2441-2AA03044A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F43A0CC-00D9-3074-FE31-5B5B1DB8E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LSTMs</a:t>
            </a:r>
            <a:r>
              <a:rPr spc="-93" dirty="0"/>
              <a:t> </a:t>
            </a:r>
            <a:r>
              <a:rPr dirty="0"/>
              <a:t>–</a:t>
            </a:r>
            <a:r>
              <a:rPr spc="-57" dirty="0"/>
              <a:t> </a:t>
            </a:r>
            <a:r>
              <a:rPr dirty="0"/>
              <a:t>Forget</a:t>
            </a:r>
            <a:r>
              <a:rPr spc="-84" dirty="0"/>
              <a:t> </a:t>
            </a:r>
            <a:r>
              <a:rPr spc="-9" dirty="0"/>
              <a:t>Layer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55059" y="1752600"/>
            <a:ext cx="9681882" cy="3775958"/>
          </a:xfrm>
          <a:prstGeom prst="rect">
            <a:avLst/>
          </a:prstGeom>
        </p:spPr>
        <p:txBody>
          <a:bodyPr vert="horz" wrap="square" lIns="0" tIns="38660" rIns="0" bIns="0" rtlCol="0">
            <a:spAutoFit/>
          </a:bodyPr>
          <a:lstStyle/>
          <a:p>
            <a:pPr marL="177062" indent="-165856">
              <a:spcBef>
                <a:spcPts val="304"/>
              </a:spcBef>
              <a:buFont typeface="Arial MT"/>
              <a:buChar char="•"/>
              <a:tabLst>
                <a:tab pos="177062" algn="l"/>
              </a:tabLst>
            </a:pPr>
            <a:r>
              <a:rPr sz="4000" spc="-9" dirty="0"/>
              <a:t>Example:</a:t>
            </a:r>
          </a:p>
          <a:p>
            <a:pPr marL="508774" marR="339556" lvl="1" indent="-164735">
              <a:spcBef>
                <a:spcPts val="415"/>
              </a:spcBef>
              <a:buFont typeface="Arial MT"/>
              <a:buChar char="•"/>
              <a:tabLst>
                <a:tab pos="509895" algn="l"/>
              </a:tabLst>
            </a:pPr>
            <a:r>
              <a:rPr lang="en-US" spc="9" dirty="0">
                <a:solidFill>
                  <a:srgbClr val="0070C0"/>
                </a:solidFill>
                <a:latin typeface="Calibri"/>
                <a:cs typeface="Calibri"/>
              </a:rPr>
              <a:t>"She entered the room, and her cat followed closely behind. The cat seemed eager to play, and it pounced on a toy”</a:t>
            </a:r>
            <a:r>
              <a:rPr lang="en-US" spc="9" dirty="0">
                <a:latin typeface="Calibri"/>
                <a:cs typeface="Calibri"/>
              </a:rPr>
              <a:t>. </a:t>
            </a:r>
          </a:p>
          <a:p>
            <a:pPr marL="508774" marR="339556" lvl="1" indent="-164735">
              <a:spcBef>
                <a:spcPts val="415"/>
              </a:spcBef>
              <a:buFont typeface="Arial MT"/>
              <a:buChar char="•"/>
              <a:tabLst>
                <a:tab pos="509895" algn="l"/>
              </a:tabLst>
            </a:pPr>
            <a:r>
              <a:rPr dirty="0">
                <a:latin typeface="Calibri"/>
                <a:cs typeface="Calibri"/>
              </a:rPr>
              <a:t>Language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model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trying</a:t>
            </a:r>
            <a:r>
              <a:rPr spc="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predict the</a:t>
            </a:r>
            <a:r>
              <a:rPr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next</a:t>
            </a:r>
            <a:r>
              <a:rPr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word</a:t>
            </a:r>
            <a:r>
              <a:rPr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based</a:t>
            </a:r>
            <a:r>
              <a:rPr spc="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pc="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FF0000"/>
                </a:solidFill>
                <a:latin typeface="Calibri"/>
                <a:cs typeface="Calibri"/>
              </a:rPr>
              <a:t>previous</a:t>
            </a:r>
            <a:r>
              <a:rPr lang="en-US" spc="-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FF0000"/>
                </a:solidFill>
                <a:latin typeface="Calibri"/>
                <a:cs typeface="Calibri"/>
              </a:rPr>
              <a:t>ones</a:t>
            </a:r>
            <a:r>
              <a:rPr spc="-9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  <a:p>
            <a:pPr marL="508774" marR="433130" lvl="1" indent="-164735">
              <a:spcBef>
                <a:spcPts val="361"/>
              </a:spcBef>
              <a:buFont typeface="Arial MT"/>
              <a:buChar char="•"/>
              <a:tabLst>
                <a:tab pos="509895" algn="l"/>
              </a:tabLst>
            </a:pPr>
            <a:r>
              <a:rPr dirty="0">
                <a:latin typeface="Calibri"/>
                <a:cs typeface="Calibri"/>
              </a:rPr>
              <a:t>In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such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22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problem,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pc="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might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include</a:t>
            </a:r>
            <a:r>
              <a:rPr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pc="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gender</a:t>
            </a:r>
            <a:r>
              <a:rPr spc="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FF0000"/>
                </a:solidFill>
                <a:latin typeface="Calibri"/>
                <a:cs typeface="Calibri"/>
              </a:rPr>
              <a:t>present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subject</a:t>
            </a:r>
            <a:r>
              <a:rPr dirty="0">
                <a:latin typeface="Calibri"/>
                <a:cs typeface="Calibri"/>
              </a:rPr>
              <a:t>,</a:t>
            </a:r>
            <a:r>
              <a:rPr spc="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</a:t>
            </a:r>
            <a:r>
              <a:rPr spc="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22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correct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pronouns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26" dirty="0">
                <a:latin typeface="Calibri"/>
                <a:cs typeface="Calibri"/>
              </a:rPr>
              <a:t> </a:t>
            </a:r>
            <a:r>
              <a:rPr spc="-9" dirty="0">
                <a:latin typeface="Calibri"/>
                <a:cs typeface="Calibri"/>
              </a:rPr>
              <a:t>used.</a:t>
            </a:r>
            <a:endParaRPr dirty="0">
              <a:latin typeface="Calibri"/>
              <a:cs typeface="Calibri"/>
            </a:endParaRPr>
          </a:p>
          <a:p>
            <a:pPr marL="509335" lvl="1" indent="-164735">
              <a:spcBef>
                <a:spcPts val="141"/>
              </a:spcBef>
              <a:buFont typeface="Arial MT"/>
              <a:buChar char="•"/>
              <a:tabLst>
                <a:tab pos="509335" algn="l"/>
              </a:tabLst>
            </a:pPr>
            <a:r>
              <a:rPr dirty="0">
                <a:latin typeface="Calibri"/>
                <a:cs typeface="Calibri"/>
              </a:rPr>
              <a:t>When</a:t>
            </a:r>
            <a:r>
              <a:rPr spc="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we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see</a:t>
            </a:r>
            <a:r>
              <a:rPr spc="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new</a:t>
            </a:r>
            <a:r>
              <a:rPr spc="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subject,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we</a:t>
            </a:r>
            <a:r>
              <a:rPr spc="18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want</a:t>
            </a:r>
            <a:r>
              <a:rPr spc="9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pc="13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forget</a:t>
            </a:r>
            <a:r>
              <a:rPr spc="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the</a:t>
            </a:r>
            <a:r>
              <a:rPr spc="13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gender</a:t>
            </a:r>
            <a:r>
              <a:rPr spc="13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of</a:t>
            </a:r>
            <a:r>
              <a:rPr spc="22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the</a:t>
            </a:r>
            <a:r>
              <a:rPr spc="13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old</a:t>
            </a:r>
            <a:r>
              <a:rPr spc="22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FFC000"/>
                </a:solidFill>
                <a:latin typeface="Calibri"/>
                <a:cs typeface="Calibri"/>
              </a:rPr>
              <a:t>subject</a:t>
            </a:r>
            <a:r>
              <a:rPr spc="-9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2BB16B-C624-B854-4AB2-1BFBDEA3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DC9D-8A90-42F6-A63D-9D50AF055E3B}" type="datetime1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8D9EB8-073D-8F07-EADE-D13824C78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1268F4-BD01-3AB0-7402-20582AF6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353" y="623041"/>
            <a:ext cx="9681882" cy="56927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spc="-22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5400" y="2174747"/>
            <a:ext cx="8114286" cy="1438644"/>
          </a:xfrm>
          <a:prstGeom prst="rect">
            <a:avLst/>
          </a:prstGeom>
        </p:spPr>
        <p:txBody>
          <a:bodyPr vert="horz" wrap="square" lIns="0" tIns="73959" rIns="0" bIns="0" rtlCol="0">
            <a:spAutoFit/>
          </a:bodyPr>
          <a:lstStyle/>
          <a:p>
            <a:pPr marL="177062" indent="-165856">
              <a:spcBef>
                <a:spcPts val="582"/>
              </a:spcBef>
              <a:buFont typeface="Arial MT"/>
              <a:buChar char="•"/>
              <a:tabLst>
                <a:tab pos="177062" algn="l"/>
              </a:tabLst>
            </a:pPr>
            <a:r>
              <a:rPr sz="2030" spc="-9" dirty="0">
                <a:latin typeface="Calibri"/>
                <a:cs typeface="Calibri"/>
              </a:rPr>
              <a:t>Understanding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LSTMs</a:t>
            </a:r>
            <a:r>
              <a:rPr sz="2030" spc="-44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–</a:t>
            </a:r>
            <a:r>
              <a:rPr sz="2030" spc="-18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Colah’s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spc="-18" dirty="0">
                <a:latin typeface="Calibri"/>
                <a:cs typeface="Calibri"/>
              </a:rPr>
              <a:t>Blog</a:t>
            </a:r>
            <a:endParaRPr sz="2030" dirty="0">
              <a:latin typeface="Calibri"/>
              <a:cs typeface="Calibri"/>
            </a:endParaRPr>
          </a:p>
          <a:p>
            <a:pPr marL="176502" marR="4483" indent="-165856">
              <a:lnSpc>
                <a:spcPts val="2206"/>
              </a:lnSpc>
              <a:spcBef>
                <a:spcPts val="763"/>
              </a:spcBef>
              <a:buFont typeface="Arial MT"/>
              <a:buChar char="•"/>
              <a:tabLst>
                <a:tab pos="177623" algn="l"/>
              </a:tabLst>
            </a:pPr>
            <a:r>
              <a:rPr sz="2030" spc="-9" dirty="0">
                <a:latin typeface="Calibri"/>
                <a:cs typeface="Calibri"/>
              </a:rPr>
              <a:t>Illustrated</a:t>
            </a:r>
            <a:r>
              <a:rPr sz="2030" spc="-57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Guide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to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LSTM’s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and</a:t>
            </a:r>
            <a:r>
              <a:rPr sz="2030" spc="-35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GRU’s:</a:t>
            </a:r>
            <a:r>
              <a:rPr sz="2030" spc="-31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A</a:t>
            </a:r>
            <a:r>
              <a:rPr sz="2030" spc="-26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step</a:t>
            </a:r>
            <a:r>
              <a:rPr sz="2030" spc="-44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by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dirty="0">
                <a:latin typeface="Calibri"/>
                <a:cs typeface="Calibri"/>
              </a:rPr>
              <a:t>step</a:t>
            </a:r>
            <a:r>
              <a:rPr sz="2030" spc="-40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explanation, 	</a:t>
            </a:r>
            <a:r>
              <a:rPr sz="2030" dirty="0">
                <a:latin typeface="Calibri"/>
                <a:cs typeface="Calibri"/>
              </a:rPr>
              <a:t>Michael</a:t>
            </a:r>
            <a:r>
              <a:rPr sz="2030" spc="-22" dirty="0">
                <a:latin typeface="Calibri"/>
                <a:cs typeface="Calibri"/>
              </a:rPr>
              <a:t> </a:t>
            </a:r>
            <a:r>
              <a:rPr sz="2030" spc="-9" dirty="0">
                <a:latin typeface="Calibri"/>
                <a:cs typeface="Calibri"/>
              </a:rPr>
              <a:t>Nguyen</a:t>
            </a:r>
            <a:endParaRPr lang="en-US" sz="2030" spc="-9" dirty="0">
              <a:latin typeface="Calibri"/>
              <a:cs typeface="Calibri"/>
            </a:endParaRPr>
          </a:p>
          <a:p>
            <a:pPr marL="176502" marR="4483" indent="-165856">
              <a:lnSpc>
                <a:spcPts val="2206"/>
              </a:lnSpc>
              <a:spcBef>
                <a:spcPts val="763"/>
              </a:spcBef>
              <a:buFont typeface="Arial MT"/>
              <a:buChar char="•"/>
              <a:tabLst>
                <a:tab pos="177623" algn="l"/>
              </a:tabLst>
            </a:pPr>
            <a:endParaRPr sz="2030" dirty="0">
              <a:latin typeface="Calibri"/>
              <a:cs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1DFB91-65C2-0EB6-8288-34DFE9D9F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D13-E14E-42A6-B858-61FD67C4C800}" type="datetime1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490C4F-C0CD-B9D9-DC18-B9BF3B19D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3B8D1-B151-DA5D-3628-967873BA5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/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34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0BF0A-F7C8-44ED-B2A2-114C595E0746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80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20581</TotalTime>
  <Words>1637</Words>
  <Application>Microsoft Office PowerPoint</Application>
  <PresentationFormat>Widescreen</PresentationFormat>
  <Paragraphs>268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Arial</vt:lpstr>
      <vt:lpstr>Arial MT</vt:lpstr>
      <vt:lpstr>Bookman Old Style</vt:lpstr>
      <vt:lpstr>Calibri</vt:lpstr>
      <vt:lpstr>Times New Roman</vt:lpstr>
      <vt:lpstr>Wingdings</vt:lpstr>
      <vt:lpstr>Office Theme</vt:lpstr>
      <vt:lpstr>PowerPoint Presentation</vt:lpstr>
      <vt:lpstr>Goals</vt:lpstr>
      <vt:lpstr>Training RNN: Backward Pass</vt:lpstr>
      <vt:lpstr>Backpropagation through time</vt:lpstr>
      <vt:lpstr>Training: Computing gradients</vt:lpstr>
      <vt:lpstr>Loss function</vt:lpstr>
      <vt:lpstr>The Vanilla RNN Neuron</vt:lpstr>
      <vt:lpstr>The Vanilla RNN Forward</vt:lpstr>
      <vt:lpstr>The Vanilla RNN Backward</vt:lpstr>
      <vt:lpstr>Activation functions </vt:lpstr>
      <vt:lpstr>Vanishing/Exploding gradient </vt:lpstr>
      <vt:lpstr>Gradient clipping </vt:lpstr>
      <vt:lpstr>Backpropagation through time</vt:lpstr>
      <vt:lpstr>Truncated Backpropagation through time</vt:lpstr>
      <vt:lpstr>Truncated Backpropagation through time</vt:lpstr>
      <vt:lpstr>PowerPoint Presentation</vt:lpstr>
      <vt:lpstr>Variants of RNN</vt:lpstr>
      <vt:lpstr>Final Notes</vt:lpstr>
      <vt:lpstr>Recurrent Neural Networks: Process Sequences</vt:lpstr>
      <vt:lpstr>Recurrent Neural Networks: Process Sequences</vt:lpstr>
      <vt:lpstr>Recurrent Neural Networks: Process Sequences</vt:lpstr>
      <vt:lpstr>Recurrent Neural Networks: Process Sequences</vt:lpstr>
      <vt:lpstr>Recurrent Neural Networks: Process Sequences</vt:lpstr>
      <vt:lpstr>Long Short Term Memory Networks - LSTMs</vt:lpstr>
      <vt:lpstr>Long Short Term Memory Networks - LSTMs</vt:lpstr>
      <vt:lpstr>Long Short Term Memory Networks - LSTMs</vt:lpstr>
      <vt:lpstr>LSTMs</vt:lpstr>
      <vt:lpstr>LSTMs - Gates</vt:lpstr>
      <vt:lpstr>LSTMs - Gates</vt:lpstr>
      <vt:lpstr>LSTM - Gates</vt:lpstr>
      <vt:lpstr>LSTMs</vt:lpstr>
      <vt:lpstr>LSTMs – Forget Layer</vt:lpstr>
      <vt:lpstr>References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Akhtar Jamil</cp:lastModifiedBy>
  <cp:revision>1429</cp:revision>
  <dcterms:created xsi:type="dcterms:W3CDTF">2006-08-16T00:00:00Z</dcterms:created>
  <dcterms:modified xsi:type="dcterms:W3CDTF">2025-03-17T15:16:32Z</dcterms:modified>
</cp:coreProperties>
</file>