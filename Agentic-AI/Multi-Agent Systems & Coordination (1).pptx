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76" r:id="rId13"/>
    <p:sldId id="284" r:id="rId14"/>
    <p:sldId id="283" r:id="rId15"/>
    <p:sldId id="282" r:id="rId16"/>
    <p:sldId id="277" r:id="rId17"/>
    <p:sldId id="280" r:id="rId18"/>
    <p:sldId id="285" r:id="rId19"/>
    <p:sldId id="265" r:id="rId20"/>
    <p:sldId id="266" r:id="rId21"/>
    <p:sldId id="267" r:id="rId22"/>
    <p:sldId id="268" r:id="rId23"/>
    <p:sldId id="269" r:id="rId24"/>
    <p:sldId id="279" r:id="rId25"/>
    <p:sldId id="270" r:id="rId26"/>
    <p:sldId id="271" r:id="rId27"/>
    <p:sldId id="273" r:id="rId28"/>
    <p:sldId id="278" r:id="rId29"/>
    <p:sldId id="27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25DBE-0D5F-48F3-B69C-9196E69E894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6F7911-5E63-4231-8F63-787159D1E7AC}">
      <dgm:prSet/>
      <dgm:spPr/>
      <dgm:t>
        <a:bodyPr/>
        <a:lstStyle/>
        <a:p>
          <a:r>
            <a:rPr lang="en-US"/>
            <a:t>Many current AI systems are built as single agents: one model or “brain” that handles everything (reasoning, tool use, orchestration).</a:t>
          </a:r>
        </a:p>
      </dgm:t>
    </dgm:pt>
    <dgm:pt modelId="{A7A9D769-6D11-4FAE-A083-4FD40A9DE447}" type="parTrans" cxnId="{86F457E0-4E43-405E-BF58-469A36C25CFE}">
      <dgm:prSet/>
      <dgm:spPr/>
      <dgm:t>
        <a:bodyPr/>
        <a:lstStyle/>
        <a:p>
          <a:endParaRPr lang="en-US"/>
        </a:p>
      </dgm:t>
    </dgm:pt>
    <dgm:pt modelId="{9DEFD889-FE9D-41CE-93DA-0797561109DC}" type="sibTrans" cxnId="{86F457E0-4E43-405E-BF58-469A36C25CFE}">
      <dgm:prSet/>
      <dgm:spPr/>
      <dgm:t>
        <a:bodyPr/>
        <a:lstStyle/>
        <a:p>
          <a:endParaRPr lang="en-US"/>
        </a:p>
      </dgm:t>
    </dgm:pt>
    <dgm:pt modelId="{B8A55829-3E05-47B8-9B11-73B34DE485B4}">
      <dgm:prSet/>
      <dgm:spPr/>
      <dgm:t>
        <a:bodyPr/>
        <a:lstStyle/>
        <a:p>
          <a:r>
            <a:rPr lang="en-US"/>
            <a:t>But as tasks get more complex (multi-step workflows, branching, retry logic, coordination, concurrency), the limitations become clear.</a:t>
          </a:r>
        </a:p>
      </dgm:t>
    </dgm:pt>
    <dgm:pt modelId="{A2C246AE-E932-471F-963F-1F5E01A237C8}" type="parTrans" cxnId="{C96957D3-FDA5-4ADD-BF32-28050F7D40A5}">
      <dgm:prSet/>
      <dgm:spPr/>
      <dgm:t>
        <a:bodyPr/>
        <a:lstStyle/>
        <a:p>
          <a:endParaRPr lang="en-US"/>
        </a:p>
      </dgm:t>
    </dgm:pt>
    <dgm:pt modelId="{14C71D4A-DDC6-4986-A66B-6766A953C3E2}" type="sibTrans" cxnId="{C96957D3-FDA5-4ADD-BF32-28050F7D40A5}">
      <dgm:prSet/>
      <dgm:spPr/>
      <dgm:t>
        <a:bodyPr/>
        <a:lstStyle/>
        <a:p>
          <a:endParaRPr lang="en-US"/>
        </a:p>
      </dgm:t>
    </dgm:pt>
    <dgm:pt modelId="{1699000C-F586-4C68-B8E8-1D57C476D6D4}">
      <dgm:prSet/>
      <dgm:spPr/>
      <dgm:t>
        <a:bodyPr/>
        <a:lstStyle/>
        <a:p>
          <a:r>
            <a:rPr lang="en-US"/>
            <a:t>We need modular, distributed, coordinated agent systems.</a:t>
          </a:r>
        </a:p>
      </dgm:t>
    </dgm:pt>
    <dgm:pt modelId="{DFA25520-7CE2-46EF-9767-33F7170D1053}" type="parTrans" cxnId="{406300F0-E739-4CD7-9721-5F460B85A83D}">
      <dgm:prSet/>
      <dgm:spPr/>
      <dgm:t>
        <a:bodyPr/>
        <a:lstStyle/>
        <a:p>
          <a:endParaRPr lang="en-US"/>
        </a:p>
      </dgm:t>
    </dgm:pt>
    <dgm:pt modelId="{94A5A1CE-4254-477C-8343-DE5130673A26}" type="sibTrans" cxnId="{406300F0-E739-4CD7-9721-5F460B85A83D}">
      <dgm:prSet/>
      <dgm:spPr/>
      <dgm:t>
        <a:bodyPr/>
        <a:lstStyle/>
        <a:p>
          <a:endParaRPr lang="en-US"/>
        </a:p>
      </dgm:t>
    </dgm:pt>
    <dgm:pt modelId="{0CD60FF6-78B6-4B9A-8D3C-C214B7E75814}" type="pres">
      <dgm:prSet presAssocID="{BBA25DBE-0D5F-48F3-B69C-9196E69E894C}" presName="linear" presStyleCnt="0">
        <dgm:presLayoutVars>
          <dgm:animLvl val="lvl"/>
          <dgm:resizeHandles val="exact"/>
        </dgm:presLayoutVars>
      </dgm:prSet>
      <dgm:spPr/>
    </dgm:pt>
    <dgm:pt modelId="{4E4479B6-5E28-46E0-A242-9C69B3A1AA8C}" type="pres">
      <dgm:prSet presAssocID="{1F6F7911-5E63-4231-8F63-787159D1E7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2643B0-151F-478A-8F78-5B35B0F0081E}" type="pres">
      <dgm:prSet presAssocID="{9DEFD889-FE9D-41CE-93DA-0797561109DC}" presName="spacer" presStyleCnt="0"/>
      <dgm:spPr/>
    </dgm:pt>
    <dgm:pt modelId="{FAA3B836-6D7D-438D-BC7D-A26B3374FA08}" type="pres">
      <dgm:prSet presAssocID="{B8A55829-3E05-47B8-9B11-73B34DE485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AFAAC1-DF93-4310-A8FF-D38B2261D55A}" type="pres">
      <dgm:prSet presAssocID="{14C71D4A-DDC6-4986-A66B-6766A953C3E2}" presName="spacer" presStyleCnt="0"/>
      <dgm:spPr/>
    </dgm:pt>
    <dgm:pt modelId="{92E43ED1-32FF-406D-A941-16120239B68A}" type="pres">
      <dgm:prSet presAssocID="{1699000C-F586-4C68-B8E8-1D57C476D6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B95060D-3197-4212-8793-90A73EE368DE}" type="presOf" srcId="{B8A55829-3E05-47B8-9B11-73B34DE485B4}" destId="{FAA3B836-6D7D-438D-BC7D-A26B3374FA08}" srcOrd="0" destOrd="0" presId="urn:microsoft.com/office/officeart/2005/8/layout/vList2"/>
    <dgm:cxn modelId="{2867AF32-12DF-4F6A-95A2-CD7BEA90A497}" type="presOf" srcId="{1F6F7911-5E63-4231-8F63-787159D1E7AC}" destId="{4E4479B6-5E28-46E0-A242-9C69B3A1AA8C}" srcOrd="0" destOrd="0" presId="urn:microsoft.com/office/officeart/2005/8/layout/vList2"/>
    <dgm:cxn modelId="{19955860-1623-4496-A3C7-EA8E5B6E182E}" type="presOf" srcId="{1699000C-F586-4C68-B8E8-1D57C476D6D4}" destId="{92E43ED1-32FF-406D-A941-16120239B68A}" srcOrd="0" destOrd="0" presId="urn:microsoft.com/office/officeart/2005/8/layout/vList2"/>
    <dgm:cxn modelId="{BE7D4280-03CF-4D71-9739-3DA90E34F0BF}" type="presOf" srcId="{BBA25DBE-0D5F-48F3-B69C-9196E69E894C}" destId="{0CD60FF6-78B6-4B9A-8D3C-C214B7E75814}" srcOrd="0" destOrd="0" presId="urn:microsoft.com/office/officeart/2005/8/layout/vList2"/>
    <dgm:cxn modelId="{C96957D3-FDA5-4ADD-BF32-28050F7D40A5}" srcId="{BBA25DBE-0D5F-48F3-B69C-9196E69E894C}" destId="{B8A55829-3E05-47B8-9B11-73B34DE485B4}" srcOrd="1" destOrd="0" parTransId="{A2C246AE-E932-471F-963F-1F5E01A237C8}" sibTransId="{14C71D4A-DDC6-4986-A66B-6766A953C3E2}"/>
    <dgm:cxn modelId="{86F457E0-4E43-405E-BF58-469A36C25CFE}" srcId="{BBA25DBE-0D5F-48F3-B69C-9196E69E894C}" destId="{1F6F7911-5E63-4231-8F63-787159D1E7AC}" srcOrd="0" destOrd="0" parTransId="{A7A9D769-6D11-4FAE-A083-4FD40A9DE447}" sibTransId="{9DEFD889-FE9D-41CE-93DA-0797561109DC}"/>
    <dgm:cxn modelId="{406300F0-E739-4CD7-9721-5F460B85A83D}" srcId="{BBA25DBE-0D5F-48F3-B69C-9196E69E894C}" destId="{1699000C-F586-4C68-B8E8-1D57C476D6D4}" srcOrd="2" destOrd="0" parTransId="{DFA25520-7CE2-46EF-9767-33F7170D1053}" sibTransId="{94A5A1CE-4254-477C-8343-DE5130673A26}"/>
    <dgm:cxn modelId="{FC4912D8-769E-48A7-9AC9-B924244340DC}" type="presParOf" srcId="{0CD60FF6-78B6-4B9A-8D3C-C214B7E75814}" destId="{4E4479B6-5E28-46E0-A242-9C69B3A1AA8C}" srcOrd="0" destOrd="0" presId="urn:microsoft.com/office/officeart/2005/8/layout/vList2"/>
    <dgm:cxn modelId="{937F9651-783B-4F13-99F3-AE0392AD203F}" type="presParOf" srcId="{0CD60FF6-78B6-4B9A-8D3C-C214B7E75814}" destId="{A92643B0-151F-478A-8F78-5B35B0F0081E}" srcOrd="1" destOrd="0" presId="urn:microsoft.com/office/officeart/2005/8/layout/vList2"/>
    <dgm:cxn modelId="{C3FE8FEC-4738-4341-A207-03E559A9F7F5}" type="presParOf" srcId="{0CD60FF6-78B6-4B9A-8D3C-C214B7E75814}" destId="{FAA3B836-6D7D-438D-BC7D-A26B3374FA08}" srcOrd="2" destOrd="0" presId="urn:microsoft.com/office/officeart/2005/8/layout/vList2"/>
    <dgm:cxn modelId="{3904C8D0-824B-4489-B9B3-3191BCB8851D}" type="presParOf" srcId="{0CD60FF6-78B6-4B9A-8D3C-C214B7E75814}" destId="{5DAFAAC1-DF93-4310-A8FF-D38B2261D55A}" srcOrd="3" destOrd="0" presId="urn:microsoft.com/office/officeart/2005/8/layout/vList2"/>
    <dgm:cxn modelId="{801A32BA-BCDF-4D93-A025-C4AE37308881}" type="presParOf" srcId="{0CD60FF6-78B6-4B9A-8D3C-C214B7E75814}" destId="{92E43ED1-32FF-406D-A941-16120239B68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8CDB0-D130-476B-9F5C-C7FBB4BF16E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3B8A5B0-CB96-4251-B4A3-C1BFC2D9ADB1}">
      <dgm:prSet/>
      <dgm:spPr/>
      <dgm:t>
        <a:bodyPr/>
        <a:lstStyle/>
        <a:p>
          <a:r>
            <a:rPr lang="en-US"/>
            <a:t>You design a single LLM-based agent called </a:t>
          </a:r>
          <a:r>
            <a:rPr lang="en-US" b="1"/>
            <a:t>“BizBot”</a:t>
          </a:r>
          <a:r>
            <a:rPr lang="en-US"/>
            <a:t> that plays </a:t>
          </a:r>
          <a:r>
            <a:rPr lang="en-US" i="1"/>
            <a:t>multiple roles</a:t>
          </a:r>
          <a:r>
            <a:rPr lang="en-US"/>
            <a:t>:</a:t>
          </a:r>
        </a:p>
      </dgm:t>
    </dgm:pt>
    <dgm:pt modelId="{D8FC6F0F-2C90-48A6-B923-346D26D73700}" type="parTrans" cxnId="{438445AE-4D16-4F94-ACE9-CF26CF432F24}">
      <dgm:prSet/>
      <dgm:spPr/>
      <dgm:t>
        <a:bodyPr/>
        <a:lstStyle/>
        <a:p>
          <a:endParaRPr lang="en-US"/>
        </a:p>
      </dgm:t>
    </dgm:pt>
    <dgm:pt modelId="{38D15054-C4C2-4FB7-9E1C-C2F0EDAEEC41}" type="sibTrans" cxnId="{438445AE-4D16-4F94-ACE9-CF26CF432F24}">
      <dgm:prSet/>
      <dgm:spPr/>
      <dgm:t>
        <a:bodyPr/>
        <a:lstStyle/>
        <a:p>
          <a:endParaRPr lang="en-US"/>
        </a:p>
      </dgm:t>
    </dgm:pt>
    <dgm:pt modelId="{7C4BECFE-21F4-408F-BAE0-83001B0B9A7A}">
      <dgm:prSet/>
      <dgm:spPr/>
      <dgm:t>
        <a:bodyPr/>
        <a:lstStyle/>
        <a:p>
          <a:r>
            <a:rPr lang="en-US" b="1"/>
            <a:t>Researcher</a:t>
          </a:r>
          <a:r>
            <a:rPr lang="en-US"/>
            <a:t> (finds latest data and statistics)</a:t>
          </a:r>
        </a:p>
      </dgm:t>
    </dgm:pt>
    <dgm:pt modelId="{DC6AE966-938F-4A87-A045-33D4A0BDA184}" type="parTrans" cxnId="{004730AE-6E2B-4281-9CE7-F6788C35ABD0}">
      <dgm:prSet/>
      <dgm:spPr/>
      <dgm:t>
        <a:bodyPr/>
        <a:lstStyle/>
        <a:p>
          <a:endParaRPr lang="en-US"/>
        </a:p>
      </dgm:t>
    </dgm:pt>
    <dgm:pt modelId="{77FF3B29-F54E-4351-8268-4CA2785E8FD8}" type="sibTrans" cxnId="{004730AE-6E2B-4281-9CE7-F6788C35ABD0}">
      <dgm:prSet/>
      <dgm:spPr/>
      <dgm:t>
        <a:bodyPr/>
        <a:lstStyle/>
        <a:p>
          <a:endParaRPr lang="en-US"/>
        </a:p>
      </dgm:t>
    </dgm:pt>
    <dgm:pt modelId="{CFE8C056-6A0A-43AE-9737-DA9F1FCD0FFF}">
      <dgm:prSet/>
      <dgm:spPr/>
      <dgm:t>
        <a:bodyPr/>
        <a:lstStyle/>
        <a:p>
          <a:r>
            <a:rPr lang="en-US" b="1"/>
            <a:t>Analyst</a:t>
          </a:r>
          <a:r>
            <a:rPr lang="en-US"/>
            <a:t> (summarizes and interprets data)</a:t>
          </a:r>
        </a:p>
      </dgm:t>
    </dgm:pt>
    <dgm:pt modelId="{117803BF-BF34-4EC7-9BE0-3A37EC0AC936}" type="parTrans" cxnId="{03EAACB5-BA2E-43C8-9E8B-1DF66D02649D}">
      <dgm:prSet/>
      <dgm:spPr/>
      <dgm:t>
        <a:bodyPr/>
        <a:lstStyle/>
        <a:p>
          <a:endParaRPr lang="en-US"/>
        </a:p>
      </dgm:t>
    </dgm:pt>
    <dgm:pt modelId="{BB2131BC-1DAF-48F2-8CB6-3B038B1DCCA7}" type="sibTrans" cxnId="{03EAACB5-BA2E-43C8-9E8B-1DF66D02649D}">
      <dgm:prSet/>
      <dgm:spPr/>
      <dgm:t>
        <a:bodyPr/>
        <a:lstStyle/>
        <a:p>
          <a:endParaRPr lang="en-US"/>
        </a:p>
      </dgm:t>
    </dgm:pt>
    <dgm:pt modelId="{C40E4DB7-B17C-4EDA-AB56-1F64B29822FC}">
      <dgm:prSet/>
      <dgm:spPr/>
      <dgm:t>
        <a:bodyPr/>
        <a:lstStyle/>
        <a:p>
          <a:r>
            <a:rPr lang="en-US" b="1"/>
            <a:t>Writer</a:t>
          </a:r>
          <a:r>
            <a:rPr lang="en-US"/>
            <a:t> (drafts the final business report)</a:t>
          </a:r>
        </a:p>
      </dgm:t>
    </dgm:pt>
    <dgm:pt modelId="{07F57817-D19B-4D9C-9D66-75FEE83AF74C}" type="parTrans" cxnId="{EEB309E6-F44F-48AB-81E4-5870F6F36404}">
      <dgm:prSet/>
      <dgm:spPr/>
      <dgm:t>
        <a:bodyPr/>
        <a:lstStyle/>
        <a:p>
          <a:endParaRPr lang="en-US"/>
        </a:p>
      </dgm:t>
    </dgm:pt>
    <dgm:pt modelId="{6C26BB9C-6458-4118-B5E9-0DF917809370}" type="sibTrans" cxnId="{EEB309E6-F44F-48AB-81E4-5870F6F36404}">
      <dgm:prSet/>
      <dgm:spPr/>
      <dgm:t>
        <a:bodyPr/>
        <a:lstStyle/>
        <a:p>
          <a:endParaRPr lang="en-US"/>
        </a:p>
      </dgm:t>
    </dgm:pt>
    <dgm:pt modelId="{F24CD45E-E025-4458-8A0A-26324198CB52}">
      <dgm:prSet/>
      <dgm:spPr/>
      <dgm:t>
        <a:bodyPr/>
        <a:lstStyle/>
        <a:p>
          <a:r>
            <a:rPr lang="en-US"/>
            <a:t>The idea is that one agent prompt handles all three.</a:t>
          </a:r>
        </a:p>
      </dgm:t>
    </dgm:pt>
    <dgm:pt modelId="{37F64DC6-8CC5-423D-84BD-599DF2AE2267}" type="parTrans" cxnId="{5F3F6A3D-04C5-498C-AC04-9B962051B047}">
      <dgm:prSet/>
      <dgm:spPr/>
      <dgm:t>
        <a:bodyPr/>
        <a:lstStyle/>
        <a:p>
          <a:endParaRPr lang="en-US"/>
        </a:p>
      </dgm:t>
    </dgm:pt>
    <dgm:pt modelId="{D4B84D22-A445-462D-9C68-0363CE870A86}" type="sibTrans" cxnId="{5F3F6A3D-04C5-498C-AC04-9B962051B047}">
      <dgm:prSet/>
      <dgm:spPr/>
      <dgm:t>
        <a:bodyPr/>
        <a:lstStyle/>
        <a:p>
          <a:endParaRPr lang="en-US"/>
        </a:p>
      </dgm:t>
    </dgm:pt>
    <dgm:pt modelId="{8968F20B-B196-44A0-9E68-96679254E405}" type="pres">
      <dgm:prSet presAssocID="{E5E8CDB0-D130-476B-9F5C-C7FBB4BF16E6}" presName="linear" presStyleCnt="0">
        <dgm:presLayoutVars>
          <dgm:animLvl val="lvl"/>
          <dgm:resizeHandles val="exact"/>
        </dgm:presLayoutVars>
      </dgm:prSet>
      <dgm:spPr/>
    </dgm:pt>
    <dgm:pt modelId="{74E4A41E-A768-4AAA-A409-DEBCA92E3512}" type="pres">
      <dgm:prSet presAssocID="{63B8A5B0-CB96-4251-B4A3-C1BFC2D9AD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B1E640-CBD1-4336-82C8-EDE1B4EBF4BF}" type="pres">
      <dgm:prSet presAssocID="{63B8A5B0-CB96-4251-B4A3-C1BFC2D9ADB1}" presName="childText" presStyleLbl="revTx" presStyleIdx="0" presStyleCnt="1">
        <dgm:presLayoutVars>
          <dgm:bulletEnabled val="1"/>
        </dgm:presLayoutVars>
      </dgm:prSet>
      <dgm:spPr/>
    </dgm:pt>
    <dgm:pt modelId="{093D7A36-3CD6-4E88-874E-94EDCDA98BCA}" type="pres">
      <dgm:prSet presAssocID="{F24CD45E-E025-4458-8A0A-26324198CB5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52B2B1C-29D3-468D-B369-6FA797A50A05}" type="presOf" srcId="{CFE8C056-6A0A-43AE-9737-DA9F1FCD0FFF}" destId="{F9B1E640-CBD1-4336-82C8-EDE1B4EBF4BF}" srcOrd="0" destOrd="1" presId="urn:microsoft.com/office/officeart/2005/8/layout/vList2"/>
    <dgm:cxn modelId="{5FAB3928-A5FC-4050-B5E4-9D54FEC6F129}" type="presOf" srcId="{E5E8CDB0-D130-476B-9F5C-C7FBB4BF16E6}" destId="{8968F20B-B196-44A0-9E68-96679254E405}" srcOrd="0" destOrd="0" presId="urn:microsoft.com/office/officeart/2005/8/layout/vList2"/>
    <dgm:cxn modelId="{A33B5439-CD40-483A-A068-7FDD53D183E2}" type="presOf" srcId="{7C4BECFE-21F4-408F-BAE0-83001B0B9A7A}" destId="{F9B1E640-CBD1-4336-82C8-EDE1B4EBF4BF}" srcOrd="0" destOrd="0" presId="urn:microsoft.com/office/officeart/2005/8/layout/vList2"/>
    <dgm:cxn modelId="{5F3F6A3D-04C5-498C-AC04-9B962051B047}" srcId="{E5E8CDB0-D130-476B-9F5C-C7FBB4BF16E6}" destId="{F24CD45E-E025-4458-8A0A-26324198CB52}" srcOrd="1" destOrd="0" parTransId="{37F64DC6-8CC5-423D-84BD-599DF2AE2267}" sibTransId="{D4B84D22-A445-462D-9C68-0363CE870A86}"/>
    <dgm:cxn modelId="{004730AE-6E2B-4281-9CE7-F6788C35ABD0}" srcId="{63B8A5B0-CB96-4251-B4A3-C1BFC2D9ADB1}" destId="{7C4BECFE-21F4-408F-BAE0-83001B0B9A7A}" srcOrd="0" destOrd="0" parTransId="{DC6AE966-938F-4A87-A045-33D4A0BDA184}" sibTransId="{77FF3B29-F54E-4351-8268-4CA2785E8FD8}"/>
    <dgm:cxn modelId="{438445AE-4D16-4F94-ACE9-CF26CF432F24}" srcId="{E5E8CDB0-D130-476B-9F5C-C7FBB4BF16E6}" destId="{63B8A5B0-CB96-4251-B4A3-C1BFC2D9ADB1}" srcOrd="0" destOrd="0" parTransId="{D8FC6F0F-2C90-48A6-B923-346D26D73700}" sibTransId="{38D15054-C4C2-4FB7-9E1C-C2F0EDAEEC41}"/>
    <dgm:cxn modelId="{03EAACB5-BA2E-43C8-9E8B-1DF66D02649D}" srcId="{63B8A5B0-CB96-4251-B4A3-C1BFC2D9ADB1}" destId="{CFE8C056-6A0A-43AE-9737-DA9F1FCD0FFF}" srcOrd="1" destOrd="0" parTransId="{117803BF-BF34-4EC7-9BE0-3A37EC0AC936}" sibTransId="{BB2131BC-1DAF-48F2-8CB6-3B038B1DCCA7}"/>
    <dgm:cxn modelId="{BA2673C7-92FD-4FE8-B934-9986F75B5E9A}" type="presOf" srcId="{63B8A5B0-CB96-4251-B4A3-C1BFC2D9ADB1}" destId="{74E4A41E-A768-4AAA-A409-DEBCA92E3512}" srcOrd="0" destOrd="0" presId="urn:microsoft.com/office/officeart/2005/8/layout/vList2"/>
    <dgm:cxn modelId="{07842BDF-6158-484B-A0EB-61EE2F1017D1}" type="presOf" srcId="{C40E4DB7-B17C-4EDA-AB56-1F64B29822FC}" destId="{F9B1E640-CBD1-4336-82C8-EDE1B4EBF4BF}" srcOrd="0" destOrd="2" presId="urn:microsoft.com/office/officeart/2005/8/layout/vList2"/>
    <dgm:cxn modelId="{EEB309E6-F44F-48AB-81E4-5870F6F36404}" srcId="{63B8A5B0-CB96-4251-B4A3-C1BFC2D9ADB1}" destId="{C40E4DB7-B17C-4EDA-AB56-1F64B29822FC}" srcOrd="2" destOrd="0" parTransId="{07F57817-D19B-4D9C-9D66-75FEE83AF74C}" sibTransId="{6C26BB9C-6458-4118-B5E9-0DF917809370}"/>
    <dgm:cxn modelId="{52E8F1F8-727E-4EC0-B3A7-95476E75900D}" type="presOf" srcId="{F24CD45E-E025-4458-8A0A-26324198CB52}" destId="{093D7A36-3CD6-4E88-874E-94EDCDA98BCA}" srcOrd="0" destOrd="0" presId="urn:microsoft.com/office/officeart/2005/8/layout/vList2"/>
    <dgm:cxn modelId="{FD82A4A3-BB0F-47E4-857E-3A7CF9E21D08}" type="presParOf" srcId="{8968F20B-B196-44A0-9E68-96679254E405}" destId="{74E4A41E-A768-4AAA-A409-DEBCA92E3512}" srcOrd="0" destOrd="0" presId="urn:microsoft.com/office/officeart/2005/8/layout/vList2"/>
    <dgm:cxn modelId="{F614A225-3B49-4949-8578-CB85312C3F14}" type="presParOf" srcId="{8968F20B-B196-44A0-9E68-96679254E405}" destId="{F9B1E640-CBD1-4336-82C8-EDE1B4EBF4BF}" srcOrd="1" destOrd="0" presId="urn:microsoft.com/office/officeart/2005/8/layout/vList2"/>
    <dgm:cxn modelId="{69818416-7EEE-4B8E-904F-F81BE1921DA8}" type="presParOf" srcId="{8968F20B-B196-44A0-9E68-96679254E405}" destId="{093D7A36-3CD6-4E88-874E-94EDCDA98BC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D41A07-1B44-4BC6-8E0D-CBD7E2F1F19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58A5CB-3650-4BA3-BC3C-928F30301BF8}">
      <dgm:prSet/>
      <dgm:spPr/>
      <dgm:t>
        <a:bodyPr/>
        <a:lstStyle/>
        <a:p>
          <a:r>
            <a:rPr lang="en-US" b="1" i="0" baseline="0"/>
            <a:t>Task 1: Data Research</a:t>
          </a:r>
          <a:endParaRPr lang="en-US"/>
        </a:p>
      </dgm:t>
    </dgm:pt>
    <dgm:pt modelId="{F07B2391-7BE4-49B6-B020-145B671305E9}" type="parTrans" cxnId="{B2DA1763-9C4F-4C6B-8755-168B20B2963D}">
      <dgm:prSet/>
      <dgm:spPr/>
      <dgm:t>
        <a:bodyPr/>
        <a:lstStyle/>
        <a:p>
          <a:endParaRPr lang="en-US"/>
        </a:p>
      </dgm:t>
    </dgm:pt>
    <dgm:pt modelId="{631D0369-246A-4261-9427-817A70BEB231}" type="sibTrans" cxnId="{B2DA1763-9C4F-4C6B-8755-168B20B2963D}">
      <dgm:prSet/>
      <dgm:spPr/>
      <dgm:t>
        <a:bodyPr/>
        <a:lstStyle/>
        <a:p>
          <a:endParaRPr lang="en-US"/>
        </a:p>
      </dgm:t>
    </dgm:pt>
    <dgm:pt modelId="{F5E0D277-F08D-45AE-8D76-E6731549CC30}">
      <dgm:prSet/>
      <dgm:spPr/>
      <dgm:t>
        <a:bodyPr/>
        <a:lstStyle/>
        <a:p>
          <a:r>
            <a:rPr lang="en-US" b="0" i="0" baseline="0"/>
            <a:t>The agent searches and extracts </a:t>
          </a:r>
          <a:r>
            <a:rPr lang="en-US" b="0" i="1" baseline="0"/>
            <a:t>market size data for 2024</a:t>
          </a:r>
          <a:r>
            <a:rPr lang="en-US" b="0" i="0" baseline="0"/>
            <a:t>.</a:t>
          </a:r>
          <a:endParaRPr lang="en-US"/>
        </a:p>
      </dgm:t>
    </dgm:pt>
    <dgm:pt modelId="{6A107842-53AE-4997-AB26-CF4B4A2DBE14}" type="parTrans" cxnId="{455C1EDC-2E3E-4591-B3F6-AE1A9E9F101F}">
      <dgm:prSet/>
      <dgm:spPr/>
      <dgm:t>
        <a:bodyPr/>
        <a:lstStyle/>
        <a:p>
          <a:endParaRPr lang="en-US"/>
        </a:p>
      </dgm:t>
    </dgm:pt>
    <dgm:pt modelId="{46E80627-E7BB-4522-BE6D-0A6E49A5FAFD}" type="sibTrans" cxnId="{455C1EDC-2E3E-4591-B3F6-AE1A9E9F101F}">
      <dgm:prSet/>
      <dgm:spPr/>
      <dgm:t>
        <a:bodyPr/>
        <a:lstStyle/>
        <a:p>
          <a:endParaRPr lang="en-US"/>
        </a:p>
      </dgm:t>
    </dgm:pt>
    <dgm:pt modelId="{3738E46E-639C-46D5-9C2B-8300F823B3B9}">
      <dgm:prSet/>
      <dgm:spPr/>
      <dgm:t>
        <a:bodyPr/>
        <a:lstStyle/>
        <a:p>
          <a:r>
            <a:rPr lang="en-US" b="0" i="0" baseline="0"/>
            <a:t>However, it misunderstands part of the instruction and includes </a:t>
          </a:r>
          <a:r>
            <a:rPr lang="en-US" b="0" i="1" baseline="0"/>
            <a:t>2022 data</a:t>
          </a:r>
          <a:r>
            <a:rPr lang="en-US" b="0" i="0" baseline="0"/>
            <a:t> as well.</a:t>
          </a:r>
          <a:endParaRPr lang="en-US"/>
        </a:p>
      </dgm:t>
    </dgm:pt>
    <dgm:pt modelId="{98A0EF6F-3F5E-4711-8B8E-1898A1603FE1}" type="parTrans" cxnId="{1ADDFC18-BD42-4F27-9B15-89F070F2A2D6}">
      <dgm:prSet/>
      <dgm:spPr/>
      <dgm:t>
        <a:bodyPr/>
        <a:lstStyle/>
        <a:p>
          <a:endParaRPr lang="en-US"/>
        </a:p>
      </dgm:t>
    </dgm:pt>
    <dgm:pt modelId="{8A6A2E79-3AD2-4037-A212-58E6897B26C7}" type="sibTrans" cxnId="{1ADDFC18-BD42-4F27-9B15-89F070F2A2D6}">
      <dgm:prSet/>
      <dgm:spPr/>
      <dgm:t>
        <a:bodyPr/>
        <a:lstStyle/>
        <a:p>
          <a:endParaRPr lang="en-US"/>
        </a:p>
      </dgm:t>
    </dgm:pt>
    <dgm:pt modelId="{93BDCEE7-D661-4F9E-A1DC-4ADD26F83F99}">
      <dgm:prSet/>
      <dgm:spPr/>
      <dgm:t>
        <a:bodyPr/>
        <a:lstStyle/>
        <a:p>
          <a:r>
            <a:rPr lang="en-US" b="0" i="0" baseline="0"/>
            <a:t>It stores the results in its local context (memory buffer).</a:t>
          </a:r>
          <a:endParaRPr lang="en-US"/>
        </a:p>
      </dgm:t>
    </dgm:pt>
    <dgm:pt modelId="{EBD8783F-DF39-48D7-A305-B0E960DE8F46}" type="parTrans" cxnId="{EB555FA3-2315-4AF4-B30D-7BF7DD3794F7}">
      <dgm:prSet/>
      <dgm:spPr/>
      <dgm:t>
        <a:bodyPr/>
        <a:lstStyle/>
        <a:p>
          <a:endParaRPr lang="en-US"/>
        </a:p>
      </dgm:t>
    </dgm:pt>
    <dgm:pt modelId="{73993DB0-30F2-4417-A07D-C9CA5535580C}" type="sibTrans" cxnId="{EB555FA3-2315-4AF4-B30D-7BF7DD3794F7}">
      <dgm:prSet/>
      <dgm:spPr/>
      <dgm:t>
        <a:bodyPr/>
        <a:lstStyle/>
        <a:p>
          <a:endParaRPr lang="en-US"/>
        </a:p>
      </dgm:t>
    </dgm:pt>
    <dgm:pt modelId="{7A824DAF-F7A2-48CC-9E0A-424363475F77}">
      <dgm:prSet/>
      <dgm:spPr/>
      <dgm:t>
        <a:bodyPr/>
        <a:lstStyle/>
        <a:p>
          <a:r>
            <a:rPr lang="en-US" b="1"/>
            <a:t>T</a:t>
          </a:r>
          <a:r>
            <a:rPr lang="en-US" b="1" i="0" baseline="0"/>
            <a:t>ask 2: Data Analysis</a:t>
          </a:r>
          <a:endParaRPr lang="en-US"/>
        </a:p>
      </dgm:t>
    </dgm:pt>
    <dgm:pt modelId="{D568CEFA-0A6B-4050-B37C-4A286D7140B5}" type="parTrans" cxnId="{A2EA0EB5-2F4C-4977-A042-B41D4C5F127A}">
      <dgm:prSet/>
      <dgm:spPr/>
      <dgm:t>
        <a:bodyPr/>
        <a:lstStyle/>
        <a:p>
          <a:endParaRPr lang="en-US"/>
        </a:p>
      </dgm:t>
    </dgm:pt>
    <dgm:pt modelId="{78FCCD4A-C329-4D5B-90AA-1A1CACAFB388}" type="sibTrans" cxnId="{A2EA0EB5-2F4C-4977-A042-B41D4C5F127A}">
      <dgm:prSet/>
      <dgm:spPr/>
      <dgm:t>
        <a:bodyPr/>
        <a:lstStyle/>
        <a:p>
          <a:endParaRPr lang="en-US"/>
        </a:p>
      </dgm:t>
    </dgm:pt>
    <dgm:pt modelId="{23A94DCA-B8E7-4863-A16F-F197A192AF1B}">
      <dgm:prSet/>
      <dgm:spPr/>
      <dgm:t>
        <a:bodyPr/>
        <a:lstStyle/>
        <a:p>
          <a:r>
            <a:rPr lang="en-US" b="0" i="0" baseline="0"/>
            <a:t>The same agent switches to “Analyst” mode.</a:t>
          </a:r>
          <a:endParaRPr lang="en-US"/>
        </a:p>
      </dgm:t>
    </dgm:pt>
    <dgm:pt modelId="{4A99AD7B-0C63-4057-9197-422248A3761B}" type="parTrans" cxnId="{C146299F-FB3A-4AAB-843A-AD8370CC499C}">
      <dgm:prSet/>
      <dgm:spPr/>
      <dgm:t>
        <a:bodyPr/>
        <a:lstStyle/>
        <a:p>
          <a:endParaRPr lang="en-US"/>
        </a:p>
      </dgm:t>
    </dgm:pt>
    <dgm:pt modelId="{D6A4A94F-2A95-43B6-9DEA-CC3FA1A24A9C}" type="sibTrans" cxnId="{C146299F-FB3A-4AAB-843A-AD8370CC499C}">
      <dgm:prSet/>
      <dgm:spPr/>
      <dgm:t>
        <a:bodyPr/>
        <a:lstStyle/>
        <a:p>
          <a:endParaRPr lang="en-US"/>
        </a:p>
      </dgm:t>
    </dgm:pt>
    <dgm:pt modelId="{2A6742C2-75CD-419B-9EEF-04D9A2D56F95}">
      <dgm:prSet/>
      <dgm:spPr/>
      <dgm:t>
        <a:bodyPr/>
        <a:lstStyle/>
        <a:p>
          <a:r>
            <a:rPr lang="en-US" b="0" i="0" baseline="0" dirty="0"/>
            <a:t>It starts analyzing before verifying or cleaning the dataset.</a:t>
          </a:r>
          <a:endParaRPr lang="en-US" dirty="0"/>
        </a:p>
      </dgm:t>
    </dgm:pt>
    <dgm:pt modelId="{2BCA7C61-7A78-4508-BB24-36DB176325C0}" type="parTrans" cxnId="{86DD7A8B-7785-4495-AF75-1C5FC7562D88}">
      <dgm:prSet/>
      <dgm:spPr/>
      <dgm:t>
        <a:bodyPr/>
        <a:lstStyle/>
        <a:p>
          <a:endParaRPr lang="en-US"/>
        </a:p>
      </dgm:t>
    </dgm:pt>
    <dgm:pt modelId="{68A87D53-1A85-4363-BB39-3169B5F001D1}" type="sibTrans" cxnId="{86DD7A8B-7785-4495-AF75-1C5FC7562D88}">
      <dgm:prSet/>
      <dgm:spPr/>
      <dgm:t>
        <a:bodyPr/>
        <a:lstStyle/>
        <a:p>
          <a:endParaRPr lang="en-US"/>
        </a:p>
      </dgm:t>
    </dgm:pt>
    <dgm:pt modelId="{C724F32D-1115-43B2-8EBE-6798B0292DEC}">
      <dgm:prSet/>
      <dgm:spPr/>
      <dgm:t>
        <a:bodyPr/>
        <a:lstStyle/>
        <a:p>
          <a:r>
            <a:rPr lang="en-US" b="0" i="0" baseline="0"/>
            <a:t>Because the roles share a single memory state, there is </a:t>
          </a:r>
          <a:r>
            <a:rPr lang="en-US" b="1" i="0" baseline="0"/>
            <a:t>no validation checkpoint</a:t>
          </a:r>
          <a:r>
            <a:rPr lang="en-US" b="0" i="0" baseline="0"/>
            <a:t> between research and analysis.</a:t>
          </a:r>
          <a:endParaRPr lang="en-US"/>
        </a:p>
      </dgm:t>
    </dgm:pt>
    <dgm:pt modelId="{F3CCA7CA-A52B-4E04-A55A-EAB5C95C029A}" type="parTrans" cxnId="{ECED870B-ABE6-4F1E-AF42-B09011757BE3}">
      <dgm:prSet/>
      <dgm:spPr/>
      <dgm:t>
        <a:bodyPr/>
        <a:lstStyle/>
        <a:p>
          <a:endParaRPr lang="en-US"/>
        </a:p>
      </dgm:t>
    </dgm:pt>
    <dgm:pt modelId="{7CDA4E58-4A07-4FD8-BDA2-E8D7BE5475DA}" type="sibTrans" cxnId="{ECED870B-ABE6-4F1E-AF42-B09011757BE3}">
      <dgm:prSet/>
      <dgm:spPr/>
      <dgm:t>
        <a:bodyPr/>
        <a:lstStyle/>
        <a:p>
          <a:endParaRPr lang="en-US"/>
        </a:p>
      </dgm:t>
    </dgm:pt>
    <dgm:pt modelId="{0E540F94-35B4-4354-99B7-3F0362BD1853}">
      <dgm:prSet/>
      <dgm:spPr/>
      <dgm:t>
        <a:bodyPr/>
        <a:lstStyle/>
        <a:p>
          <a:r>
            <a:rPr lang="en-US" b="1" i="0" baseline="0"/>
            <a:t>Task 3: Report Writing</a:t>
          </a:r>
          <a:endParaRPr lang="en-US"/>
        </a:p>
      </dgm:t>
    </dgm:pt>
    <dgm:pt modelId="{994A8CF1-8BF9-4046-A9D4-5991DC817F56}" type="parTrans" cxnId="{1DCF8079-323E-4A76-A90C-AC029FFB5AF0}">
      <dgm:prSet/>
      <dgm:spPr/>
      <dgm:t>
        <a:bodyPr/>
        <a:lstStyle/>
        <a:p>
          <a:endParaRPr lang="en-US"/>
        </a:p>
      </dgm:t>
    </dgm:pt>
    <dgm:pt modelId="{146525D6-90C3-4A5D-9284-F57DE32C82B3}" type="sibTrans" cxnId="{1DCF8079-323E-4A76-A90C-AC029FFB5AF0}">
      <dgm:prSet/>
      <dgm:spPr/>
      <dgm:t>
        <a:bodyPr/>
        <a:lstStyle/>
        <a:p>
          <a:endParaRPr lang="en-US"/>
        </a:p>
      </dgm:t>
    </dgm:pt>
    <dgm:pt modelId="{F66DA57F-4886-4DED-98CA-220CCF3C6C6C}">
      <dgm:prSet/>
      <dgm:spPr/>
      <dgm:t>
        <a:bodyPr/>
        <a:lstStyle/>
        <a:p>
          <a:r>
            <a:rPr lang="en-US" b="0" i="0" baseline="0"/>
            <a:t>The “Writer” role begins drafting the final report.</a:t>
          </a:r>
          <a:endParaRPr lang="en-US"/>
        </a:p>
      </dgm:t>
    </dgm:pt>
    <dgm:pt modelId="{DB96B332-1876-4BEA-A49B-AF7E338E5AEA}" type="parTrans" cxnId="{67C75280-24DD-4511-AB2E-D4F7F5A562A7}">
      <dgm:prSet/>
      <dgm:spPr/>
      <dgm:t>
        <a:bodyPr/>
        <a:lstStyle/>
        <a:p>
          <a:endParaRPr lang="en-US"/>
        </a:p>
      </dgm:t>
    </dgm:pt>
    <dgm:pt modelId="{F0A181F9-1DFF-4623-997A-2C483BE921D4}" type="sibTrans" cxnId="{67C75280-24DD-4511-AB2E-D4F7F5A562A7}">
      <dgm:prSet/>
      <dgm:spPr/>
      <dgm:t>
        <a:bodyPr/>
        <a:lstStyle/>
        <a:p>
          <a:endParaRPr lang="en-US"/>
        </a:p>
      </dgm:t>
    </dgm:pt>
    <dgm:pt modelId="{78336F7B-7023-478D-9DDF-CE8744FCC9A4}">
      <dgm:prSet/>
      <dgm:spPr/>
      <dgm:t>
        <a:bodyPr/>
        <a:lstStyle/>
        <a:p>
          <a:r>
            <a:rPr lang="en-US" b="0" i="0" baseline="0"/>
            <a:t>It assumes the earlier analysis was correct, citing </a:t>
          </a:r>
          <a:r>
            <a:rPr lang="en-US" b="0" i="1" baseline="0"/>
            <a:t>2022 trends</a:t>
          </a:r>
          <a:r>
            <a:rPr lang="en-US" b="0" i="0" baseline="0"/>
            <a:t> as </a:t>
          </a:r>
          <a:r>
            <a:rPr lang="en-US" b="0" i="1" baseline="0"/>
            <a:t>current market data</a:t>
          </a:r>
          <a:r>
            <a:rPr lang="en-US" b="0" i="0" baseline="0"/>
            <a:t>.</a:t>
          </a:r>
          <a:endParaRPr lang="en-US"/>
        </a:p>
      </dgm:t>
    </dgm:pt>
    <dgm:pt modelId="{5F0D6BBA-448A-41CE-A8DC-158225DA28D0}" type="parTrans" cxnId="{9A6BC463-BB89-409F-BF67-CF75960976CA}">
      <dgm:prSet/>
      <dgm:spPr/>
      <dgm:t>
        <a:bodyPr/>
        <a:lstStyle/>
        <a:p>
          <a:endParaRPr lang="en-US"/>
        </a:p>
      </dgm:t>
    </dgm:pt>
    <dgm:pt modelId="{10F33F2E-222C-457B-9590-AAB4136F8BDD}" type="sibTrans" cxnId="{9A6BC463-BB89-409F-BF67-CF75960976CA}">
      <dgm:prSet/>
      <dgm:spPr/>
      <dgm:t>
        <a:bodyPr/>
        <a:lstStyle/>
        <a:p>
          <a:endParaRPr lang="en-US"/>
        </a:p>
      </dgm:t>
    </dgm:pt>
    <dgm:pt modelId="{A302DD6C-B955-42A7-92E3-EEB486390ED5}">
      <dgm:prSet/>
      <dgm:spPr/>
      <dgm:t>
        <a:bodyPr/>
        <a:lstStyle/>
        <a:p>
          <a:r>
            <a:rPr lang="en-US" b="0" i="0" baseline="0"/>
            <a:t>The final output looks coherent but is factually wrong.</a:t>
          </a:r>
          <a:endParaRPr lang="en-US"/>
        </a:p>
      </dgm:t>
    </dgm:pt>
    <dgm:pt modelId="{D0A86CBF-67E5-40CC-AB5F-EEFE39784C39}" type="parTrans" cxnId="{1930A212-C7D7-47C6-8243-C64F0D24481A}">
      <dgm:prSet/>
      <dgm:spPr/>
      <dgm:t>
        <a:bodyPr/>
        <a:lstStyle/>
        <a:p>
          <a:endParaRPr lang="en-US"/>
        </a:p>
      </dgm:t>
    </dgm:pt>
    <dgm:pt modelId="{CD59DECE-52B9-4639-BD86-24167713B64B}" type="sibTrans" cxnId="{1930A212-C7D7-47C6-8243-C64F0D24481A}">
      <dgm:prSet/>
      <dgm:spPr/>
      <dgm:t>
        <a:bodyPr/>
        <a:lstStyle/>
        <a:p>
          <a:endParaRPr lang="en-US"/>
        </a:p>
      </dgm:t>
    </dgm:pt>
    <dgm:pt modelId="{6C7633D5-A087-4791-B2E7-430A86B50216}" type="pres">
      <dgm:prSet presAssocID="{F3D41A07-1B44-4BC6-8E0D-CBD7E2F1F19C}" presName="linear" presStyleCnt="0">
        <dgm:presLayoutVars>
          <dgm:dir/>
          <dgm:animLvl val="lvl"/>
          <dgm:resizeHandles val="exact"/>
        </dgm:presLayoutVars>
      </dgm:prSet>
      <dgm:spPr/>
    </dgm:pt>
    <dgm:pt modelId="{BFDA843A-7A38-49E2-8187-C072FBE944BB}" type="pres">
      <dgm:prSet presAssocID="{3D58A5CB-3650-4BA3-BC3C-928F30301BF8}" presName="parentLin" presStyleCnt="0"/>
      <dgm:spPr/>
    </dgm:pt>
    <dgm:pt modelId="{43AE3805-4A69-4AA6-8A28-2342ACE92862}" type="pres">
      <dgm:prSet presAssocID="{3D58A5CB-3650-4BA3-BC3C-928F30301BF8}" presName="parentLeftMargin" presStyleLbl="node1" presStyleIdx="0" presStyleCnt="3"/>
      <dgm:spPr/>
    </dgm:pt>
    <dgm:pt modelId="{75AFAF2B-A67E-4C51-9CF1-A6ED20A93389}" type="pres">
      <dgm:prSet presAssocID="{3D58A5CB-3650-4BA3-BC3C-928F30301B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1D4681-88F4-40D0-A13B-CE0D50D72A07}" type="pres">
      <dgm:prSet presAssocID="{3D58A5CB-3650-4BA3-BC3C-928F30301BF8}" presName="negativeSpace" presStyleCnt="0"/>
      <dgm:spPr/>
    </dgm:pt>
    <dgm:pt modelId="{64FF4BB6-9879-402A-B529-C0B984BDBE46}" type="pres">
      <dgm:prSet presAssocID="{3D58A5CB-3650-4BA3-BC3C-928F30301BF8}" presName="childText" presStyleLbl="conFgAcc1" presStyleIdx="0" presStyleCnt="3">
        <dgm:presLayoutVars>
          <dgm:bulletEnabled val="1"/>
        </dgm:presLayoutVars>
      </dgm:prSet>
      <dgm:spPr/>
    </dgm:pt>
    <dgm:pt modelId="{477C5EBE-0A04-40B7-91A4-92EF28D73764}" type="pres">
      <dgm:prSet presAssocID="{631D0369-246A-4261-9427-817A70BEB231}" presName="spaceBetweenRectangles" presStyleCnt="0"/>
      <dgm:spPr/>
    </dgm:pt>
    <dgm:pt modelId="{7D734629-5ADB-4450-8359-CA6D5B76333A}" type="pres">
      <dgm:prSet presAssocID="{7A824DAF-F7A2-48CC-9E0A-424363475F77}" presName="parentLin" presStyleCnt="0"/>
      <dgm:spPr/>
    </dgm:pt>
    <dgm:pt modelId="{B744831B-15E2-45D8-BDE0-839C043042C1}" type="pres">
      <dgm:prSet presAssocID="{7A824DAF-F7A2-48CC-9E0A-424363475F77}" presName="parentLeftMargin" presStyleLbl="node1" presStyleIdx="0" presStyleCnt="3"/>
      <dgm:spPr/>
    </dgm:pt>
    <dgm:pt modelId="{B3E9506E-0DBF-4600-BB65-9F4CA96631D4}" type="pres">
      <dgm:prSet presAssocID="{7A824DAF-F7A2-48CC-9E0A-424363475F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9900BB-F279-4087-A39F-433115627685}" type="pres">
      <dgm:prSet presAssocID="{7A824DAF-F7A2-48CC-9E0A-424363475F77}" presName="negativeSpace" presStyleCnt="0"/>
      <dgm:spPr/>
    </dgm:pt>
    <dgm:pt modelId="{155DAB3D-B740-4AD3-BDB4-ED49AE277113}" type="pres">
      <dgm:prSet presAssocID="{7A824DAF-F7A2-48CC-9E0A-424363475F77}" presName="childText" presStyleLbl="conFgAcc1" presStyleIdx="1" presStyleCnt="3">
        <dgm:presLayoutVars>
          <dgm:bulletEnabled val="1"/>
        </dgm:presLayoutVars>
      </dgm:prSet>
      <dgm:spPr/>
    </dgm:pt>
    <dgm:pt modelId="{3958DF39-429E-40CE-B6AF-AB6E180AF936}" type="pres">
      <dgm:prSet presAssocID="{78FCCD4A-C329-4D5B-90AA-1A1CACAFB388}" presName="spaceBetweenRectangles" presStyleCnt="0"/>
      <dgm:spPr/>
    </dgm:pt>
    <dgm:pt modelId="{4AFE1C24-C3F5-42F9-A149-70945B6B86BC}" type="pres">
      <dgm:prSet presAssocID="{0E540F94-35B4-4354-99B7-3F0362BD1853}" presName="parentLin" presStyleCnt="0"/>
      <dgm:spPr/>
    </dgm:pt>
    <dgm:pt modelId="{8758A3C2-77A9-4F60-B000-E99C99AE802D}" type="pres">
      <dgm:prSet presAssocID="{0E540F94-35B4-4354-99B7-3F0362BD1853}" presName="parentLeftMargin" presStyleLbl="node1" presStyleIdx="1" presStyleCnt="3"/>
      <dgm:spPr/>
    </dgm:pt>
    <dgm:pt modelId="{9046EA5C-5B53-42AE-A948-67ED61D3F49B}" type="pres">
      <dgm:prSet presAssocID="{0E540F94-35B4-4354-99B7-3F0362BD185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393C0E5-26A2-4BF9-8404-DA5815BAE5C9}" type="pres">
      <dgm:prSet presAssocID="{0E540F94-35B4-4354-99B7-3F0362BD1853}" presName="negativeSpace" presStyleCnt="0"/>
      <dgm:spPr/>
    </dgm:pt>
    <dgm:pt modelId="{7401AE3D-DCA2-4174-9D8A-1365C227C812}" type="pres">
      <dgm:prSet presAssocID="{0E540F94-35B4-4354-99B7-3F0362BD185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ED870B-ABE6-4F1E-AF42-B09011757BE3}" srcId="{7A824DAF-F7A2-48CC-9E0A-424363475F77}" destId="{C724F32D-1115-43B2-8EBE-6798B0292DEC}" srcOrd="2" destOrd="0" parTransId="{F3CCA7CA-A52B-4E04-A55A-EAB5C95C029A}" sibTransId="{7CDA4E58-4A07-4FD8-BDA2-E8D7BE5475DA}"/>
    <dgm:cxn modelId="{1930A212-C7D7-47C6-8243-C64F0D24481A}" srcId="{0E540F94-35B4-4354-99B7-3F0362BD1853}" destId="{A302DD6C-B955-42A7-92E3-EEB486390ED5}" srcOrd="2" destOrd="0" parTransId="{D0A86CBF-67E5-40CC-AB5F-EEFE39784C39}" sibTransId="{CD59DECE-52B9-4639-BD86-24167713B64B}"/>
    <dgm:cxn modelId="{152DF015-8028-4357-82A7-CC47CE647A2E}" type="presOf" srcId="{0E540F94-35B4-4354-99B7-3F0362BD1853}" destId="{9046EA5C-5B53-42AE-A948-67ED61D3F49B}" srcOrd="1" destOrd="0" presId="urn:microsoft.com/office/officeart/2005/8/layout/list1"/>
    <dgm:cxn modelId="{1ADDFC18-BD42-4F27-9B15-89F070F2A2D6}" srcId="{3D58A5CB-3650-4BA3-BC3C-928F30301BF8}" destId="{3738E46E-639C-46D5-9C2B-8300F823B3B9}" srcOrd="1" destOrd="0" parTransId="{98A0EF6F-3F5E-4711-8B8E-1898A1603FE1}" sibTransId="{8A6A2E79-3AD2-4037-A212-58E6897B26C7}"/>
    <dgm:cxn modelId="{C85AA11E-835E-41FD-ACFC-C1588820274E}" type="presOf" srcId="{93BDCEE7-D661-4F9E-A1DC-4ADD26F83F99}" destId="{64FF4BB6-9879-402A-B529-C0B984BDBE46}" srcOrd="0" destOrd="2" presId="urn:microsoft.com/office/officeart/2005/8/layout/list1"/>
    <dgm:cxn modelId="{2BD8753B-C236-4AD8-A042-C9CB6854A770}" type="presOf" srcId="{A302DD6C-B955-42A7-92E3-EEB486390ED5}" destId="{7401AE3D-DCA2-4174-9D8A-1365C227C812}" srcOrd="0" destOrd="2" presId="urn:microsoft.com/office/officeart/2005/8/layout/list1"/>
    <dgm:cxn modelId="{2066FE3D-78EE-488F-ADB0-9AD03EE2BA53}" type="presOf" srcId="{F66DA57F-4886-4DED-98CA-220CCF3C6C6C}" destId="{7401AE3D-DCA2-4174-9D8A-1365C227C812}" srcOrd="0" destOrd="0" presId="urn:microsoft.com/office/officeart/2005/8/layout/list1"/>
    <dgm:cxn modelId="{E4182A62-90A1-4959-B650-5853BD5D3CD6}" type="presOf" srcId="{0E540F94-35B4-4354-99B7-3F0362BD1853}" destId="{8758A3C2-77A9-4F60-B000-E99C99AE802D}" srcOrd="0" destOrd="0" presId="urn:microsoft.com/office/officeart/2005/8/layout/list1"/>
    <dgm:cxn modelId="{B2DA1763-9C4F-4C6B-8755-168B20B2963D}" srcId="{F3D41A07-1B44-4BC6-8E0D-CBD7E2F1F19C}" destId="{3D58A5CB-3650-4BA3-BC3C-928F30301BF8}" srcOrd="0" destOrd="0" parTransId="{F07B2391-7BE4-49B6-B020-145B671305E9}" sibTransId="{631D0369-246A-4261-9427-817A70BEB231}"/>
    <dgm:cxn modelId="{9A6BC463-BB89-409F-BF67-CF75960976CA}" srcId="{0E540F94-35B4-4354-99B7-3F0362BD1853}" destId="{78336F7B-7023-478D-9DDF-CE8744FCC9A4}" srcOrd="1" destOrd="0" parTransId="{5F0D6BBA-448A-41CE-A8DC-158225DA28D0}" sibTransId="{10F33F2E-222C-457B-9590-AAB4136F8BDD}"/>
    <dgm:cxn modelId="{B44FBB73-E32A-4F8D-ADEC-9681F975DA12}" type="presOf" srcId="{C724F32D-1115-43B2-8EBE-6798B0292DEC}" destId="{155DAB3D-B740-4AD3-BDB4-ED49AE277113}" srcOrd="0" destOrd="2" presId="urn:microsoft.com/office/officeart/2005/8/layout/list1"/>
    <dgm:cxn modelId="{1DCF8079-323E-4A76-A90C-AC029FFB5AF0}" srcId="{F3D41A07-1B44-4BC6-8E0D-CBD7E2F1F19C}" destId="{0E540F94-35B4-4354-99B7-3F0362BD1853}" srcOrd="2" destOrd="0" parTransId="{994A8CF1-8BF9-4046-A9D4-5991DC817F56}" sibTransId="{146525D6-90C3-4A5D-9284-F57DE32C82B3}"/>
    <dgm:cxn modelId="{A016EA7A-D794-47F0-9B95-6CAB0A693F87}" type="presOf" srcId="{3738E46E-639C-46D5-9C2B-8300F823B3B9}" destId="{64FF4BB6-9879-402A-B529-C0B984BDBE46}" srcOrd="0" destOrd="1" presId="urn:microsoft.com/office/officeart/2005/8/layout/list1"/>
    <dgm:cxn modelId="{67C75280-24DD-4511-AB2E-D4F7F5A562A7}" srcId="{0E540F94-35B4-4354-99B7-3F0362BD1853}" destId="{F66DA57F-4886-4DED-98CA-220CCF3C6C6C}" srcOrd="0" destOrd="0" parTransId="{DB96B332-1876-4BEA-A49B-AF7E338E5AEA}" sibTransId="{F0A181F9-1DFF-4623-997A-2C483BE921D4}"/>
    <dgm:cxn modelId="{A3C70688-3AE9-47C9-9C06-41A51165EDAE}" type="presOf" srcId="{7A824DAF-F7A2-48CC-9E0A-424363475F77}" destId="{B3E9506E-0DBF-4600-BB65-9F4CA96631D4}" srcOrd="1" destOrd="0" presId="urn:microsoft.com/office/officeart/2005/8/layout/list1"/>
    <dgm:cxn modelId="{86DD7A8B-7785-4495-AF75-1C5FC7562D88}" srcId="{7A824DAF-F7A2-48CC-9E0A-424363475F77}" destId="{2A6742C2-75CD-419B-9EEF-04D9A2D56F95}" srcOrd="1" destOrd="0" parTransId="{2BCA7C61-7A78-4508-BB24-36DB176325C0}" sibTransId="{68A87D53-1A85-4363-BB39-3169B5F001D1}"/>
    <dgm:cxn modelId="{D5E71B90-7668-453E-A848-2E18C2019F39}" type="presOf" srcId="{7A824DAF-F7A2-48CC-9E0A-424363475F77}" destId="{B744831B-15E2-45D8-BDE0-839C043042C1}" srcOrd="0" destOrd="0" presId="urn:microsoft.com/office/officeart/2005/8/layout/list1"/>
    <dgm:cxn modelId="{5CADFB9D-9811-4260-AAE4-B86598E01BEB}" type="presOf" srcId="{3D58A5CB-3650-4BA3-BC3C-928F30301BF8}" destId="{43AE3805-4A69-4AA6-8A28-2342ACE92862}" srcOrd="0" destOrd="0" presId="urn:microsoft.com/office/officeart/2005/8/layout/list1"/>
    <dgm:cxn modelId="{C146299F-FB3A-4AAB-843A-AD8370CC499C}" srcId="{7A824DAF-F7A2-48CC-9E0A-424363475F77}" destId="{23A94DCA-B8E7-4863-A16F-F197A192AF1B}" srcOrd="0" destOrd="0" parTransId="{4A99AD7B-0C63-4057-9197-422248A3761B}" sibTransId="{D6A4A94F-2A95-43B6-9DEA-CC3FA1A24A9C}"/>
    <dgm:cxn modelId="{2A51CCA0-B828-4CEC-BA20-5C054E00B82C}" type="presOf" srcId="{78336F7B-7023-478D-9DDF-CE8744FCC9A4}" destId="{7401AE3D-DCA2-4174-9D8A-1365C227C812}" srcOrd="0" destOrd="1" presId="urn:microsoft.com/office/officeart/2005/8/layout/list1"/>
    <dgm:cxn modelId="{EB555FA3-2315-4AF4-B30D-7BF7DD3794F7}" srcId="{3D58A5CB-3650-4BA3-BC3C-928F30301BF8}" destId="{93BDCEE7-D661-4F9E-A1DC-4ADD26F83F99}" srcOrd="2" destOrd="0" parTransId="{EBD8783F-DF39-48D7-A305-B0E960DE8F46}" sibTransId="{73993DB0-30F2-4417-A07D-C9CA5535580C}"/>
    <dgm:cxn modelId="{A2EA0EB5-2F4C-4977-A042-B41D4C5F127A}" srcId="{F3D41A07-1B44-4BC6-8E0D-CBD7E2F1F19C}" destId="{7A824DAF-F7A2-48CC-9E0A-424363475F77}" srcOrd="1" destOrd="0" parTransId="{D568CEFA-0A6B-4050-B37C-4A286D7140B5}" sibTransId="{78FCCD4A-C329-4D5B-90AA-1A1CACAFB388}"/>
    <dgm:cxn modelId="{4DE10FDA-7ABD-4941-B773-EEC29E8C2E84}" type="presOf" srcId="{2A6742C2-75CD-419B-9EEF-04D9A2D56F95}" destId="{155DAB3D-B740-4AD3-BDB4-ED49AE277113}" srcOrd="0" destOrd="1" presId="urn:microsoft.com/office/officeart/2005/8/layout/list1"/>
    <dgm:cxn modelId="{455C1EDC-2E3E-4591-B3F6-AE1A9E9F101F}" srcId="{3D58A5CB-3650-4BA3-BC3C-928F30301BF8}" destId="{F5E0D277-F08D-45AE-8D76-E6731549CC30}" srcOrd="0" destOrd="0" parTransId="{6A107842-53AE-4997-AB26-CF4B4A2DBE14}" sibTransId="{46E80627-E7BB-4522-BE6D-0A6E49A5FAFD}"/>
    <dgm:cxn modelId="{482BE5F1-16F4-4C1F-B7FF-621B320B9689}" type="presOf" srcId="{3D58A5CB-3650-4BA3-BC3C-928F30301BF8}" destId="{75AFAF2B-A67E-4C51-9CF1-A6ED20A93389}" srcOrd="1" destOrd="0" presId="urn:microsoft.com/office/officeart/2005/8/layout/list1"/>
    <dgm:cxn modelId="{ED0C65F8-881D-43B9-8795-13A71DCA527A}" type="presOf" srcId="{F3D41A07-1B44-4BC6-8E0D-CBD7E2F1F19C}" destId="{6C7633D5-A087-4791-B2E7-430A86B50216}" srcOrd="0" destOrd="0" presId="urn:microsoft.com/office/officeart/2005/8/layout/list1"/>
    <dgm:cxn modelId="{67C361F9-FB1A-4A5E-9C26-A10EEB210650}" type="presOf" srcId="{23A94DCA-B8E7-4863-A16F-F197A192AF1B}" destId="{155DAB3D-B740-4AD3-BDB4-ED49AE277113}" srcOrd="0" destOrd="0" presId="urn:microsoft.com/office/officeart/2005/8/layout/list1"/>
    <dgm:cxn modelId="{8AB9AEFC-5727-46F3-93B6-492DC510F4CC}" type="presOf" srcId="{F5E0D277-F08D-45AE-8D76-E6731549CC30}" destId="{64FF4BB6-9879-402A-B529-C0B984BDBE46}" srcOrd="0" destOrd="0" presId="urn:microsoft.com/office/officeart/2005/8/layout/list1"/>
    <dgm:cxn modelId="{6B68A4C6-7672-4B82-AC26-54E5475E14F7}" type="presParOf" srcId="{6C7633D5-A087-4791-B2E7-430A86B50216}" destId="{BFDA843A-7A38-49E2-8187-C072FBE944BB}" srcOrd="0" destOrd="0" presId="urn:microsoft.com/office/officeart/2005/8/layout/list1"/>
    <dgm:cxn modelId="{7E6298AD-B5E6-43B4-BBFA-3DD25AAC65D9}" type="presParOf" srcId="{BFDA843A-7A38-49E2-8187-C072FBE944BB}" destId="{43AE3805-4A69-4AA6-8A28-2342ACE92862}" srcOrd="0" destOrd="0" presId="urn:microsoft.com/office/officeart/2005/8/layout/list1"/>
    <dgm:cxn modelId="{2C9201B0-D518-429C-81D0-EFAB89124C42}" type="presParOf" srcId="{BFDA843A-7A38-49E2-8187-C072FBE944BB}" destId="{75AFAF2B-A67E-4C51-9CF1-A6ED20A93389}" srcOrd="1" destOrd="0" presId="urn:microsoft.com/office/officeart/2005/8/layout/list1"/>
    <dgm:cxn modelId="{FCA022F1-4021-4A6A-A22F-30DC01A0BE32}" type="presParOf" srcId="{6C7633D5-A087-4791-B2E7-430A86B50216}" destId="{A51D4681-88F4-40D0-A13B-CE0D50D72A07}" srcOrd="1" destOrd="0" presId="urn:microsoft.com/office/officeart/2005/8/layout/list1"/>
    <dgm:cxn modelId="{E1ACD280-8820-42CD-AADB-EEB5DDFFCBDD}" type="presParOf" srcId="{6C7633D5-A087-4791-B2E7-430A86B50216}" destId="{64FF4BB6-9879-402A-B529-C0B984BDBE46}" srcOrd="2" destOrd="0" presId="urn:microsoft.com/office/officeart/2005/8/layout/list1"/>
    <dgm:cxn modelId="{FABF0631-F2B5-44F3-A892-F8B8F00FC815}" type="presParOf" srcId="{6C7633D5-A087-4791-B2E7-430A86B50216}" destId="{477C5EBE-0A04-40B7-91A4-92EF28D73764}" srcOrd="3" destOrd="0" presId="urn:microsoft.com/office/officeart/2005/8/layout/list1"/>
    <dgm:cxn modelId="{FDF36680-F344-4218-8B4E-56CA9A0F3E8B}" type="presParOf" srcId="{6C7633D5-A087-4791-B2E7-430A86B50216}" destId="{7D734629-5ADB-4450-8359-CA6D5B76333A}" srcOrd="4" destOrd="0" presId="urn:microsoft.com/office/officeart/2005/8/layout/list1"/>
    <dgm:cxn modelId="{833239DD-813B-4644-9797-FF8EE724E0E8}" type="presParOf" srcId="{7D734629-5ADB-4450-8359-CA6D5B76333A}" destId="{B744831B-15E2-45D8-BDE0-839C043042C1}" srcOrd="0" destOrd="0" presId="urn:microsoft.com/office/officeart/2005/8/layout/list1"/>
    <dgm:cxn modelId="{186F499A-FE20-48B0-9842-AA50BD7F044D}" type="presParOf" srcId="{7D734629-5ADB-4450-8359-CA6D5B76333A}" destId="{B3E9506E-0DBF-4600-BB65-9F4CA96631D4}" srcOrd="1" destOrd="0" presId="urn:microsoft.com/office/officeart/2005/8/layout/list1"/>
    <dgm:cxn modelId="{5A4FBBFF-5BE7-4F46-A7FF-06AC7919C5E1}" type="presParOf" srcId="{6C7633D5-A087-4791-B2E7-430A86B50216}" destId="{709900BB-F279-4087-A39F-433115627685}" srcOrd="5" destOrd="0" presId="urn:microsoft.com/office/officeart/2005/8/layout/list1"/>
    <dgm:cxn modelId="{6A11982C-2863-4EB4-8DA9-C9228F1D0FBF}" type="presParOf" srcId="{6C7633D5-A087-4791-B2E7-430A86B50216}" destId="{155DAB3D-B740-4AD3-BDB4-ED49AE277113}" srcOrd="6" destOrd="0" presId="urn:microsoft.com/office/officeart/2005/8/layout/list1"/>
    <dgm:cxn modelId="{F4C8DB90-4928-4FB7-8D1B-EE516A19C64C}" type="presParOf" srcId="{6C7633D5-A087-4791-B2E7-430A86B50216}" destId="{3958DF39-429E-40CE-B6AF-AB6E180AF936}" srcOrd="7" destOrd="0" presId="urn:microsoft.com/office/officeart/2005/8/layout/list1"/>
    <dgm:cxn modelId="{6F85DCEB-1233-48BE-9A25-1DE57573969D}" type="presParOf" srcId="{6C7633D5-A087-4791-B2E7-430A86B50216}" destId="{4AFE1C24-C3F5-42F9-A149-70945B6B86BC}" srcOrd="8" destOrd="0" presId="urn:microsoft.com/office/officeart/2005/8/layout/list1"/>
    <dgm:cxn modelId="{6787C883-77A2-4149-9067-79D8796F3587}" type="presParOf" srcId="{4AFE1C24-C3F5-42F9-A149-70945B6B86BC}" destId="{8758A3C2-77A9-4F60-B000-E99C99AE802D}" srcOrd="0" destOrd="0" presId="urn:microsoft.com/office/officeart/2005/8/layout/list1"/>
    <dgm:cxn modelId="{5F71909F-6425-47C3-B17E-427EC75B5C0D}" type="presParOf" srcId="{4AFE1C24-C3F5-42F9-A149-70945B6B86BC}" destId="{9046EA5C-5B53-42AE-A948-67ED61D3F49B}" srcOrd="1" destOrd="0" presId="urn:microsoft.com/office/officeart/2005/8/layout/list1"/>
    <dgm:cxn modelId="{110C6C9A-2093-4CD2-8C11-DF64B1E4F9E0}" type="presParOf" srcId="{6C7633D5-A087-4791-B2E7-430A86B50216}" destId="{B393C0E5-26A2-4BF9-8404-DA5815BAE5C9}" srcOrd="9" destOrd="0" presId="urn:microsoft.com/office/officeart/2005/8/layout/list1"/>
    <dgm:cxn modelId="{A1AC1BBF-A449-486B-95BF-A6C194283067}" type="presParOf" srcId="{6C7633D5-A087-4791-B2E7-430A86B50216}" destId="{7401AE3D-DCA2-4174-9D8A-1365C227C81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4C023F-F9F6-4549-AECD-843A49C9A79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A543757-9686-4153-9006-12AD756C7A2C}">
      <dgm:prSet/>
      <dgm:spPr/>
      <dgm:t>
        <a:bodyPr/>
        <a:lstStyle/>
        <a:p>
          <a:r>
            <a:rPr lang="en-US" b="1" i="0" baseline="0"/>
            <a:t>Autonomous Agent Collaboration</a:t>
          </a:r>
          <a:br>
            <a:rPr lang="en-US" b="0" i="0" baseline="0"/>
          </a:br>
          <a:r>
            <a:rPr lang="en-US" b="0" i="0" baseline="0"/>
            <a:t> - How agents decide who does what</a:t>
          </a:r>
          <a:br>
            <a:rPr lang="en-US" b="0" i="0" baseline="0"/>
          </a:br>
          <a:r>
            <a:rPr lang="en-US" b="0" i="0" baseline="0"/>
            <a:t> - Negotiation, delegation, subtask routing</a:t>
          </a:r>
          <a:br>
            <a:rPr lang="en-US" b="0" i="0" baseline="0"/>
          </a:br>
          <a:r>
            <a:rPr lang="en-US" b="0" i="0" baseline="0"/>
            <a:t> - Handling conflicts, dependencies, resource contention</a:t>
          </a:r>
          <a:endParaRPr lang="en-US"/>
        </a:p>
      </dgm:t>
    </dgm:pt>
    <dgm:pt modelId="{ACD7E2C6-3386-41C2-A4BD-88D9B365F988}" type="parTrans" cxnId="{704E967D-ECF7-4DFB-93C3-803402F8E6E3}">
      <dgm:prSet/>
      <dgm:spPr/>
      <dgm:t>
        <a:bodyPr/>
        <a:lstStyle/>
        <a:p>
          <a:endParaRPr lang="en-US"/>
        </a:p>
      </dgm:t>
    </dgm:pt>
    <dgm:pt modelId="{E0714BE8-37A4-456B-A975-8FDB92770398}" type="sibTrans" cxnId="{704E967D-ECF7-4DFB-93C3-803402F8E6E3}">
      <dgm:prSet/>
      <dgm:spPr/>
      <dgm:t>
        <a:bodyPr/>
        <a:lstStyle/>
        <a:p>
          <a:endParaRPr lang="en-US"/>
        </a:p>
      </dgm:t>
    </dgm:pt>
    <dgm:pt modelId="{BE43ECA8-1AAE-4595-A418-CC9ACA8A08E2}">
      <dgm:prSet/>
      <dgm:spPr/>
      <dgm:t>
        <a:bodyPr/>
        <a:lstStyle/>
        <a:p>
          <a:r>
            <a:rPr lang="en-US" b="1" i="0" baseline="0"/>
            <a:t>Messaging / Communication Protocols</a:t>
          </a:r>
          <a:br>
            <a:rPr lang="en-US" b="0" i="0" baseline="0"/>
          </a:br>
          <a:r>
            <a:rPr lang="en-US" b="0" i="0" baseline="0"/>
            <a:t> - Synchronous vs asynchronous messaging</a:t>
          </a:r>
          <a:br>
            <a:rPr lang="en-US" b="0" i="0" baseline="0"/>
          </a:br>
          <a:r>
            <a:rPr lang="en-US" b="0" i="0" baseline="0"/>
            <a:t> - Channels, queues, publish/subscribe</a:t>
          </a:r>
          <a:br>
            <a:rPr lang="en-US" b="0" i="0" baseline="0"/>
          </a:br>
          <a:r>
            <a:rPr lang="en-US" b="0" i="0" baseline="0"/>
            <a:t> - Message formats, contracts, schemas</a:t>
          </a:r>
          <a:br>
            <a:rPr lang="en-US" b="0" i="0" baseline="0"/>
          </a:br>
          <a:r>
            <a:rPr lang="en-US" b="0" i="0" baseline="0"/>
            <a:t> - Acknowledgments, retries, error signaling</a:t>
          </a:r>
          <a:endParaRPr lang="en-US"/>
        </a:p>
      </dgm:t>
    </dgm:pt>
    <dgm:pt modelId="{96DEF8D8-DFFB-4A92-BFC8-0B254635F3F7}" type="parTrans" cxnId="{4895DCFB-696E-4ECD-810A-99F27CDB7FED}">
      <dgm:prSet/>
      <dgm:spPr/>
      <dgm:t>
        <a:bodyPr/>
        <a:lstStyle/>
        <a:p>
          <a:endParaRPr lang="en-US"/>
        </a:p>
      </dgm:t>
    </dgm:pt>
    <dgm:pt modelId="{DBC24102-217B-4D54-AACC-4CC9A35C20FC}" type="sibTrans" cxnId="{4895DCFB-696E-4ECD-810A-99F27CDB7FED}">
      <dgm:prSet/>
      <dgm:spPr/>
      <dgm:t>
        <a:bodyPr/>
        <a:lstStyle/>
        <a:p>
          <a:endParaRPr lang="en-US"/>
        </a:p>
      </dgm:t>
    </dgm:pt>
    <dgm:pt modelId="{93B152C3-9891-4D6C-9739-487BFAD6EAB0}">
      <dgm:prSet/>
      <dgm:spPr/>
      <dgm:t>
        <a:bodyPr/>
        <a:lstStyle/>
        <a:p>
          <a:r>
            <a:rPr lang="en-US" b="1" i="0" baseline="0" dirty="0"/>
            <a:t>Coordination Strategies</a:t>
          </a:r>
          <a:br>
            <a:rPr lang="en-US" b="0" i="0" baseline="0" dirty="0"/>
          </a:br>
          <a:r>
            <a:rPr lang="en-US" b="0" i="0" baseline="0" dirty="0"/>
            <a:t> - Centralized orchestration (supervisor / controller)</a:t>
          </a:r>
          <a:br>
            <a:rPr lang="en-US" b="0" i="0" baseline="0" dirty="0"/>
          </a:br>
          <a:r>
            <a:rPr lang="en-US" b="0" i="0" baseline="0" dirty="0"/>
            <a:t> - Peer-to-peer (swarm) coordination</a:t>
          </a:r>
          <a:br>
            <a:rPr lang="en-US" b="0" i="0" baseline="0" dirty="0"/>
          </a:br>
          <a:r>
            <a:rPr lang="en-US" b="0" i="0" baseline="0" dirty="0"/>
            <a:t> - Hierarchical coordination (teams, supervisors)</a:t>
          </a:r>
          <a:br>
            <a:rPr lang="en-US" b="0" i="0" baseline="0" dirty="0"/>
          </a:br>
          <a:r>
            <a:rPr lang="en-US" b="0" i="0" baseline="0" dirty="0"/>
            <a:t> - Contract net, blackboard, token rings, consensus, auctions</a:t>
          </a:r>
          <a:endParaRPr lang="en-US" dirty="0"/>
        </a:p>
      </dgm:t>
    </dgm:pt>
    <dgm:pt modelId="{A837EDB2-AF77-4A32-92F4-5D88E22CA397}" type="parTrans" cxnId="{9EFA8118-14C6-499C-800D-A8D7DA77A4EC}">
      <dgm:prSet/>
      <dgm:spPr/>
      <dgm:t>
        <a:bodyPr/>
        <a:lstStyle/>
        <a:p>
          <a:endParaRPr lang="en-US"/>
        </a:p>
      </dgm:t>
    </dgm:pt>
    <dgm:pt modelId="{371FCAC6-79EA-4A77-8F6E-5318B8B7CE7C}" type="sibTrans" cxnId="{9EFA8118-14C6-499C-800D-A8D7DA77A4EC}">
      <dgm:prSet/>
      <dgm:spPr/>
      <dgm:t>
        <a:bodyPr/>
        <a:lstStyle/>
        <a:p>
          <a:endParaRPr lang="en-US"/>
        </a:p>
      </dgm:t>
    </dgm:pt>
    <dgm:pt modelId="{A4D06536-F7A4-4BAB-870D-F111D8CC49EB}">
      <dgm:prSet/>
      <dgm:spPr/>
      <dgm:t>
        <a:bodyPr/>
        <a:lstStyle/>
        <a:p>
          <a:r>
            <a:rPr lang="en-US" b="1" i="0" baseline="0"/>
            <a:t>Frameworks &amp; Tooling</a:t>
          </a:r>
          <a:br>
            <a:rPr lang="en-US" b="0" i="0" baseline="0"/>
          </a:br>
          <a:r>
            <a:rPr lang="en-US" b="0" i="0" baseline="0"/>
            <a:t> - CrewAI</a:t>
          </a:r>
          <a:br>
            <a:rPr lang="en-US" b="0" i="0" baseline="0"/>
          </a:br>
          <a:r>
            <a:rPr lang="en-US" b="0" i="0" baseline="0"/>
            <a:t> - AutoGen</a:t>
          </a:r>
          <a:br>
            <a:rPr lang="en-US" b="0" i="0" baseline="0"/>
          </a:br>
          <a:r>
            <a:rPr lang="en-US" b="0" i="0" baseline="0"/>
            <a:t> - LangGraph</a:t>
          </a:r>
          <a:endParaRPr lang="en-US"/>
        </a:p>
      </dgm:t>
    </dgm:pt>
    <dgm:pt modelId="{97C0BF5D-AE39-4672-8F7F-92D95A885958}" type="parTrans" cxnId="{F0E949E9-C165-4F16-9E94-BEC3DE74CFAF}">
      <dgm:prSet/>
      <dgm:spPr/>
      <dgm:t>
        <a:bodyPr/>
        <a:lstStyle/>
        <a:p>
          <a:endParaRPr lang="en-US"/>
        </a:p>
      </dgm:t>
    </dgm:pt>
    <dgm:pt modelId="{051EC5F8-233A-412E-9FE2-473FDC79007A}" type="sibTrans" cxnId="{F0E949E9-C165-4F16-9E94-BEC3DE74CFAF}">
      <dgm:prSet/>
      <dgm:spPr/>
      <dgm:t>
        <a:bodyPr/>
        <a:lstStyle/>
        <a:p>
          <a:endParaRPr lang="en-US"/>
        </a:p>
      </dgm:t>
    </dgm:pt>
    <dgm:pt modelId="{ADE1A79C-DD41-47DC-B40E-1EC83D4A1409}" type="pres">
      <dgm:prSet presAssocID="{934C023F-F9F6-4549-AECD-843A49C9A79F}" presName="vert0" presStyleCnt="0">
        <dgm:presLayoutVars>
          <dgm:dir/>
          <dgm:animOne val="branch"/>
          <dgm:animLvl val="lvl"/>
        </dgm:presLayoutVars>
      </dgm:prSet>
      <dgm:spPr/>
    </dgm:pt>
    <dgm:pt modelId="{A10975D6-9858-47A2-B9C0-AF9A9B802B24}" type="pres">
      <dgm:prSet presAssocID="{4A543757-9686-4153-9006-12AD756C7A2C}" presName="thickLine" presStyleLbl="alignNode1" presStyleIdx="0" presStyleCnt="4"/>
      <dgm:spPr/>
    </dgm:pt>
    <dgm:pt modelId="{9B14DD74-1B71-42AB-B1F2-F304946701EE}" type="pres">
      <dgm:prSet presAssocID="{4A543757-9686-4153-9006-12AD756C7A2C}" presName="horz1" presStyleCnt="0"/>
      <dgm:spPr/>
    </dgm:pt>
    <dgm:pt modelId="{129A7CE7-E986-485B-966A-C728B7E565DE}" type="pres">
      <dgm:prSet presAssocID="{4A543757-9686-4153-9006-12AD756C7A2C}" presName="tx1" presStyleLbl="revTx" presStyleIdx="0" presStyleCnt="4"/>
      <dgm:spPr/>
    </dgm:pt>
    <dgm:pt modelId="{8637427B-EA60-4C4E-ABD1-554CEF9C3A34}" type="pres">
      <dgm:prSet presAssocID="{4A543757-9686-4153-9006-12AD756C7A2C}" presName="vert1" presStyleCnt="0"/>
      <dgm:spPr/>
    </dgm:pt>
    <dgm:pt modelId="{607C3429-99CD-462D-A856-791233EF773C}" type="pres">
      <dgm:prSet presAssocID="{BE43ECA8-1AAE-4595-A418-CC9ACA8A08E2}" presName="thickLine" presStyleLbl="alignNode1" presStyleIdx="1" presStyleCnt="4"/>
      <dgm:spPr/>
    </dgm:pt>
    <dgm:pt modelId="{36274F01-8AC3-423C-AC2F-3FCEA20B8ED7}" type="pres">
      <dgm:prSet presAssocID="{BE43ECA8-1AAE-4595-A418-CC9ACA8A08E2}" presName="horz1" presStyleCnt="0"/>
      <dgm:spPr/>
    </dgm:pt>
    <dgm:pt modelId="{DF80F768-D048-4148-BA72-43B77F936513}" type="pres">
      <dgm:prSet presAssocID="{BE43ECA8-1AAE-4595-A418-CC9ACA8A08E2}" presName="tx1" presStyleLbl="revTx" presStyleIdx="1" presStyleCnt="4"/>
      <dgm:spPr/>
    </dgm:pt>
    <dgm:pt modelId="{F2E409A3-0F23-4735-B0DE-6FF635E94472}" type="pres">
      <dgm:prSet presAssocID="{BE43ECA8-1AAE-4595-A418-CC9ACA8A08E2}" presName="vert1" presStyleCnt="0"/>
      <dgm:spPr/>
    </dgm:pt>
    <dgm:pt modelId="{FCF2374B-7EB3-4286-B13B-02296B0DCCD7}" type="pres">
      <dgm:prSet presAssocID="{93B152C3-9891-4D6C-9739-487BFAD6EAB0}" presName="thickLine" presStyleLbl="alignNode1" presStyleIdx="2" presStyleCnt="4"/>
      <dgm:spPr/>
    </dgm:pt>
    <dgm:pt modelId="{CB48A175-940A-4001-8431-7953360D2F55}" type="pres">
      <dgm:prSet presAssocID="{93B152C3-9891-4D6C-9739-487BFAD6EAB0}" presName="horz1" presStyleCnt="0"/>
      <dgm:spPr/>
    </dgm:pt>
    <dgm:pt modelId="{C8C4AE66-7A11-4AF4-B28A-032F9B0940D6}" type="pres">
      <dgm:prSet presAssocID="{93B152C3-9891-4D6C-9739-487BFAD6EAB0}" presName="tx1" presStyleLbl="revTx" presStyleIdx="2" presStyleCnt="4"/>
      <dgm:spPr/>
    </dgm:pt>
    <dgm:pt modelId="{9AB27B3C-57BC-48CE-9292-D688485E3B23}" type="pres">
      <dgm:prSet presAssocID="{93B152C3-9891-4D6C-9739-487BFAD6EAB0}" presName="vert1" presStyleCnt="0"/>
      <dgm:spPr/>
    </dgm:pt>
    <dgm:pt modelId="{C9366D74-6D3E-4E34-A758-41B42126BA3B}" type="pres">
      <dgm:prSet presAssocID="{A4D06536-F7A4-4BAB-870D-F111D8CC49EB}" presName="thickLine" presStyleLbl="alignNode1" presStyleIdx="3" presStyleCnt="4"/>
      <dgm:spPr/>
    </dgm:pt>
    <dgm:pt modelId="{747126E7-08C8-4AA4-B41F-8ABA54CBCD9E}" type="pres">
      <dgm:prSet presAssocID="{A4D06536-F7A4-4BAB-870D-F111D8CC49EB}" presName="horz1" presStyleCnt="0"/>
      <dgm:spPr/>
    </dgm:pt>
    <dgm:pt modelId="{AF223180-04CC-4364-9856-72B9EA256C8A}" type="pres">
      <dgm:prSet presAssocID="{A4D06536-F7A4-4BAB-870D-F111D8CC49EB}" presName="tx1" presStyleLbl="revTx" presStyleIdx="3" presStyleCnt="4"/>
      <dgm:spPr/>
    </dgm:pt>
    <dgm:pt modelId="{EFD1FD89-928F-4158-B5CB-0F2848350ED2}" type="pres">
      <dgm:prSet presAssocID="{A4D06536-F7A4-4BAB-870D-F111D8CC49EB}" presName="vert1" presStyleCnt="0"/>
      <dgm:spPr/>
    </dgm:pt>
  </dgm:ptLst>
  <dgm:cxnLst>
    <dgm:cxn modelId="{1864230F-666E-47B1-9064-8F7D8B8E53DD}" type="presOf" srcId="{93B152C3-9891-4D6C-9739-487BFAD6EAB0}" destId="{C8C4AE66-7A11-4AF4-B28A-032F9B0940D6}" srcOrd="0" destOrd="0" presId="urn:microsoft.com/office/officeart/2008/layout/LinedList"/>
    <dgm:cxn modelId="{9EFA8118-14C6-499C-800D-A8D7DA77A4EC}" srcId="{934C023F-F9F6-4549-AECD-843A49C9A79F}" destId="{93B152C3-9891-4D6C-9739-487BFAD6EAB0}" srcOrd="2" destOrd="0" parTransId="{A837EDB2-AF77-4A32-92F4-5D88E22CA397}" sibTransId="{371FCAC6-79EA-4A77-8F6E-5318B8B7CE7C}"/>
    <dgm:cxn modelId="{28FF8A2D-6345-4414-B066-F7332A1EA890}" type="presOf" srcId="{A4D06536-F7A4-4BAB-870D-F111D8CC49EB}" destId="{AF223180-04CC-4364-9856-72B9EA256C8A}" srcOrd="0" destOrd="0" presId="urn:microsoft.com/office/officeart/2008/layout/LinedList"/>
    <dgm:cxn modelId="{704E967D-ECF7-4DFB-93C3-803402F8E6E3}" srcId="{934C023F-F9F6-4549-AECD-843A49C9A79F}" destId="{4A543757-9686-4153-9006-12AD756C7A2C}" srcOrd="0" destOrd="0" parTransId="{ACD7E2C6-3386-41C2-A4BD-88D9B365F988}" sibTransId="{E0714BE8-37A4-456B-A975-8FDB92770398}"/>
    <dgm:cxn modelId="{94069F9B-4E70-4E68-A20E-080DF7C3EFCD}" type="presOf" srcId="{934C023F-F9F6-4549-AECD-843A49C9A79F}" destId="{ADE1A79C-DD41-47DC-B40E-1EC83D4A1409}" srcOrd="0" destOrd="0" presId="urn:microsoft.com/office/officeart/2008/layout/LinedList"/>
    <dgm:cxn modelId="{D90720BA-3844-43CE-A777-30B32D17AEED}" type="presOf" srcId="{BE43ECA8-1AAE-4595-A418-CC9ACA8A08E2}" destId="{DF80F768-D048-4148-BA72-43B77F936513}" srcOrd="0" destOrd="0" presId="urn:microsoft.com/office/officeart/2008/layout/LinedList"/>
    <dgm:cxn modelId="{0631EDE4-CDFC-4995-BC5F-9BE93B410C25}" type="presOf" srcId="{4A543757-9686-4153-9006-12AD756C7A2C}" destId="{129A7CE7-E986-485B-966A-C728B7E565DE}" srcOrd="0" destOrd="0" presId="urn:microsoft.com/office/officeart/2008/layout/LinedList"/>
    <dgm:cxn modelId="{F0E949E9-C165-4F16-9E94-BEC3DE74CFAF}" srcId="{934C023F-F9F6-4549-AECD-843A49C9A79F}" destId="{A4D06536-F7A4-4BAB-870D-F111D8CC49EB}" srcOrd="3" destOrd="0" parTransId="{97C0BF5D-AE39-4672-8F7F-92D95A885958}" sibTransId="{051EC5F8-233A-412E-9FE2-473FDC79007A}"/>
    <dgm:cxn modelId="{4895DCFB-696E-4ECD-810A-99F27CDB7FED}" srcId="{934C023F-F9F6-4549-AECD-843A49C9A79F}" destId="{BE43ECA8-1AAE-4595-A418-CC9ACA8A08E2}" srcOrd="1" destOrd="0" parTransId="{96DEF8D8-DFFB-4A92-BFC8-0B254635F3F7}" sibTransId="{DBC24102-217B-4D54-AACC-4CC9A35C20FC}"/>
    <dgm:cxn modelId="{A7710B6A-D361-41CB-9FA9-803A852E7F72}" type="presParOf" srcId="{ADE1A79C-DD41-47DC-B40E-1EC83D4A1409}" destId="{A10975D6-9858-47A2-B9C0-AF9A9B802B24}" srcOrd="0" destOrd="0" presId="urn:microsoft.com/office/officeart/2008/layout/LinedList"/>
    <dgm:cxn modelId="{01CF6906-2EC5-41F3-BE6E-E951BCE49750}" type="presParOf" srcId="{ADE1A79C-DD41-47DC-B40E-1EC83D4A1409}" destId="{9B14DD74-1B71-42AB-B1F2-F304946701EE}" srcOrd="1" destOrd="0" presId="urn:microsoft.com/office/officeart/2008/layout/LinedList"/>
    <dgm:cxn modelId="{F827CE26-5DE7-445F-8FC9-933DC15703B3}" type="presParOf" srcId="{9B14DD74-1B71-42AB-B1F2-F304946701EE}" destId="{129A7CE7-E986-485B-966A-C728B7E565DE}" srcOrd="0" destOrd="0" presId="urn:microsoft.com/office/officeart/2008/layout/LinedList"/>
    <dgm:cxn modelId="{2BE05DE9-38B6-46B3-B64A-0236B4361867}" type="presParOf" srcId="{9B14DD74-1B71-42AB-B1F2-F304946701EE}" destId="{8637427B-EA60-4C4E-ABD1-554CEF9C3A34}" srcOrd="1" destOrd="0" presId="urn:microsoft.com/office/officeart/2008/layout/LinedList"/>
    <dgm:cxn modelId="{949BD881-8093-4C40-BCB5-32CEE61182EE}" type="presParOf" srcId="{ADE1A79C-DD41-47DC-B40E-1EC83D4A1409}" destId="{607C3429-99CD-462D-A856-791233EF773C}" srcOrd="2" destOrd="0" presId="urn:microsoft.com/office/officeart/2008/layout/LinedList"/>
    <dgm:cxn modelId="{DC6A8D04-CFE1-4202-8D94-5428C19C33C7}" type="presParOf" srcId="{ADE1A79C-DD41-47DC-B40E-1EC83D4A1409}" destId="{36274F01-8AC3-423C-AC2F-3FCEA20B8ED7}" srcOrd="3" destOrd="0" presId="urn:microsoft.com/office/officeart/2008/layout/LinedList"/>
    <dgm:cxn modelId="{2AC99E13-5C5C-44B6-998D-B27F8FAED2BE}" type="presParOf" srcId="{36274F01-8AC3-423C-AC2F-3FCEA20B8ED7}" destId="{DF80F768-D048-4148-BA72-43B77F936513}" srcOrd="0" destOrd="0" presId="urn:microsoft.com/office/officeart/2008/layout/LinedList"/>
    <dgm:cxn modelId="{30F8BCA4-C397-4350-951B-61FDFF46CFA7}" type="presParOf" srcId="{36274F01-8AC3-423C-AC2F-3FCEA20B8ED7}" destId="{F2E409A3-0F23-4735-B0DE-6FF635E94472}" srcOrd="1" destOrd="0" presId="urn:microsoft.com/office/officeart/2008/layout/LinedList"/>
    <dgm:cxn modelId="{A44B28AC-269F-46FA-B4AB-1EF2E54CB228}" type="presParOf" srcId="{ADE1A79C-DD41-47DC-B40E-1EC83D4A1409}" destId="{FCF2374B-7EB3-4286-B13B-02296B0DCCD7}" srcOrd="4" destOrd="0" presId="urn:microsoft.com/office/officeart/2008/layout/LinedList"/>
    <dgm:cxn modelId="{05E5EB06-716F-4F12-8CC6-7A0E2ED5B7E1}" type="presParOf" srcId="{ADE1A79C-DD41-47DC-B40E-1EC83D4A1409}" destId="{CB48A175-940A-4001-8431-7953360D2F55}" srcOrd="5" destOrd="0" presId="urn:microsoft.com/office/officeart/2008/layout/LinedList"/>
    <dgm:cxn modelId="{1A84416E-FFD1-4F14-B256-8689199F3184}" type="presParOf" srcId="{CB48A175-940A-4001-8431-7953360D2F55}" destId="{C8C4AE66-7A11-4AF4-B28A-032F9B0940D6}" srcOrd="0" destOrd="0" presId="urn:microsoft.com/office/officeart/2008/layout/LinedList"/>
    <dgm:cxn modelId="{18561E77-2BF4-4DB8-A3BB-D9715B946B4F}" type="presParOf" srcId="{CB48A175-940A-4001-8431-7953360D2F55}" destId="{9AB27B3C-57BC-48CE-9292-D688485E3B23}" srcOrd="1" destOrd="0" presId="urn:microsoft.com/office/officeart/2008/layout/LinedList"/>
    <dgm:cxn modelId="{503AC079-D8B5-4F78-AC09-7A8F3003CC67}" type="presParOf" srcId="{ADE1A79C-DD41-47DC-B40E-1EC83D4A1409}" destId="{C9366D74-6D3E-4E34-A758-41B42126BA3B}" srcOrd="6" destOrd="0" presId="urn:microsoft.com/office/officeart/2008/layout/LinedList"/>
    <dgm:cxn modelId="{F2DD4BB1-BBCD-4AE0-BE30-DC576E97DFB0}" type="presParOf" srcId="{ADE1A79C-DD41-47DC-B40E-1EC83D4A1409}" destId="{747126E7-08C8-4AA4-B41F-8ABA54CBCD9E}" srcOrd="7" destOrd="0" presId="urn:microsoft.com/office/officeart/2008/layout/LinedList"/>
    <dgm:cxn modelId="{39DEC4FB-23F4-45D8-8D35-45A0041DE739}" type="presParOf" srcId="{747126E7-08C8-4AA4-B41F-8ABA54CBCD9E}" destId="{AF223180-04CC-4364-9856-72B9EA256C8A}" srcOrd="0" destOrd="0" presId="urn:microsoft.com/office/officeart/2008/layout/LinedList"/>
    <dgm:cxn modelId="{63879D21-7D08-4030-80E4-7BB3E666E38E}" type="presParOf" srcId="{747126E7-08C8-4AA4-B41F-8ABA54CBCD9E}" destId="{EFD1FD89-928F-4158-B5CB-0F2848350E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BBB297-E8D3-4420-A897-66C957B5076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F0F8E7A-F154-45A7-B719-0B73F4500048}">
      <dgm:prSet/>
      <dgm:spPr/>
      <dgm:t>
        <a:bodyPr/>
        <a:lstStyle/>
        <a:p>
          <a:r>
            <a:rPr lang="en-US" b="0" i="0" baseline="0" dirty="0"/>
            <a:t>Many analyses show that while </a:t>
          </a:r>
          <a:r>
            <a:rPr lang="en-US" b="0" i="0" baseline="0" dirty="0" err="1"/>
            <a:t>CrewAI</a:t>
          </a:r>
          <a:r>
            <a:rPr lang="en-US" b="0" i="0" baseline="0" dirty="0"/>
            <a:t> and </a:t>
          </a:r>
          <a:r>
            <a:rPr lang="en-US" b="0" i="0" baseline="0" dirty="0" err="1"/>
            <a:t>AutoGen</a:t>
          </a:r>
          <a:r>
            <a:rPr lang="en-US" b="0" i="0" baseline="0" dirty="0"/>
            <a:t> are great for simpler cases, they become brittle in complex workflows, whereas </a:t>
          </a:r>
          <a:r>
            <a:rPr lang="en-US" b="0" i="0" baseline="0" dirty="0" err="1"/>
            <a:t>LangGraph</a:t>
          </a:r>
          <a:r>
            <a:rPr lang="en-US" b="0" i="0" baseline="0" dirty="0"/>
            <a:t> gives you the building blocks to scale. </a:t>
          </a:r>
          <a:endParaRPr lang="en-US" dirty="0"/>
        </a:p>
      </dgm:t>
    </dgm:pt>
    <dgm:pt modelId="{FD40DB13-5064-4D42-AE38-6EF46E4B52D0}" type="parTrans" cxnId="{87BF4292-B723-47DB-9D37-1C4DE65A401C}">
      <dgm:prSet/>
      <dgm:spPr/>
      <dgm:t>
        <a:bodyPr/>
        <a:lstStyle/>
        <a:p>
          <a:endParaRPr lang="en-US"/>
        </a:p>
      </dgm:t>
    </dgm:pt>
    <dgm:pt modelId="{B1B22DAC-BFD6-4B79-B5EA-8A924E5AE68A}" type="sibTrans" cxnId="{87BF4292-B723-47DB-9D37-1C4DE65A401C}">
      <dgm:prSet/>
      <dgm:spPr/>
      <dgm:t>
        <a:bodyPr/>
        <a:lstStyle/>
        <a:p>
          <a:endParaRPr lang="en-US"/>
        </a:p>
      </dgm:t>
    </dgm:pt>
    <dgm:pt modelId="{99E774C7-8E66-4A0B-8329-8D3703C6E975}">
      <dgm:prSet/>
      <dgm:spPr/>
      <dgm:t>
        <a:bodyPr/>
        <a:lstStyle/>
        <a:p>
          <a:r>
            <a:rPr lang="en-US" b="0" i="0" baseline="0" dirty="0"/>
            <a:t>Caveats: </a:t>
          </a:r>
          <a:r>
            <a:rPr lang="en-US" b="0" i="0" baseline="0" dirty="0" err="1"/>
            <a:t>LangGraph’s</a:t>
          </a:r>
          <a:r>
            <a:rPr lang="en-US" b="0" i="0" baseline="0" dirty="0"/>
            <a:t> lower-level nature means more responsibility on the developer; you must define your state, routing, node logic, etc. Some logging / complexity overhead. </a:t>
          </a:r>
          <a:endParaRPr lang="en-US" dirty="0"/>
        </a:p>
      </dgm:t>
    </dgm:pt>
    <dgm:pt modelId="{1FB8F613-B94A-47C6-AC29-383ECBDAEC50}" type="parTrans" cxnId="{7D180515-C275-48F5-9BE2-D6B78F4DB3E1}">
      <dgm:prSet/>
      <dgm:spPr/>
      <dgm:t>
        <a:bodyPr/>
        <a:lstStyle/>
        <a:p>
          <a:endParaRPr lang="en-US"/>
        </a:p>
      </dgm:t>
    </dgm:pt>
    <dgm:pt modelId="{04429C12-E288-49C9-9843-830CB16EB022}" type="sibTrans" cxnId="{7D180515-C275-48F5-9BE2-D6B78F4DB3E1}">
      <dgm:prSet/>
      <dgm:spPr/>
      <dgm:t>
        <a:bodyPr/>
        <a:lstStyle/>
        <a:p>
          <a:endParaRPr lang="en-US"/>
        </a:p>
      </dgm:t>
    </dgm:pt>
    <dgm:pt modelId="{A1CEC30B-A20E-4A59-9050-8646262660B3}" type="pres">
      <dgm:prSet presAssocID="{D8BBB297-E8D3-4420-A897-66C957B507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C7669D-4B0A-4708-A3D9-D534571AD813}" type="pres">
      <dgm:prSet presAssocID="{CF0F8E7A-F154-45A7-B719-0B73F4500048}" presName="hierRoot1" presStyleCnt="0"/>
      <dgm:spPr/>
    </dgm:pt>
    <dgm:pt modelId="{550254E7-F688-4CC0-9564-89592CC61570}" type="pres">
      <dgm:prSet presAssocID="{CF0F8E7A-F154-45A7-B719-0B73F4500048}" presName="composite" presStyleCnt="0"/>
      <dgm:spPr/>
    </dgm:pt>
    <dgm:pt modelId="{D7BAB8F8-6BA0-4989-8DF1-0B78A86C7E49}" type="pres">
      <dgm:prSet presAssocID="{CF0F8E7A-F154-45A7-B719-0B73F4500048}" presName="background" presStyleLbl="node0" presStyleIdx="0" presStyleCnt="2"/>
      <dgm:spPr/>
    </dgm:pt>
    <dgm:pt modelId="{4F5C6625-D95E-477A-B0CA-8F1F6B333DE6}" type="pres">
      <dgm:prSet presAssocID="{CF0F8E7A-F154-45A7-B719-0B73F4500048}" presName="text" presStyleLbl="fgAcc0" presStyleIdx="0" presStyleCnt="2">
        <dgm:presLayoutVars>
          <dgm:chPref val="3"/>
        </dgm:presLayoutVars>
      </dgm:prSet>
      <dgm:spPr/>
    </dgm:pt>
    <dgm:pt modelId="{A6976290-3EFD-413A-8F3C-DD1ECD951937}" type="pres">
      <dgm:prSet presAssocID="{CF0F8E7A-F154-45A7-B719-0B73F4500048}" presName="hierChild2" presStyleCnt="0"/>
      <dgm:spPr/>
    </dgm:pt>
    <dgm:pt modelId="{5A1F53CD-FE8C-4D0A-856D-BE11F8BF76B7}" type="pres">
      <dgm:prSet presAssocID="{99E774C7-8E66-4A0B-8329-8D3703C6E975}" presName="hierRoot1" presStyleCnt="0"/>
      <dgm:spPr/>
    </dgm:pt>
    <dgm:pt modelId="{9A994FFC-CA2E-498B-9B00-4CCE8B331967}" type="pres">
      <dgm:prSet presAssocID="{99E774C7-8E66-4A0B-8329-8D3703C6E975}" presName="composite" presStyleCnt="0"/>
      <dgm:spPr/>
    </dgm:pt>
    <dgm:pt modelId="{6BD8389F-7B25-4A1A-9CB4-FD9275BD82BD}" type="pres">
      <dgm:prSet presAssocID="{99E774C7-8E66-4A0B-8329-8D3703C6E975}" presName="background" presStyleLbl="node0" presStyleIdx="1" presStyleCnt="2"/>
      <dgm:spPr/>
    </dgm:pt>
    <dgm:pt modelId="{FF4410B5-DB4F-423D-B592-AB4DFF1227A7}" type="pres">
      <dgm:prSet presAssocID="{99E774C7-8E66-4A0B-8329-8D3703C6E975}" presName="text" presStyleLbl="fgAcc0" presStyleIdx="1" presStyleCnt="2">
        <dgm:presLayoutVars>
          <dgm:chPref val="3"/>
        </dgm:presLayoutVars>
      </dgm:prSet>
      <dgm:spPr/>
    </dgm:pt>
    <dgm:pt modelId="{9645F932-9482-43FC-9619-0A70CACE236E}" type="pres">
      <dgm:prSet presAssocID="{99E774C7-8E66-4A0B-8329-8D3703C6E975}" presName="hierChild2" presStyleCnt="0"/>
      <dgm:spPr/>
    </dgm:pt>
  </dgm:ptLst>
  <dgm:cxnLst>
    <dgm:cxn modelId="{7D180515-C275-48F5-9BE2-D6B78F4DB3E1}" srcId="{D8BBB297-E8D3-4420-A897-66C957B50767}" destId="{99E774C7-8E66-4A0B-8329-8D3703C6E975}" srcOrd="1" destOrd="0" parTransId="{1FB8F613-B94A-47C6-AC29-383ECBDAEC50}" sibTransId="{04429C12-E288-49C9-9843-830CB16EB022}"/>
    <dgm:cxn modelId="{2B6EDE1B-78D6-4C1E-8B1A-6A4CC2C7826E}" type="presOf" srcId="{D8BBB297-E8D3-4420-A897-66C957B50767}" destId="{A1CEC30B-A20E-4A59-9050-8646262660B3}" srcOrd="0" destOrd="0" presId="urn:microsoft.com/office/officeart/2005/8/layout/hierarchy1"/>
    <dgm:cxn modelId="{1FB3736D-71A6-4C15-B361-A20E1AEC58C7}" type="presOf" srcId="{CF0F8E7A-F154-45A7-B719-0B73F4500048}" destId="{4F5C6625-D95E-477A-B0CA-8F1F6B333DE6}" srcOrd="0" destOrd="0" presId="urn:microsoft.com/office/officeart/2005/8/layout/hierarchy1"/>
    <dgm:cxn modelId="{181BDA90-F858-4597-A361-E6D8123401AA}" type="presOf" srcId="{99E774C7-8E66-4A0B-8329-8D3703C6E975}" destId="{FF4410B5-DB4F-423D-B592-AB4DFF1227A7}" srcOrd="0" destOrd="0" presId="urn:microsoft.com/office/officeart/2005/8/layout/hierarchy1"/>
    <dgm:cxn modelId="{87BF4292-B723-47DB-9D37-1C4DE65A401C}" srcId="{D8BBB297-E8D3-4420-A897-66C957B50767}" destId="{CF0F8E7A-F154-45A7-B719-0B73F4500048}" srcOrd="0" destOrd="0" parTransId="{FD40DB13-5064-4D42-AE38-6EF46E4B52D0}" sibTransId="{B1B22DAC-BFD6-4B79-B5EA-8A924E5AE68A}"/>
    <dgm:cxn modelId="{3A100EBB-EADB-4511-B2FA-7DAB693F0D98}" type="presParOf" srcId="{A1CEC30B-A20E-4A59-9050-8646262660B3}" destId="{E5C7669D-4B0A-4708-A3D9-D534571AD813}" srcOrd="0" destOrd="0" presId="urn:microsoft.com/office/officeart/2005/8/layout/hierarchy1"/>
    <dgm:cxn modelId="{4BA28D90-87C9-4E1F-BBC0-F57D8834F13D}" type="presParOf" srcId="{E5C7669D-4B0A-4708-A3D9-D534571AD813}" destId="{550254E7-F688-4CC0-9564-89592CC61570}" srcOrd="0" destOrd="0" presId="urn:microsoft.com/office/officeart/2005/8/layout/hierarchy1"/>
    <dgm:cxn modelId="{5EA5CBFD-7AF3-41EB-A3D0-9495FC68CF6F}" type="presParOf" srcId="{550254E7-F688-4CC0-9564-89592CC61570}" destId="{D7BAB8F8-6BA0-4989-8DF1-0B78A86C7E49}" srcOrd="0" destOrd="0" presId="urn:microsoft.com/office/officeart/2005/8/layout/hierarchy1"/>
    <dgm:cxn modelId="{298AB204-615D-4433-AAE3-56E06708E851}" type="presParOf" srcId="{550254E7-F688-4CC0-9564-89592CC61570}" destId="{4F5C6625-D95E-477A-B0CA-8F1F6B333DE6}" srcOrd="1" destOrd="0" presId="urn:microsoft.com/office/officeart/2005/8/layout/hierarchy1"/>
    <dgm:cxn modelId="{AE6F29D4-1E0C-4ADD-A674-3C92A4BE5C24}" type="presParOf" srcId="{E5C7669D-4B0A-4708-A3D9-D534571AD813}" destId="{A6976290-3EFD-413A-8F3C-DD1ECD951937}" srcOrd="1" destOrd="0" presId="urn:microsoft.com/office/officeart/2005/8/layout/hierarchy1"/>
    <dgm:cxn modelId="{6535A34A-C912-4496-8DC9-B7D775CBA41B}" type="presParOf" srcId="{A1CEC30B-A20E-4A59-9050-8646262660B3}" destId="{5A1F53CD-FE8C-4D0A-856D-BE11F8BF76B7}" srcOrd="1" destOrd="0" presId="urn:microsoft.com/office/officeart/2005/8/layout/hierarchy1"/>
    <dgm:cxn modelId="{5AD29F14-9C5B-4CEC-97B2-B12CEF0113F9}" type="presParOf" srcId="{5A1F53CD-FE8C-4D0A-856D-BE11F8BF76B7}" destId="{9A994FFC-CA2E-498B-9B00-4CCE8B331967}" srcOrd="0" destOrd="0" presId="urn:microsoft.com/office/officeart/2005/8/layout/hierarchy1"/>
    <dgm:cxn modelId="{EDFACE9E-678E-4938-A884-8B367D3D91B2}" type="presParOf" srcId="{9A994FFC-CA2E-498B-9B00-4CCE8B331967}" destId="{6BD8389F-7B25-4A1A-9CB4-FD9275BD82BD}" srcOrd="0" destOrd="0" presId="urn:microsoft.com/office/officeart/2005/8/layout/hierarchy1"/>
    <dgm:cxn modelId="{CD8025DF-2D11-4526-A529-3218A9EBC66F}" type="presParOf" srcId="{9A994FFC-CA2E-498B-9B00-4CCE8B331967}" destId="{FF4410B5-DB4F-423D-B592-AB4DFF1227A7}" srcOrd="1" destOrd="0" presId="urn:microsoft.com/office/officeart/2005/8/layout/hierarchy1"/>
    <dgm:cxn modelId="{2CABC83F-1D76-4978-9393-D575692399CE}" type="presParOf" srcId="{5A1F53CD-FE8C-4D0A-856D-BE11F8BF76B7}" destId="{9645F932-9482-43FC-9619-0A70CACE23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479B6-5E28-46E0-A242-9C69B3A1AA8C}">
      <dsp:nvSpPr>
        <dsp:cNvPr id="0" name=""/>
        <dsp:cNvSpPr/>
      </dsp:nvSpPr>
      <dsp:spPr>
        <a:xfrm>
          <a:off x="0" y="12862"/>
          <a:ext cx="6666833" cy="176139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Many current AI systems are built as single agents: one model or “brain” that handles everything (reasoning, tool use, orchestration).</a:t>
          </a:r>
        </a:p>
      </dsp:txBody>
      <dsp:txXfrm>
        <a:off x="85984" y="98846"/>
        <a:ext cx="6494865" cy="1589430"/>
      </dsp:txXfrm>
    </dsp:sp>
    <dsp:sp modelId="{FAA3B836-6D7D-438D-BC7D-A26B3374FA08}">
      <dsp:nvSpPr>
        <dsp:cNvPr id="0" name=""/>
        <dsp:cNvSpPr/>
      </dsp:nvSpPr>
      <dsp:spPr>
        <a:xfrm>
          <a:off x="0" y="1846260"/>
          <a:ext cx="6666833" cy="1761398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But as tasks get more complex (multi-step workflows, branching, retry logic, coordination, concurrency), the limitations become clear.</a:t>
          </a:r>
        </a:p>
      </dsp:txBody>
      <dsp:txXfrm>
        <a:off x="85984" y="1932244"/>
        <a:ext cx="6494865" cy="1589430"/>
      </dsp:txXfrm>
    </dsp:sp>
    <dsp:sp modelId="{92E43ED1-32FF-406D-A941-16120239B68A}">
      <dsp:nvSpPr>
        <dsp:cNvPr id="0" name=""/>
        <dsp:cNvSpPr/>
      </dsp:nvSpPr>
      <dsp:spPr>
        <a:xfrm>
          <a:off x="0" y="3679659"/>
          <a:ext cx="6666833" cy="1761398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need modular, distributed, coordinated agent systems.</a:t>
          </a:r>
        </a:p>
      </dsp:txBody>
      <dsp:txXfrm>
        <a:off x="85984" y="3765643"/>
        <a:ext cx="6494865" cy="1589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4A41E-A768-4AAA-A409-DEBCA92E3512}">
      <dsp:nvSpPr>
        <dsp:cNvPr id="0" name=""/>
        <dsp:cNvSpPr/>
      </dsp:nvSpPr>
      <dsp:spPr>
        <a:xfrm>
          <a:off x="0" y="58414"/>
          <a:ext cx="6666833" cy="18146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You design a single LLM-based agent called </a:t>
          </a:r>
          <a:r>
            <a:rPr lang="en-US" sz="3300" b="1" kern="1200"/>
            <a:t>“BizBot”</a:t>
          </a:r>
          <a:r>
            <a:rPr lang="en-US" sz="3300" kern="1200"/>
            <a:t> that plays </a:t>
          </a:r>
          <a:r>
            <a:rPr lang="en-US" sz="3300" i="1" kern="1200"/>
            <a:t>multiple roles</a:t>
          </a:r>
          <a:r>
            <a:rPr lang="en-US" sz="3300" kern="1200"/>
            <a:t>:</a:t>
          </a:r>
        </a:p>
      </dsp:txBody>
      <dsp:txXfrm>
        <a:off x="88585" y="146999"/>
        <a:ext cx="6489663" cy="1637500"/>
      </dsp:txXfrm>
    </dsp:sp>
    <dsp:sp modelId="{F9B1E640-CBD1-4336-82C8-EDE1B4EBF4BF}">
      <dsp:nvSpPr>
        <dsp:cNvPr id="0" name=""/>
        <dsp:cNvSpPr/>
      </dsp:nvSpPr>
      <dsp:spPr>
        <a:xfrm>
          <a:off x="0" y="1873084"/>
          <a:ext cx="6666833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1" kern="1200"/>
            <a:t>Researcher</a:t>
          </a:r>
          <a:r>
            <a:rPr lang="en-US" sz="2600" kern="1200"/>
            <a:t> (finds latest data and statistics)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1" kern="1200"/>
            <a:t>Analyst</a:t>
          </a:r>
          <a:r>
            <a:rPr lang="en-US" sz="2600" kern="1200"/>
            <a:t> (summarizes and interprets data)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1" kern="1200"/>
            <a:t>Writer</a:t>
          </a:r>
          <a:r>
            <a:rPr lang="en-US" sz="2600" kern="1200"/>
            <a:t> (drafts the final business report)</a:t>
          </a:r>
        </a:p>
      </dsp:txBody>
      <dsp:txXfrm>
        <a:off x="0" y="1873084"/>
        <a:ext cx="6666833" cy="1707750"/>
      </dsp:txXfrm>
    </dsp:sp>
    <dsp:sp modelId="{093D7A36-3CD6-4E88-874E-94EDCDA98BCA}">
      <dsp:nvSpPr>
        <dsp:cNvPr id="0" name=""/>
        <dsp:cNvSpPr/>
      </dsp:nvSpPr>
      <dsp:spPr>
        <a:xfrm>
          <a:off x="0" y="3580835"/>
          <a:ext cx="6666833" cy="181467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The idea is that one agent prompt handles all three.</a:t>
          </a:r>
        </a:p>
      </dsp:txBody>
      <dsp:txXfrm>
        <a:off x="88585" y="3669420"/>
        <a:ext cx="6489663" cy="163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F4BB6-9879-402A-B529-C0B984BDBE46}">
      <dsp:nvSpPr>
        <dsp:cNvPr id="0" name=""/>
        <dsp:cNvSpPr/>
      </dsp:nvSpPr>
      <dsp:spPr>
        <a:xfrm>
          <a:off x="0" y="434161"/>
          <a:ext cx="7508544" cy="1705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2746" tIns="395732" rIns="58274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The agent searches and extracts </a:t>
          </a:r>
          <a:r>
            <a:rPr lang="en-US" sz="1900" b="0" i="1" kern="1200" baseline="0"/>
            <a:t>market size data for 2024</a:t>
          </a:r>
          <a:r>
            <a:rPr lang="en-US" sz="1900" b="0" i="0" kern="1200" baseline="0"/>
            <a:t>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However, it misunderstands part of the instruction and includes </a:t>
          </a:r>
          <a:r>
            <a:rPr lang="en-US" sz="1900" b="0" i="1" kern="1200" baseline="0"/>
            <a:t>2022 data</a:t>
          </a:r>
          <a:r>
            <a:rPr lang="en-US" sz="1900" b="0" i="0" kern="1200" baseline="0"/>
            <a:t> as well.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It stores the results in its local context (memory buffer).</a:t>
          </a:r>
          <a:endParaRPr lang="en-US" sz="1900" kern="1200"/>
        </a:p>
      </dsp:txBody>
      <dsp:txXfrm>
        <a:off x="0" y="434161"/>
        <a:ext cx="7508544" cy="1705725"/>
      </dsp:txXfrm>
    </dsp:sp>
    <dsp:sp modelId="{75AFAF2B-A67E-4C51-9CF1-A6ED20A93389}">
      <dsp:nvSpPr>
        <dsp:cNvPr id="0" name=""/>
        <dsp:cNvSpPr/>
      </dsp:nvSpPr>
      <dsp:spPr>
        <a:xfrm>
          <a:off x="375427" y="153721"/>
          <a:ext cx="5255980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664" tIns="0" rIns="1986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Task 1: Data Research</a:t>
          </a:r>
          <a:endParaRPr lang="en-US" sz="1900" kern="1200"/>
        </a:p>
      </dsp:txBody>
      <dsp:txXfrm>
        <a:off x="402807" y="181101"/>
        <a:ext cx="5201220" cy="506120"/>
      </dsp:txXfrm>
    </dsp:sp>
    <dsp:sp modelId="{155DAB3D-B740-4AD3-BDB4-ED49AE277113}">
      <dsp:nvSpPr>
        <dsp:cNvPr id="0" name=""/>
        <dsp:cNvSpPr/>
      </dsp:nvSpPr>
      <dsp:spPr>
        <a:xfrm>
          <a:off x="0" y="2522926"/>
          <a:ext cx="7508544" cy="1705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2746" tIns="395732" rIns="58274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The same agent switches to “Analyst” mode.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 dirty="0"/>
            <a:t>It starts analyzing before verifying or cleaning the dataset.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Because the roles share a single memory state, there is </a:t>
          </a:r>
          <a:r>
            <a:rPr lang="en-US" sz="1900" b="1" i="0" kern="1200" baseline="0"/>
            <a:t>no validation checkpoint</a:t>
          </a:r>
          <a:r>
            <a:rPr lang="en-US" sz="1900" b="0" i="0" kern="1200" baseline="0"/>
            <a:t> between research and analysis.</a:t>
          </a:r>
          <a:endParaRPr lang="en-US" sz="1900" kern="1200"/>
        </a:p>
      </dsp:txBody>
      <dsp:txXfrm>
        <a:off x="0" y="2522926"/>
        <a:ext cx="7508544" cy="1705725"/>
      </dsp:txXfrm>
    </dsp:sp>
    <dsp:sp modelId="{B3E9506E-0DBF-4600-BB65-9F4CA96631D4}">
      <dsp:nvSpPr>
        <dsp:cNvPr id="0" name=""/>
        <dsp:cNvSpPr/>
      </dsp:nvSpPr>
      <dsp:spPr>
        <a:xfrm>
          <a:off x="375427" y="2242486"/>
          <a:ext cx="5255980" cy="5608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664" tIns="0" rIns="1986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</a:t>
          </a:r>
          <a:r>
            <a:rPr lang="en-US" sz="1900" b="1" i="0" kern="1200" baseline="0"/>
            <a:t>ask 2: Data Analysis</a:t>
          </a:r>
          <a:endParaRPr lang="en-US" sz="1900" kern="1200"/>
        </a:p>
      </dsp:txBody>
      <dsp:txXfrm>
        <a:off x="402807" y="2269866"/>
        <a:ext cx="5201220" cy="506120"/>
      </dsp:txXfrm>
    </dsp:sp>
    <dsp:sp modelId="{7401AE3D-DCA2-4174-9D8A-1365C227C812}">
      <dsp:nvSpPr>
        <dsp:cNvPr id="0" name=""/>
        <dsp:cNvSpPr/>
      </dsp:nvSpPr>
      <dsp:spPr>
        <a:xfrm>
          <a:off x="0" y="4611691"/>
          <a:ext cx="7508544" cy="1705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2746" tIns="395732" rIns="58274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The “Writer” role begins drafting the final report.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It assumes the earlier analysis was correct, citing </a:t>
          </a:r>
          <a:r>
            <a:rPr lang="en-US" sz="1900" b="0" i="1" kern="1200" baseline="0"/>
            <a:t>2022 trends</a:t>
          </a:r>
          <a:r>
            <a:rPr lang="en-US" sz="1900" b="0" i="0" kern="1200" baseline="0"/>
            <a:t> as </a:t>
          </a:r>
          <a:r>
            <a:rPr lang="en-US" sz="1900" b="0" i="1" kern="1200" baseline="0"/>
            <a:t>current market data</a:t>
          </a:r>
          <a:r>
            <a:rPr lang="en-US" sz="1900" b="0" i="0" kern="1200" baseline="0"/>
            <a:t>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The final output looks coherent but is factually wrong.</a:t>
          </a:r>
          <a:endParaRPr lang="en-US" sz="1900" kern="1200"/>
        </a:p>
      </dsp:txBody>
      <dsp:txXfrm>
        <a:off x="0" y="4611691"/>
        <a:ext cx="7508544" cy="1705725"/>
      </dsp:txXfrm>
    </dsp:sp>
    <dsp:sp modelId="{9046EA5C-5B53-42AE-A948-67ED61D3F49B}">
      <dsp:nvSpPr>
        <dsp:cNvPr id="0" name=""/>
        <dsp:cNvSpPr/>
      </dsp:nvSpPr>
      <dsp:spPr>
        <a:xfrm>
          <a:off x="375427" y="4331251"/>
          <a:ext cx="5255980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664" tIns="0" rIns="1986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Task 3: Report Writing</a:t>
          </a:r>
          <a:endParaRPr lang="en-US" sz="1900" kern="1200"/>
        </a:p>
      </dsp:txBody>
      <dsp:txXfrm>
        <a:off x="402807" y="4358631"/>
        <a:ext cx="5201220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975D6-9858-47A2-B9C0-AF9A9B802B24}">
      <dsp:nvSpPr>
        <dsp:cNvPr id="0" name=""/>
        <dsp:cNvSpPr/>
      </dsp:nvSpPr>
      <dsp:spPr>
        <a:xfrm>
          <a:off x="0" y="0"/>
          <a:ext cx="698122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9A7CE7-E986-485B-966A-C728B7E565DE}">
      <dsp:nvSpPr>
        <dsp:cNvPr id="0" name=""/>
        <dsp:cNvSpPr/>
      </dsp:nvSpPr>
      <dsp:spPr>
        <a:xfrm>
          <a:off x="0" y="0"/>
          <a:ext cx="6981220" cy="1572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Autonomous Agent Collaboration</a:t>
          </a:r>
          <a:br>
            <a:rPr lang="en-US" sz="2000" b="0" i="0" kern="1200" baseline="0"/>
          </a:br>
          <a:r>
            <a:rPr lang="en-US" sz="2000" b="0" i="0" kern="1200" baseline="0"/>
            <a:t> - How agents decide who does what</a:t>
          </a:r>
          <a:br>
            <a:rPr lang="en-US" sz="2000" b="0" i="0" kern="1200" baseline="0"/>
          </a:br>
          <a:r>
            <a:rPr lang="en-US" sz="2000" b="0" i="0" kern="1200" baseline="0"/>
            <a:t> - Negotiation, delegation, subtask routing</a:t>
          </a:r>
          <a:br>
            <a:rPr lang="en-US" sz="2000" b="0" i="0" kern="1200" baseline="0"/>
          </a:br>
          <a:r>
            <a:rPr lang="en-US" sz="2000" b="0" i="0" kern="1200" baseline="0"/>
            <a:t> - Handling conflicts, dependencies, resource contention</a:t>
          </a:r>
          <a:endParaRPr lang="en-US" sz="2000" kern="1200"/>
        </a:p>
      </dsp:txBody>
      <dsp:txXfrm>
        <a:off x="0" y="0"/>
        <a:ext cx="6981220" cy="1572567"/>
      </dsp:txXfrm>
    </dsp:sp>
    <dsp:sp modelId="{607C3429-99CD-462D-A856-791233EF773C}">
      <dsp:nvSpPr>
        <dsp:cNvPr id="0" name=""/>
        <dsp:cNvSpPr/>
      </dsp:nvSpPr>
      <dsp:spPr>
        <a:xfrm>
          <a:off x="0" y="1572567"/>
          <a:ext cx="698122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80F768-D048-4148-BA72-43B77F936513}">
      <dsp:nvSpPr>
        <dsp:cNvPr id="0" name=""/>
        <dsp:cNvSpPr/>
      </dsp:nvSpPr>
      <dsp:spPr>
        <a:xfrm>
          <a:off x="0" y="1572567"/>
          <a:ext cx="6981220" cy="1572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Messaging / Communication Protocols</a:t>
          </a:r>
          <a:br>
            <a:rPr lang="en-US" sz="2000" b="0" i="0" kern="1200" baseline="0"/>
          </a:br>
          <a:r>
            <a:rPr lang="en-US" sz="2000" b="0" i="0" kern="1200" baseline="0"/>
            <a:t> - Synchronous vs asynchronous messaging</a:t>
          </a:r>
          <a:br>
            <a:rPr lang="en-US" sz="2000" b="0" i="0" kern="1200" baseline="0"/>
          </a:br>
          <a:r>
            <a:rPr lang="en-US" sz="2000" b="0" i="0" kern="1200" baseline="0"/>
            <a:t> - Channels, queues, publish/subscribe</a:t>
          </a:r>
          <a:br>
            <a:rPr lang="en-US" sz="2000" b="0" i="0" kern="1200" baseline="0"/>
          </a:br>
          <a:r>
            <a:rPr lang="en-US" sz="2000" b="0" i="0" kern="1200" baseline="0"/>
            <a:t> - Message formats, contracts, schemas</a:t>
          </a:r>
          <a:br>
            <a:rPr lang="en-US" sz="2000" b="0" i="0" kern="1200" baseline="0"/>
          </a:br>
          <a:r>
            <a:rPr lang="en-US" sz="2000" b="0" i="0" kern="1200" baseline="0"/>
            <a:t> - Acknowledgments, retries, error signaling</a:t>
          </a:r>
          <a:endParaRPr lang="en-US" sz="2000" kern="1200"/>
        </a:p>
      </dsp:txBody>
      <dsp:txXfrm>
        <a:off x="0" y="1572567"/>
        <a:ext cx="6981220" cy="1572567"/>
      </dsp:txXfrm>
    </dsp:sp>
    <dsp:sp modelId="{FCF2374B-7EB3-4286-B13B-02296B0DCCD7}">
      <dsp:nvSpPr>
        <dsp:cNvPr id="0" name=""/>
        <dsp:cNvSpPr/>
      </dsp:nvSpPr>
      <dsp:spPr>
        <a:xfrm>
          <a:off x="0" y="3145134"/>
          <a:ext cx="698122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C4AE66-7A11-4AF4-B28A-032F9B0940D6}">
      <dsp:nvSpPr>
        <dsp:cNvPr id="0" name=""/>
        <dsp:cNvSpPr/>
      </dsp:nvSpPr>
      <dsp:spPr>
        <a:xfrm>
          <a:off x="0" y="3145134"/>
          <a:ext cx="6981220" cy="1572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Coordination Strategies</a:t>
          </a:r>
          <a:br>
            <a:rPr lang="en-US" sz="2000" b="0" i="0" kern="1200" baseline="0" dirty="0"/>
          </a:br>
          <a:r>
            <a:rPr lang="en-US" sz="2000" b="0" i="0" kern="1200" baseline="0" dirty="0"/>
            <a:t> - Centralized orchestration (supervisor / controller)</a:t>
          </a:r>
          <a:br>
            <a:rPr lang="en-US" sz="2000" b="0" i="0" kern="1200" baseline="0" dirty="0"/>
          </a:br>
          <a:r>
            <a:rPr lang="en-US" sz="2000" b="0" i="0" kern="1200" baseline="0" dirty="0"/>
            <a:t> - Peer-to-peer (swarm) coordination</a:t>
          </a:r>
          <a:br>
            <a:rPr lang="en-US" sz="2000" b="0" i="0" kern="1200" baseline="0" dirty="0"/>
          </a:br>
          <a:r>
            <a:rPr lang="en-US" sz="2000" b="0" i="0" kern="1200" baseline="0" dirty="0"/>
            <a:t> - Hierarchical coordination (teams, supervisors)</a:t>
          </a:r>
          <a:br>
            <a:rPr lang="en-US" sz="2000" b="0" i="0" kern="1200" baseline="0" dirty="0"/>
          </a:br>
          <a:r>
            <a:rPr lang="en-US" sz="2000" b="0" i="0" kern="1200" baseline="0" dirty="0"/>
            <a:t> - Contract net, blackboard, token rings, consensus, auctions</a:t>
          </a:r>
          <a:endParaRPr lang="en-US" sz="2000" kern="1200" dirty="0"/>
        </a:p>
      </dsp:txBody>
      <dsp:txXfrm>
        <a:off x="0" y="3145134"/>
        <a:ext cx="6981220" cy="1572567"/>
      </dsp:txXfrm>
    </dsp:sp>
    <dsp:sp modelId="{C9366D74-6D3E-4E34-A758-41B42126BA3B}">
      <dsp:nvSpPr>
        <dsp:cNvPr id="0" name=""/>
        <dsp:cNvSpPr/>
      </dsp:nvSpPr>
      <dsp:spPr>
        <a:xfrm>
          <a:off x="0" y="4717701"/>
          <a:ext cx="698122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223180-04CC-4364-9856-72B9EA256C8A}">
      <dsp:nvSpPr>
        <dsp:cNvPr id="0" name=""/>
        <dsp:cNvSpPr/>
      </dsp:nvSpPr>
      <dsp:spPr>
        <a:xfrm>
          <a:off x="0" y="4717701"/>
          <a:ext cx="6981220" cy="1572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Frameworks &amp; Tooling</a:t>
          </a:r>
          <a:br>
            <a:rPr lang="en-US" sz="2000" b="0" i="0" kern="1200" baseline="0"/>
          </a:br>
          <a:r>
            <a:rPr lang="en-US" sz="2000" b="0" i="0" kern="1200" baseline="0"/>
            <a:t> - CrewAI</a:t>
          </a:r>
          <a:br>
            <a:rPr lang="en-US" sz="2000" b="0" i="0" kern="1200" baseline="0"/>
          </a:br>
          <a:r>
            <a:rPr lang="en-US" sz="2000" b="0" i="0" kern="1200" baseline="0"/>
            <a:t> - AutoGen</a:t>
          </a:r>
          <a:br>
            <a:rPr lang="en-US" sz="2000" b="0" i="0" kern="1200" baseline="0"/>
          </a:br>
          <a:r>
            <a:rPr lang="en-US" sz="2000" b="0" i="0" kern="1200" baseline="0"/>
            <a:t> - LangGraph</a:t>
          </a:r>
          <a:endParaRPr lang="en-US" sz="2000" kern="1200"/>
        </a:p>
      </dsp:txBody>
      <dsp:txXfrm>
        <a:off x="0" y="4717701"/>
        <a:ext cx="6981220" cy="15725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AB8F8-6BA0-4989-8DF1-0B78A86C7E49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C6625-D95E-477A-B0CA-8F1F6B333DE6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Many analyses show that while </a:t>
          </a:r>
          <a:r>
            <a:rPr lang="en-US" sz="2600" b="0" i="0" kern="1200" baseline="0" dirty="0" err="1"/>
            <a:t>CrewAI</a:t>
          </a:r>
          <a:r>
            <a:rPr lang="en-US" sz="2600" b="0" i="0" kern="1200" baseline="0" dirty="0"/>
            <a:t> and </a:t>
          </a:r>
          <a:r>
            <a:rPr lang="en-US" sz="2600" b="0" i="0" kern="1200" baseline="0" dirty="0" err="1"/>
            <a:t>AutoGen</a:t>
          </a:r>
          <a:r>
            <a:rPr lang="en-US" sz="2600" b="0" i="0" kern="1200" baseline="0" dirty="0"/>
            <a:t> are great for simpler cases, they become brittle in complex workflows, whereas </a:t>
          </a:r>
          <a:r>
            <a:rPr lang="en-US" sz="2600" b="0" i="0" kern="1200" baseline="0" dirty="0" err="1"/>
            <a:t>LangGraph</a:t>
          </a:r>
          <a:r>
            <a:rPr lang="en-US" sz="2600" b="0" i="0" kern="1200" baseline="0" dirty="0"/>
            <a:t> gives you the building blocks to scale. </a:t>
          </a:r>
          <a:endParaRPr lang="en-US" sz="2600" kern="1200" dirty="0"/>
        </a:p>
      </dsp:txBody>
      <dsp:txXfrm>
        <a:off x="608661" y="692298"/>
        <a:ext cx="4508047" cy="2799040"/>
      </dsp:txXfrm>
    </dsp:sp>
    <dsp:sp modelId="{6BD8389F-7B25-4A1A-9CB4-FD9275BD82B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410B5-DB4F-423D-B592-AB4DFF1227A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Caveats: </a:t>
          </a:r>
          <a:r>
            <a:rPr lang="en-US" sz="2600" b="0" i="0" kern="1200" baseline="0" dirty="0" err="1"/>
            <a:t>LangGraph’s</a:t>
          </a:r>
          <a:r>
            <a:rPr lang="en-US" sz="2600" b="0" i="0" kern="1200" baseline="0" dirty="0"/>
            <a:t> lower-level nature means more responsibility on the developer; you must define your state, routing, node logic, etc. Some logging / complexity overhead. </a:t>
          </a:r>
          <a:endParaRPr lang="en-US" sz="2600" kern="1200" dirty="0"/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203B2-AA87-40F6-85FF-63A2E03B64A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10F2D-685E-4FE7-85B4-B618372F6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5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fatigue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10F2D-685E-4FE7-85B4-B618372F64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9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D8FD-94E0-6C5E-C78A-DAF89920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58323-223E-BA8F-E5EE-D91E93695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836DE-BE71-D5A1-623E-7225B43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3F54E-9C7F-7714-033F-C71A441B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2103-02BD-2241-FD48-10974AE9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9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0702-9BA8-CCC5-DAFF-F13C07D2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B405-52FA-B4DC-65BC-0E15A38BB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4B04-CA2B-6D8F-1420-0C0C58C3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7713-FB86-2951-6BF4-A13838B0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29538-EA3C-1039-2A4B-CD14910C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6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714F-A60A-6BA0-817B-B23D3BBA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5C52C-C71C-B0BA-4E06-EE777301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F370-787D-F3C1-1F85-27BBBA6E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0C61-455F-E1CD-DC52-AB94DB32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C98C8-FE7D-E68A-3763-D36536B4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6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220D-BD39-5980-5C0D-AAA1BA6F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A939-9365-1D71-8878-4DC1E7BC7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67535-39BC-FACA-59D5-3412735D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AB67D-DF23-8EF5-0829-FA6C26AB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7CE4D-9FAF-DA00-1BF6-2E9DE0B8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45756-46DC-8FE6-D30E-1FB9D3F3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EF77-C11C-CBBF-72ED-AA19B1D8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D1EF-02BA-2913-B70B-760BF0306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5333C-FC6C-DF9C-DC2A-A242BD599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2AB9C-A4F3-D70C-931B-845955C21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BCE5B-D79B-F8A8-5EAD-B1F5BAAAC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6060F-1AED-A925-EA6C-4B0032EB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A6072-5A8A-E1B1-EFCD-5940BBAD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7BE74-C516-7B21-CBDE-BB8C5B8C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2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4642-63D8-9D51-96EB-407E3239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4A3E7-79A0-6293-06C3-B657D441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206E-52F1-9DF3-F0B7-640D0B01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28F4A-6064-878E-FC05-FF648A74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7C5D9F-E212-2E55-D84F-A0AF638C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209EE-A7F0-3E35-7FA2-EFBD4CB9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977AC-12A0-9C45-5486-2F302F7C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9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756A-985E-19DD-CDAC-CBDCD3CB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C673-E6AE-77FF-3183-40A2452F8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37008-64E1-2045-AD9B-8E8CE7799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11E7F-3CA0-4217-1738-234C8D73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D1765-224A-966B-F212-A27E1B42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26057-0545-CB28-AA2E-385FD2C8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F370-F09C-6CEA-FFE2-7E13B00A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07FE9-8350-75E7-D229-528365940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F5277-8D47-BF28-01E9-959C52514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71B8B-DEE2-3D06-9FD2-2C519046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D516D-0ADC-0BE0-8840-D9A0E8FE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243D-DFBA-D91C-842B-628485C8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8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A0DD-9317-B774-6974-11725558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633C0-D3DB-5252-D769-ECF1586EF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CE61-BB4E-4F8E-0FE3-84A89B01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1E3E-3E63-A837-A151-2B06C8CD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369E9-F358-5F6F-6CAA-00391689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8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5B2AC-9310-7BE3-EE6A-A1BC0D9BF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9610A-39BD-7D4C-A353-5C30FEDD3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D7F2-B52C-DA39-8637-F150791E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FD7E7-9BE3-3C82-68A5-C678BB6E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1515-EB09-5A14-3F74-FB04E5AC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6CA4B-6BC0-D8FB-029D-82069A10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2D470-3D2E-513E-627A-8E450C8D3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F9A44-E79F-DAF2-1E5A-C81FE16FE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32BAC-476B-4F22-9E25-C89C09897C6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03D9-4E02-ECC3-D9F9-1B41DCDF8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FD6B7-C418-801E-3767-D2C6CAD75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1EDE1-EA67-433C-969B-68359665F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3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CCB9F0-9BD8-6AB5-58C6-B5F308661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85" b="1362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F9604-16B5-5C07-5C77-99DF05614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rgbClr val="FFFFFF"/>
                </a:solidFill>
              </a:rPr>
              <a:t>MultiAgent</a:t>
            </a:r>
            <a:r>
              <a:rPr lang="en-US" sz="5200" dirty="0">
                <a:solidFill>
                  <a:srgbClr val="FFFFFF"/>
                </a:solidFill>
              </a:rPr>
              <a:t> Systems &amp; Coordination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55151-A569-56E1-2F32-3A7D40BB5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0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90C7D-0D59-AC18-7835-3CA2D573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Recap / 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1DFDE9-9000-3DF8-EBEC-023E0C33E5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3345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58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B7ED1-C94D-A1C8-D067-FF9B69CE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Why a Single Agent (Even with Many “Roles”) Fails / Struggles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EB202C-F375-E2F7-666F-77D9CA54F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930721"/>
              </p:ext>
            </p:extLst>
          </p:nvPr>
        </p:nvGraphicFramePr>
        <p:xfrm>
          <a:off x="4153445" y="152858"/>
          <a:ext cx="7649221" cy="65725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717515">
                  <a:extLst>
                    <a:ext uri="{9D8B030D-6E8A-4147-A177-3AD203B41FA5}">
                      <a16:colId xmlns:a16="http://schemas.microsoft.com/office/drawing/2014/main" val="3448327505"/>
                    </a:ext>
                  </a:extLst>
                </a:gridCol>
                <a:gridCol w="3931706">
                  <a:extLst>
                    <a:ext uri="{9D8B030D-6E8A-4147-A177-3AD203B41FA5}">
                      <a16:colId xmlns:a16="http://schemas.microsoft.com/office/drawing/2014/main" val="294083658"/>
                    </a:ext>
                  </a:extLst>
                </a:gridCol>
              </a:tblGrid>
              <a:tr h="33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Challenge</a:t>
                      </a:r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Explanation / Example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4257037977"/>
                  </a:ext>
                </a:extLst>
              </a:tr>
              <a:tr h="1020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Cognitive overload</a:t>
                      </a:r>
                      <a:endParaRPr lang="en-US" sz="160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One agent must keep track of many sub-tasks, context switching, failure handling, branching logic  the prompt/design becomes huge and brittle.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2989258994"/>
                  </a:ext>
                </a:extLst>
              </a:tr>
              <a:tr h="1020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Poor modularity &amp; maintainability</a:t>
                      </a:r>
                      <a:endParaRPr lang="en-US" sz="1600" dirty="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If you try to bake in many roles (researcher, summarizer, planner, QA) into one agent, changes or bugfixes in one subdomain risk breaking the rest.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1698446788"/>
                  </a:ext>
                </a:extLst>
              </a:tr>
              <a:tr h="1020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Single point of failure / bottleneck</a:t>
                      </a:r>
                      <a:endParaRPr lang="en-US" sz="1600" dirty="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single agent becomes a performance, latency, or availability bottleneck. If it fails or misroutes something, the whole workflow dies.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2361533598"/>
                  </a:ext>
                </a:extLst>
              </a:tr>
              <a:tr h="1020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Limited concurrency / parallelism</a:t>
                      </a:r>
                      <a:endParaRPr lang="en-US" sz="160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Multi-step workflows sometimes benefit from parallelism (e.g. multiple subtasks done concurrently). A monolithic agent handles steps serially.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2148760637"/>
                  </a:ext>
                </a:extLst>
              </a:tr>
              <a:tr h="1020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Lack of specialization</a:t>
                      </a:r>
                      <a:endParaRPr lang="en-US" sz="160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Different subtasks benefit from specialization (one agent fine-tuned for math, another for summarization, another for planning). One agent must be a jack-of-all.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181016657"/>
                  </a:ext>
                </a:extLst>
              </a:tr>
              <a:tr h="794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Complex error recovery / coordination</a:t>
                      </a:r>
                      <a:endParaRPr lang="en-US" sz="1600"/>
                    </a:p>
                  </a:txBody>
                  <a:tcPr marL="64722" marR="64722" marT="32362" marB="3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Handling retries, fallback logic, interdependencies is harder in a flat monolithic architecture.</a:t>
                      </a:r>
                    </a:p>
                  </a:txBody>
                  <a:tcPr marL="64722" marR="64722" marT="32362" marB="32362" anchor="ctr"/>
                </a:tc>
                <a:extLst>
                  <a:ext uri="{0D108BD9-81ED-4DB2-BD59-A6C34878D82A}">
                    <a16:rowId xmlns:a16="http://schemas.microsoft.com/office/drawing/2014/main" val="37188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7E8AF-9B5C-37FB-8C2B-AC77349F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Scenario: Market Research and Report Writing Agent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CD7F0A-14B8-0C06-6BAB-FCC117DDF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7375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6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3B95D-9579-A49E-54AC-C6A7574E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Actually Happens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92C320E-EA97-E334-308D-F960BDAF9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882765"/>
              </p:ext>
            </p:extLst>
          </p:nvPr>
        </p:nvGraphicFramePr>
        <p:xfrm>
          <a:off x="4288222" y="180871"/>
          <a:ext cx="7508544" cy="6471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775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6F7DA-1697-0BF1-57A1-8886DB4B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Failure Point (Why Single-Agent Multi-Role Fails)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CE6442-FA75-EDE7-55FB-EBA99BDDB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644422"/>
              </p:ext>
            </p:extLst>
          </p:nvPr>
        </p:nvGraphicFramePr>
        <p:xfrm>
          <a:off x="4905052" y="943841"/>
          <a:ext cx="6666833" cy="506712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55970">
                  <a:extLst>
                    <a:ext uri="{9D8B030D-6E8A-4147-A177-3AD203B41FA5}">
                      <a16:colId xmlns:a16="http://schemas.microsoft.com/office/drawing/2014/main" val="2709222583"/>
                    </a:ext>
                  </a:extLst>
                </a:gridCol>
                <a:gridCol w="3610863">
                  <a:extLst>
                    <a:ext uri="{9D8B030D-6E8A-4147-A177-3AD203B41FA5}">
                      <a16:colId xmlns:a16="http://schemas.microsoft.com/office/drawing/2014/main" val="3142918194"/>
                    </a:ext>
                  </a:extLst>
                </a:gridCol>
              </a:tblGrid>
              <a:tr h="428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Issue</a:t>
                      </a:r>
                    </a:p>
                  </a:txBody>
                  <a:tcPr marL="97445" marR="97445" marT="48722" marB="48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Description</a:t>
                      </a:r>
                    </a:p>
                  </a:txBody>
                  <a:tcPr marL="97445" marR="97445" marT="48722" marB="48722" anchor="ctr"/>
                </a:tc>
                <a:extLst>
                  <a:ext uri="{0D108BD9-81ED-4DB2-BD59-A6C34878D82A}">
                    <a16:rowId xmlns:a16="http://schemas.microsoft.com/office/drawing/2014/main" val="1980925292"/>
                  </a:ext>
                </a:extLst>
              </a:tr>
              <a:tr h="1013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Role Interference</a:t>
                      </a:r>
                      <a:endParaRPr lang="en-US" sz="1900"/>
                    </a:p>
                  </a:txBody>
                  <a:tcPr marL="97445" marR="97445" marT="48722" marB="48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Context from one role bleeds into another (no clean handoff or validation).</a:t>
                      </a:r>
                    </a:p>
                  </a:txBody>
                  <a:tcPr marL="97445" marR="97445" marT="48722" marB="48722" anchor="ctr"/>
                </a:tc>
                <a:extLst>
                  <a:ext uri="{0D108BD9-81ED-4DB2-BD59-A6C34878D82A}">
                    <a16:rowId xmlns:a16="http://schemas.microsoft.com/office/drawing/2014/main" val="410440117"/>
                  </a:ext>
                </a:extLst>
              </a:tr>
              <a:tr h="1013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No Synchronization</a:t>
                      </a:r>
                      <a:endParaRPr lang="en-US" sz="1900"/>
                    </a:p>
                  </a:txBody>
                  <a:tcPr marL="97445" marR="97445" marT="48722" marB="48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The “Analyst” started before verifying that the “Researcher”’s data was valid.</a:t>
                      </a:r>
                    </a:p>
                  </a:txBody>
                  <a:tcPr marL="97445" marR="97445" marT="48722" marB="48722" anchor="ctr"/>
                </a:tc>
                <a:extLst>
                  <a:ext uri="{0D108BD9-81ED-4DB2-BD59-A6C34878D82A}">
                    <a16:rowId xmlns:a16="http://schemas.microsoft.com/office/drawing/2014/main" val="395360120"/>
                  </a:ext>
                </a:extLst>
              </a:tr>
              <a:tr h="130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No Cross-Check Mechanism</a:t>
                      </a:r>
                      <a:endParaRPr lang="en-US" sz="1900"/>
                    </a:p>
                  </a:txBody>
                  <a:tcPr marL="97445" marR="97445" marT="48722" marB="48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The “Writer” trusted the analysis blindly because there’s no second agent to challenge or review it.</a:t>
                      </a:r>
                    </a:p>
                  </a:txBody>
                  <a:tcPr marL="97445" marR="97445" marT="48722" marB="48722" anchor="ctr"/>
                </a:tc>
                <a:extLst>
                  <a:ext uri="{0D108BD9-81ED-4DB2-BD59-A6C34878D82A}">
                    <a16:rowId xmlns:a16="http://schemas.microsoft.com/office/drawing/2014/main" val="1524255618"/>
                  </a:ext>
                </a:extLst>
              </a:tr>
              <a:tr h="130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Single-State Bottleneck</a:t>
                      </a:r>
                      <a:endParaRPr lang="en-US" sz="1900"/>
                    </a:p>
                  </a:txBody>
                  <a:tcPr marL="97445" marR="97445" marT="48722" marB="48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All stages depend on a single evolving context window, making debugging and traceability hard.</a:t>
                      </a:r>
                    </a:p>
                  </a:txBody>
                  <a:tcPr marL="97445" marR="97445" marT="48722" marB="48722" anchor="ctr"/>
                </a:tc>
                <a:extLst>
                  <a:ext uri="{0D108BD9-81ED-4DB2-BD59-A6C34878D82A}">
                    <a16:rowId xmlns:a16="http://schemas.microsoft.com/office/drawing/2014/main" val="57610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30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0E979-DE6D-8955-D4DE-54FB9F5E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a Multi-Agent System Would Do Instead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2157A-D0B1-8E6A-2F6A-2936B61BA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Agent A (Researcher)</a:t>
            </a:r>
            <a:r>
              <a:rPr lang="en-US" sz="2400" dirty="0"/>
              <a:t> → gathers data →</a:t>
            </a:r>
          </a:p>
          <a:p>
            <a:r>
              <a:rPr lang="en-US" sz="2400" b="1" dirty="0"/>
              <a:t>Agent B (Analyst)</a:t>
            </a:r>
            <a:r>
              <a:rPr lang="en-US" sz="2400" dirty="0"/>
              <a:t> → verifies + summarizes results →</a:t>
            </a:r>
          </a:p>
          <a:p>
            <a:r>
              <a:rPr lang="en-US" sz="2400" b="1" dirty="0"/>
              <a:t>Agent C (Writer)</a:t>
            </a:r>
            <a:r>
              <a:rPr lang="en-US" sz="2400" dirty="0"/>
              <a:t> → drafts report →</a:t>
            </a:r>
          </a:p>
          <a:p>
            <a:r>
              <a:rPr lang="en-US" sz="2400" b="1" dirty="0"/>
              <a:t>Supervisor Agent</a:t>
            </a:r>
            <a:r>
              <a:rPr lang="en-US" sz="2400" dirty="0"/>
              <a:t> → validates dependencies and ensures correct order.</a:t>
            </a:r>
          </a:p>
          <a:p>
            <a:r>
              <a:rPr lang="en-US" sz="2400" dirty="0"/>
              <a:t>Each agent passes outputs through </a:t>
            </a:r>
            <a:r>
              <a:rPr lang="en-US" sz="2400" b="1" dirty="0"/>
              <a:t>structured messages</a:t>
            </a:r>
            <a:r>
              <a:rPr lang="en-US" sz="2400" dirty="0"/>
              <a:t> or </a:t>
            </a:r>
            <a:r>
              <a:rPr lang="en-US" sz="2400" b="1" dirty="0"/>
              <a:t>shared state graphs</a:t>
            </a:r>
            <a:r>
              <a:rPr lang="en-US" sz="2400" dirty="0"/>
              <a:t> (like in </a:t>
            </a:r>
            <a:r>
              <a:rPr lang="en-US" sz="2400" dirty="0" err="1"/>
              <a:t>LangGraph</a:t>
            </a:r>
            <a:r>
              <a:rPr lang="en-US" sz="2400" dirty="0"/>
              <a:t>), ensuring dependencies are respected and verified before proceeding.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204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fferent task&#10;&#10;AI-generated content may be incorrect.">
            <a:extLst>
              <a:ext uri="{FF2B5EF4-FFF2-40B4-BE49-F238E27FC236}">
                <a16:creationId xmlns:a16="http://schemas.microsoft.com/office/drawing/2014/main" id="{0CF33A56-C7AC-F4BE-A1C9-F53379945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62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8754C-C0D1-34BD-4264-6DFF83C0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Multi-Agent Systems Bring to the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9DFBFE-DC18-D4D0-1CAE-4957C063C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7704" y="197305"/>
            <a:ext cx="5908432" cy="63542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Decomposition &amp; specialization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break a complex task into sub-agents with focused roles (planner, worker, evaluator, etc.).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Coordination &amp; orchestration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agents communicate, hand off work, synchronize.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 &amp; parallelism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some agents can run in parallel or be replicated.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Robustness &amp; fault tolerance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if one agent fails or underperforms, alternatives or fallback agents can intervene.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 adaptability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you can add or remove agents, redirect workflows, branch logic based on intermediate states.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Clear responsibility boundaries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each agent has a narrower interface, easier to test, monitor, and correct.</a:t>
            </a:r>
          </a:p>
        </p:txBody>
      </p:sp>
    </p:spTree>
    <p:extLst>
      <p:ext uri="{BB962C8B-B14F-4D97-AF65-F5344CB8AC3E}">
        <p14:creationId xmlns:p14="http://schemas.microsoft.com/office/powerpoint/2010/main" val="1655715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37CA-D1C9-7F34-5E3C-18F4F7C7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Theoretical Foundation: Core Principles of Multi-Agent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00E3E0-92B1-1024-CBE8-3FD996289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78260"/>
              </p:ext>
            </p:extLst>
          </p:nvPr>
        </p:nvGraphicFramePr>
        <p:xfrm>
          <a:off x="644056" y="2455080"/>
          <a:ext cx="10927830" cy="350780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18076">
                  <a:extLst>
                    <a:ext uri="{9D8B030D-6E8A-4147-A177-3AD203B41FA5}">
                      <a16:colId xmlns:a16="http://schemas.microsoft.com/office/drawing/2014/main" val="706141230"/>
                    </a:ext>
                  </a:extLst>
                </a:gridCol>
                <a:gridCol w="3954877">
                  <a:extLst>
                    <a:ext uri="{9D8B030D-6E8A-4147-A177-3AD203B41FA5}">
                      <a16:colId xmlns:a16="http://schemas.microsoft.com/office/drawing/2014/main" val="2378880322"/>
                    </a:ext>
                  </a:extLst>
                </a:gridCol>
                <a:gridCol w="3954877">
                  <a:extLst>
                    <a:ext uri="{9D8B030D-6E8A-4147-A177-3AD203B41FA5}">
                      <a16:colId xmlns:a16="http://schemas.microsoft.com/office/drawing/2014/main" val="3673960366"/>
                    </a:ext>
                  </a:extLst>
                </a:gridCol>
              </a:tblGrid>
              <a:tr h="453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Property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Meaning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Example in AI Agents</a:t>
                      </a:r>
                    </a:p>
                  </a:txBody>
                  <a:tcPr marL="103171" marR="103171" marT="51585" marB="51585" anchor="ctr"/>
                </a:tc>
                <a:extLst>
                  <a:ext uri="{0D108BD9-81ED-4DB2-BD59-A6C34878D82A}">
                    <a16:rowId xmlns:a16="http://schemas.microsoft.com/office/drawing/2014/main" val="2865084002"/>
                  </a:ext>
                </a:extLst>
              </a:tr>
              <a:tr h="763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Autonomy</a:t>
                      </a:r>
                      <a:endParaRPr lang="en-US" sz="2000"/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Operate without direct human or external control.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Researcher agent plans and executes tasks independently.</a:t>
                      </a:r>
                    </a:p>
                  </a:txBody>
                  <a:tcPr marL="103171" marR="103171" marT="51585" marB="51585" anchor="ctr"/>
                </a:tc>
                <a:extLst>
                  <a:ext uri="{0D108BD9-81ED-4DB2-BD59-A6C34878D82A}">
                    <a16:rowId xmlns:a16="http://schemas.microsoft.com/office/drawing/2014/main" val="3198486523"/>
                  </a:ext>
                </a:extLst>
              </a:tr>
              <a:tr h="763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Social Ability</a:t>
                      </a:r>
                      <a:endParaRPr lang="en-US" sz="2000"/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Communicate and cooperate with other agents via messages.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Critic agent gives structured feedback to Planner agent.</a:t>
                      </a:r>
                    </a:p>
                  </a:txBody>
                  <a:tcPr marL="103171" marR="103171" marT="51585" marB="51585" anchor="ctr"/>
                </a:tc>
                <a:extLst>
                  <a:ext uri="{0D108BD9-81ED-4DB2-BD59-A6C34878D82A}">
                    <a16:rowId xmlns:a16="http://schemas.microsoft.com/office/drawing/2014/main" val="844867729"/>
                  </a:ext>
                </a:extLst>
              </a:tr>
              <a:tr h="763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Reactivity</a:t>
                      </a:r>
                      <a:endParaRPr lang="en-US" sz="2000"/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Respond to environment or state changes in real time.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Sensor agent reacts to weather updates in drone scenario.</a:t>
                      </a:r>
                    </a:p>
                  </a:txBody>
                  <a:tcPr marL="103171" marR="103171" marT="51585" marB="51585" anchor="ctr"/>
                </a:tc>
                <a:extLst>
                  <a:ext uri="{0D108BD9-81ED-4DB2-BD59-A6C34878D82A}">
                    <a16:rowId xmlns:a16="http://schemas.microsoft.com/office/drawing/2014/main" val="1441719054"/>
                  </a:ext>
                </a:extLst>
              </a:tr>
              <a:tr h="763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Proactivity</a:t>
                      </a:r>
                      <a:endParaRPr lang="en-US" sz="2000"/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Initiate actions to achieve goals rather than waiting for triggers.</a:t>
                      </a:r>
                    </a:p>
                  </a:txBody>
                  <a:tcPr marL="103171" marR="103171" marT="51585" marB="515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Planner generates new subtasks when gaps are detected.</a:t>
                      </a:r>
                    </a:p>
                  </a:txBody>
                  <a:tcPr marL="103171" marR="103171" marT="51585" marB="51585" anchor="ctr"/>
                </a:tc>
                <a:extLst>
                  <a:ext uri="{0D108BD9-81ED-4DB2-BD59-A6C34878D82A}">
                    <a16:rowId xmlns:a16="http://schemas.microsoft.com/office/drawing/2014/main" val="67450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58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79A89-31B3-5EBD-A19B-51F8CCA8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Autonomous Agent Collaboration Types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FA4D232-31E9-C813-0DEA-234231EBC0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540513"/>
              </p:ext>
            </p:extLst>
          </p:nvPr>
        </p:nvGraphicFramePr>
        <p:xfrm>
          <a:off x="1498879" y="2624828"/>
          <a:ext cx="9194242" cy="362291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09538">
                  <a:extLst>
                    <a:ext uri="{9D8B030D-6E8A-4147-A177-3AD203B41FA5}">
                      <a16:colId xmlns:a16="http://schemas.microsoft.com/office/drawing/2014/main" val="1370024183"/>
                    </a:ext>
                  </a:extLst>
                </a:gridCol>
                <a:gridCol w="3411103">
                  <a:extLst>
                    <a:ext uri="{9D8B030D-6E8A-4147-A177-3AD203B41FA5}">
                      <a16:colId xmlns:a16="http://schemas.microsoft.com/office/drawing/2014/main" val="3187302536"/>
                    </a:ext>
                  </a:extLst>
                </a:gridCol>
                <a:gridCol w="3173601">
                  <a:extLst>
                    <a:ext uri="{9D8B030D-6E8A-4147-A177-3AD203B41FA5}">
                      <a16:colId xmlns:a16="http://schemas.microsoft.com/office/drawing/2014/main" val="1017329649"/>
                    </a:ext>
                  </a:extLst>
                </a:gridCol>
              </a:tblGrid>
              <a:tr h="745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Collaboration Type</a:t>
                      </a:r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Description</a:t>
                      </a:r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Example Scenario</a:t>
                      </a:r>
                    </a:p>
                  </a:txBody>
                  <a:tcPr marL="127027" marR="127027" marT="63513" marB="63513" anchor="ctr"/>
                </a:tc>
                <a:extLst>
                  <a:ext uri="{0D108BD9-81ED-4DB2-BD59-A6C34878D82A}">
                    <a16:rowId xmlns:a16="http://schemas.microsoft.com/office/drawing/2014/main" val="3691125416"/>
                  </a:ext>
                </a:extLst>
              </a:tr>
              <a:tr h="106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Cooperative</a:t>
                      </a:r>
                      <a:endParaRPr lang="en-US" sz="1800"/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share a common global goal.</a:t>
                      </a:r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CrewAI team working together to generate a project proposal.</a:t>
                      </a:r>
                    </a:p>
                  </a:txBody>
                  <a:tcPr marL="127027" marR="127027" marT="63513" marB="63513" anchor="ctr"/>
                </a:tc>
                <a:extLst>
                  <a:ext uri="{0D108BD9-81ED-4DB2-BD59-A6C34878D82A}">
                    <a16:rowId xmlns:a16="http://schemas.microsoft.com/office/drawing/2014/main" val="301408481"/>
                  </a:ext>
                </a:extLst>
              </a:tr>
              <a:tr h="745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Competitive</a:t>
                      </a:r>
                      <a:endParaRPr lang="en-US" sz="1800"/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Agents have conflicting objectives.</a:t>
                      </a:r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Trading bots bidding for limited assets.</a:t>
                      </a:r>
                    </a:p>
                  </a:txBody>
                  <a:tcPr marL="127027" marR="127027" marT="63513" marB="63513" anchor="ctr"/>
                </a:tc>
                <a:extLst>
                  <a:ext uri="{0D108BD9-81ED-4DB2-BD59-A6C34878D82A}">
                    <a16:rowId xmlns:a16="http://schemas.microsoft.com/office/drawing/2014/main" val="1732611256"/>
                  </a:ext>
                </a:extLst>
              </a:tr>
              <a:tr h="106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Mixed-Motive</a:t>
                      </a:r>
                      <a:endParaRPr lang="en-US" sz="1800" dirty="0"/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Partially aligned interests; negotiation required.</a:t>
                      </a:r>
                    </a:p>
                  </a:txBody>
                  <a:tcPr marL="127027" marR="127027" marT="63513" marB="6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Debate-style or peer-review agents arguing toward consensus.</a:t>
                      </a:r>
                    </a:p>
                  </a:txBody>
                  <a:tcPr marL="127027" marR="127027" marT="63513" marB="63513" anchor="ctr"/>
                </a:tc>
                <a:extLst>
                  <a:ext uri="{0D108BD9-81ED-4DB2-BD59-A6C34878D82A}">
                    <a16:rowId xmlns:a16="http://schemas.microsoft.com/office/drawing/2014/main" val="24239518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AA43EF-B7B1-299B-6260-7C29E2C760BA}"/>
              </a:ext>
            </a:extLst>
          </p:cNvPr>
          <p:cNvSpPr txBox="1"/>
          <p:nvPr/>
        </p:nvSpPr>
        <p:spPr>
          <a:xfrm>
            <a:off x="3048838" y="1601654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Multi-agent systems can collaborate in different ways depending on their objectives</a:t>
            </a:r>
          </a:p>
        </p:txBody>
      </p:sp>
    </p:spTree>
    <p:extLst>
      <p:ext uri="{BB962C8B-B14F-4D97-AF65-F5344CB8AC3E}">
        <p14:creationId xmlns:p14="http://schemas.microsoft.com/office/powerpoint/2010/main" val="3604852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830F-677E-E751-1924-82F31BD7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000"/>
              <a:t>Messaging Protocols &amp; Communication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DA85-1E69-D52F-720A-E4413887B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685259" cy="4088388"/>
          </a:xfrm>
        </p:spPr>
        <p:txBody>
          <a:bodyPr anchor="t">
            <a:normAutofit fontScale="85000" lnSpcReduction="10000"/>
          </a:bodyPr>
          <a:lstStyle/>
          <a:p>
            <a:r>
              <a:rPr lang="en-US" sz="2400" dirty="0"/>
              <a:t>Communication defines how autonomous agents collaborate effectively.</a:t>
            </a:r>
          </a:p>
          <a:p>
            <a:r>
              <a:rPr lang="en-US" sz="2400" dirty="0"/>
              <a:t>Key elements of a messaging protocol:</a:t>
            </a:r>
          </a:p>
          <a:p>
            <a:pPr lvl="1"/>
            <a:r>
              <a:rPr lang="en-US" b="1" dirty="0"/>
              <a:t>Message Components:</a:t>
            </a:r>
            <a:endParaRPr lang="en-US" dirty="0"/>
          </a:p>
          <a:p>
            <a:pPr lvl="2"/>
            <a:r>
              <a:rPr lang="en-US" sz="2400" dirty="0"/>
              <a:t>Sender</a:t>
            </a:r>
          </a:p>
          <a:p>
            <a:pPr lvl="2"/>
            <a:r>
              <a:rPr lang="en-US" sz="2400" dirty="0"/>
              <a:t>Receiver</a:t>
            </a:r>
          </a:p>
          <a:p>
            <a:pPr lvl="2"/>
            <a:r>
              <a:rPr lang="en-US" sz="2400" dirty="0"/>
              <a:t>Message Type (request, inform, confirm, reject, propose)</a:t>
            </a:r>
          </a:p>
          <a:p>
            <a:pPr lvl="2"/>
            <a:r>
              <a:rPr lang="en-US" sz="2400" dirty="0"/>
              <a:t>Content</a:t>
            </a:r>
          </a:p>
          <a:p>
            <a:pPr lvl="2"/>
            <a:r>
              <a:rPr lang="en-US" sz="2400" dirty="0"/>
              <a:t>Timestamp or ID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2A6BCD-3A39-207F-7131-21683CC18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805099"/>
              </p:ext>
            </p:extLst>
          </p:nvPr>
        </p:nvGraphicFramePr>
        <p:xfrm>
          <a:off x="4933741" y="741391"/>
          <a:ext cx="6983604" cy="512684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5873">
                  <a:extLst>
                    <a:ext uri="{9D8B030D-6E8A-4147-A177-3AD203B41FA5}">
                      <a16:colId xmlns:a16="http://schemas.microsoft.com/office/drawing/2014/main" val="2537577943"/>
                    </a:ext>
                  </a:extLst>
                </a:gridCol>
                <a:gridCol w="2527550">
                  <a:extLst>
                    <a:ext uri="{9D8B030D-6E8A-4147-A177-3AD203B41FA5}">
                      <a16:colId xmlns:a16="http://schemas.microsoft.com/office/drawing/2014/main" val="544149584"/>
                    </a:ext>
                  </a:extLst>
                </a:gridCol>
                <a:gridCol w="2670181">
                  <a:extLst>
                    <a:ext uri="{9D8B030D-6E8A-4147-A177-3AD203B41FA5}">
                      <a16:colId xmlns:a16="http://schemas.microsoft.com/office/drawing/2014/main" val="4256165571"/>
                    </a:ext>
                  </a:extLst>
                </a:gridCol>
              </a:tblGrid>
              <a:tr h="57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Simple Meaning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4177725107"/>
                  </a:ext>
                </a:extLst>
              </a:tr>
              <a:tr h="57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Sender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Kaun bhej raha hai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Planner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2983409790"/>
                  </a:ext>
                </a:extLst>
              </a:tr>
              <a:tr h="57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Receiver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Kisko bhej raha hai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Researcher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3131816939"/>
                  </a:ext>
                </a:extLst>
              </a:tr>
              <a:tr h="198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Message Type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400" b="1" cap="none" spc="0" dirty="0">
                          <a:solidFill>
                            <a:schemeClr val="tx1"/>
                          </a:solidFill>
                        </a:rPr>
                        <a:t>Kis type ka message hai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“REQUEST” (kaam kar do), “INFORM” (yeh result hai), “CONFIRM” (kaam done), “REJECT” (nahi ho saka), “PROPOSE” (yeh suggestion hai)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633454118"/>
                  </a:ext>
                </a:extLst>
              </a:tr>
              <a:tr h="57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Actual message ka data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“Find 3 latest papers on AI”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37298758"/>
                  </a:ext>
                </a:extLst>
              </a:tr>
              <a:tr h="8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Timestamp / ID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Message ka unique number ya time</a:t>
                      </a:r>
                    </a:p>
                  </a:txBody>
                  <a:tcPr marL="122142" marR="93955" marT="93955" marB="93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ID = 102, Time = 12:30 PM</a:t>
                      </a:r>
                    </a:p>
                  </a:txBody>
                  <a:tcPr marL="122142" marR="93955" marT="93955" marB="93955" anchor="ctr"/>
                </a:tc>
                <a:extLst>
                  <a:ext uri="{0D108BD9-81ED-4DB2-BD59-A6C34878D82A}">
                    <a16:rowId xmlns:a16="http://schemas.microsoft.com/office/drawing/2014/main" val="252489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65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39446-ED81-E15F-24B2-2C8CDE70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963426-DFF4-B507-5168-6137464DD2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8111"/>
              </p:ext>
            </p:extLst>
          </p:nvPr>
        </p:nvGraphicFramePr>
        <p:xfrm>
          <a:off x="751060" y="1654266"/>
          <a:ext cx="10883221" cy="52037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30993">
                  <a:extLst>
                    <a:ext uri="{9D8B030D-6E8A-4147-A177-3AD203B41FA5}">
                      <a16:colId xmlns:a16="http://schemas.microsoft.com/office/drawing/2014/main" val="83864744"/>
                    </a:ext>
                  </a:extLst>
                </a:gridCol>
                <a:gridCol w="2742828">
                  <a:extLst>
                    <a:ext uri="{9D8B030D-6E8A-4147-A177-3AD203B41FA5}">
                      <a16:colId xmlns:a16="http://schemas.microsoft.com/office/drawing/2014/main" val="1944922289"/>
                    </a:ext>
                  </a:extLst>
                </a:gridCol>
                <a:gridCol w="2767193">
                  <a:extLst>
                    <a:ext uri="{9D8B030D-6E8A-4147-A177-3AD203B41FA5}">
                      <a16:colId xmlns:a16="http://schemas.microsoft.com/office/drawing/2014/main" val="3024528243"/>
                    </a:ext>
                  </a:extLst>
                </a:gridCol>
                <a:gridCol w="2742207">
                  <a:extLst>
                    <a:ext uri="{9D8B030D-6E8A-4147-A177-3AD203B41FA5}">
                      <a16:colId xmlns:a16="http://schemas.microsoft.com/office/drawing/2014/main" val="3661867242"/>
                    </a:ext>
                  </a:extLst>
                </a:gridCol>
              </a:tblGrid>
              <a:tr h="621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Protocol Type</a:t>
                      </a:r>
                      <a:endParaRPr lang="en-US" sz="160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Meaning</a:t>
                      </a:r>
                      <a:endParaRPr lang="en-US" sz="1600" dirty="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b="1" dirty="0"/>
                        <a:t>Explanation</a:t>
                      </a:r>
                      <a:endParaRPr lang="fi-FI" sz="1600" dirty="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Simple Real Example</a:t>
                      </a:r>
                      <a:endParaRPr lang="en-US" sz="1600"/>
                    </a:p>
                  </a:txBody>
                  <a:tcPr marL="64415" marR="64415" marT="32207" marB="32207" anchor="ctr"/>
                </a:tc>
                <a:extLst>
                  <a:ext uri="{0D108BD9-81ED-4DB2-BD59-A6C34878D82A}">
                    <a16:rowId xmlns:a16="http://schemas.microsoft.com/office/drawing/2014/main" val="1801698726"/>
                  </a:ext>
                </a:extLst>
              </a:tr>
              <a:tr h="1599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1. FIPA-ACL (Formal Standard)</a:t>
                      </a:r>
                      <a:endParaRPr lang="en-US" sz="160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Foundation for Intelligent Physical Agents – Agent Communication Language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Ye ek </a:t>
                      </a:r>
                      <a:r>
                        <a:rPr lang="en-US" sz="1600" b="1" dirty="0"/>
                        <a:t>official standard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hai</a:t>
                      </a:r>
                      <a:r>
                        <a:rPr lang="en-US" sz="1600" dirty="0"/>
                        <a:t> jo batata </a:t>
                      </a:r>
                      <a:r>
                        <a:rPr lang="en-US" sz="1600" dirty="0" err="1"/>
                        <a:t>hai</a:t>
                      </a:r>
                      <a:r>
                        <a:rPr lang="en-US" sz="1600" dirty="0"/>
                        <a:t> ki agents message </a:t>
                      </a:r>
                      <a:r>
                        <a:rPr lang="en-US" sz="1600" dirty="0" err="1"/>
                        <a:t>kaise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likhen</a:t>
                      </a:r>
                      <a:r>
                        <a:rPr lang="en-US" sz="1600" dirty="0"/>
                        <a:t>. Har message </a:t>
                      </a:r>
                      <a:r>
                        <a:rPr lang="en-US" sz="1600" dirty="0" err="1"/>
                        <a:t>mein</a:t>
                      </a:r>
                      <a:r>
                        <a:rPr lang="en-US" sz="1600" dirty="0"/>
                        <a:t> ek type </a:t>
                      </a:r>
                      <a:r>
                        <a:rPr lang="en-US" sz="1600" dirty="0" err="1"/>
                        <a:t>hota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jaise</a:t>
                      </a:r>
                      <a:r>
                        <a:rPr lang="en-US" sz="1600" dirty="0"/>
                        <a:t> — </a:t>
                      </a:r>
                      <a:r>
                        <a:rPr lang="en-US" sz="1600" b="1" dirty="0"/>
                        <a:t>REQUEST, INFORM, CONFIRM, REJECT, PROPOSE</a:t>
                      </a:r>
                      <a:r>
                        <a:rPr lang="en-US" sz="1600" dirty="0"/>
                        <a:t>.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Planner agent sends → REQUEST: "Find latest AI papers"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Researcher replies → INFORM: "3 papers found“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Planner replies → CONFIRM: "Received"</a:t>
                      </a:r>
                    </a:p>
                  </a:txBody>
                  <a:tcPr marL="64415" marR="64415" marT="32207" marB="32207" anchor="ctr"/>
                </a:tc>
                <a:extLst>
                  <a:ext uri="{0D108BD9-81ED-4DB2-BD59-A6C34878D82A}">
                    <a16:rowId xmlns:a16="http://schemas.microsoft.com/office/drawing/2014/main" val="3443235737"/>
                  </a:ext>
                </a:extLst>
              </a:tr>
              <a:tr h="111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2. Asynchronous Messaging</a:t>
                      </a:r>
                      <a:endParaRPr lang="en-US" sz="160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Non-blocking messaging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600"/>
                        <a:t>Ek agent message bhej deta hai aur aage kaam karta rehta hai. Reply baad mein aata hai. Yeh system fast aur scalable hota hai.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Planner → “Research karo”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Researcher </a:t>
                      </a:r>
                      <a:r>
                        <a:rPr lang="en-US" sz="1600" dirty="0" err="1"/>
                        <a:t>baad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mein</a:t>
                      </a:r>
                      <a:r>
                        <a:rPr lang="en-US" sz="1600" dirty="0"/>
                        <a:t> reply </a:t>
                      </a:r>
                      <a:r>
                        <a:rPr lang="en-US" sz="1600" dirty="0" err="1"/>
                        <a:t>karega</a:t>
                      </a:r>
                      <a:r>
                        <a:rPr lang="en-US" sz="1600" dirty="0"/>
                        <a:t> jab ready ho. (Jaise email </a:t>
                      </a:r>
                      <a:r>
                        <a:rPr lang="en-US" sz="1600" dirty="0" err="1"/>
                        <a:t>bhejna</a:t>
                      </a:r>
                      <a:r>
                        <a:rPr lang="en-US" sz="1600" dirty="0"/>
                        <a:t> — </a:t>
                      </a:r>
                      <a:r>
                        <a:rPr lang="en-US" sz="1600" dirty="0" err="1"/>
                        <a:t>foran</a:t>
                      </a:r>
                      <a:r>
                        <a:rPr lang="en-US" sz="1600" dirty="0"/>
                        <a:t> reply nahi </a:t>
                      </a:r>
                      <a:r>
                        <a:rPr lang="en-US" sz="1600" dirty="0" err="1"/>
                        <a:t>milta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64415" marR="64415" marT="32207" marB="32207" anchor="ctr"/>
                </a:tc>
                <a:extLst>
                  <a:ext uri="{0D108BD9-81ED-4DB2-BD59-A6C34878D82A}">
                    <a16:rowId xmlns:a16="http://schemas.microsoft.com/office/drawing/2014/main" val="1929301763"/>
                  </a:ext>
                </a:extLst>
              </a:tr>
              <a:tr h="111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3. Synchronous Messaging</a:t>
                      </a:r>
                      <a:endParaRPr lang="en-US" sz="1600"/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Real-time blocking message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Ek agent doosre ka wait karta hai jab tak reply na aaye. Yeh ordered communication hoti hai.</a:t>
                      </a:r>
                    </a:p>
                  </a:txBody>
                  <a:tcPr marL="64415" marR="64415" marT="32207" marB="3220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Planner calls Researcher → “Find data </a:t>
                      </a:r>
                      <a:r>
                        <a:rPr lang="en-US" sz="1600" dirty="0" err="1"/>
                        <a:t>abhi</a:t>
                      </a:r>
                      <a:r>
                        <a:rPr lang="en-US" sz="1600" dirty="0"/>
                        <a:t>.”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Researcher → “Okay, done.” (Jaise phone call — dono ek </a:t>
                      </a:r>
                      <a:r>
                        <a:rPr lang="en-US" sz="1600" dirty="0" err="1"/>
                        <a:t>saath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karte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hain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64415" marR="64415" marT="32207" marB="32207" anchor="ctr"/>
                </a:tc>
                <a:extLst>
                  <a:ext uri="{0D108BD9-81ED-4DB2-BD59-A6C34878D82A}">
                    <a16:rowId xmlns:a16="http://schemas.microsoft.com/office/drawing/2014/main" val="230223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28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7DAE-2951-7228-5702-65931CAC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27608-DA42-7312-0B25-20DD4DED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Common Protocols:</a:t>
            </a:r>
          </a:p>
          <a:p>
            <a:pPr lvl="1"/>
            <a:r>
              <a:rPr lang="en-US" dirty="0"/>
              <a:t>FIPA-ACL → Grammar and rules for agent conversation.</a:t>
            </a:r>
          </a:p>
          <a:p>
            <a:pPr lvl="1"/>
            <a:r>
              <a:rPr lang="en-US" dirty="0"/>
              <a:t>Asynchronous → Agent’s WhatsApp (non-blocking).</a:t>
            </a:r>
          </a:p>
          <a:p>
            <a:pPr lvl="1"/>
            <a:r>
              <a:rPr lang="en-US" dirty="0"/>
              <a:t>Synchronous → Agent’s phone call (instant back-and-forth).</a:t>
            </a:r>
          </a:p>
          <a:p>
            <a:r>
              <a:rPr lang="en-US" sz="2000" b="1" dirty="0"/>
              <a:t>Best Practices:</a:t>
            </a:r>
            <a:endParaRPr lang="en-US" sz="2000" dirty="0"/>
          </a:p>
          <a:p>
            <a:pPr lvl="1"/>
            <a:r>
              <a:rPr lang="en-US" sz="2000" dirty="0"/>
              <a:t>Define clear message schemas (avoid ambiguity).</a:t>
            </a:r>
          </a:p>
          <a:p>
            <a:pPr lvl="1"/>
            <a:r>
              <a:rPr lang="en-US" sz="2000" dirty="0"/>
              <a:t>Use acknowledgments or retries for reliability.</a:t>
            </a:r>
          </a:p>
          <a:p>
            <a:pPr lvl="1"/>
            <a:r>
              <a:rPr lang="en-US" sz="2000" dirty="0"/>
              <a:t>Keep memory of conversation history to avoid circular messaging.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3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multigeneration system&#10;&#10;AI-generated content may be incorrect.">
            <a:extLst>
              <a:ext uri="{FF2B5EF4-FFF2-40B4-BE49-F238E27FC236}">
                <a16:creationId xmlns:a16="http://schemas.microsoft.com/office/drawing/2014/main" id="{8F32A257-4C23-D810-E929-1F25C9C1D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3"/>
          <a:stretch>
            <a:fillRect/>
          </a:stretch>
        </p:blipFill>
        <p:spPr>
          <a:xfrm>
            <a:off x="1750541" y="933854"/>
            <a:ext cx="8735875" cy="5668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025AA-6D45-5B1D-8469-5F3690D2D194}"/>
              </a:ext>
            </a:extLst>
          </p:cNvPr>
          <p:cNvSpPr txBox="1"/>
          <p:nvPr/>
        </p:nvSpPr>
        <p:spPr>
          <a:xfrm>
            <a:off x="9953827" y="10524"/>
            <a:ext cx="2127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Supervisor agent in </a:t>
            </a:r>
            <a:r>
              <a:rPr lang="en-US" dirty="0" err="1"/>
              <a:t>LangGraph</a:t>
            </a:r>
            <a:r>
              <a:rPr lang="en-US" dirty="0"/>
              <a:t> / Crew Manager in </a:t>
            </a:r>
            <a:r>
              <a:rPr lang="en-US" dirty="0" err="1"/>
              <a:t>CrewAI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F71C73-39BD-8111-D51D-593C66BA4F48}"/>
              </a:ext>
            </a:extLst>
          </p:cNvPr>
          <p:cNvCxnSpPr>
            <a:stCxn id="3" idx="2"/>
          </p:cNvCxnSpPr>
          <p:nvPr/>
        </p:nvCxnSpPr>
        <p:spPr>
          <a:xfrm flipH="1">
            <a:off x="9630383" y="933854"/>
            <a:ext cx="1387407" cy="7003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FB592F-3F5C-53F3-8C10-C767023DF81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407835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1007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637597-57B8-5E1F-A9AF-5804C5FEE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185443"/>
              </p:ext>
            </p:extLst>
          </p:nvPr>
        </p:nvGraphicFramePr>
        <p:xfrm>
          <a:off x="110247" y="131631"/>
          <a:ext cx="2459477" cy="914400"/>
        </p:xfrm>
        <a:graphic>
          <a:graphicData uri="http://schemas.openxmlformats.org/drawingml/2006/table">
            <a:tbl>
              <a:tblPr/>
              <a:tblGrid>
                <a:gridCol w="2459477">
                  <a:extLst>
                    <a:ext uri="{9D8B030D-6E8A-4147-A177-3AD203B41FA5}">
                      <a16:colId xmlns:a16="http://schemas.microsoft.com/office/drawing/2014/main" val="3792877622"/>
                    </a:ext>
                  </a:extLst>
                </a:gridCol>
              </a:tblGrid>
              <a:tr h="80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LangGraph</a:t>
                      </a:r>
                      <a:r>
                        <a:rPr lang="en-US" dirty="0"/>
                        <a:t> state object / shared memory / event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05238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5FA1A2-23B6-55D3-D743-68E24E6D69FA}"/>
              </a:ext>
            </a:extLst>
          </p:cNvPr>
          <p:cNvCxnSpPr/>
          <p:nvPr/>
        </p:nvCxnSpPr>
        <p:spPr>
          <a:xfrm>
            <a:off x="1342417" y="1089498"/>
            <a:ext cx="1945532" cy="544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0C16BC-7DDF-1B5C-29F6-B99431BD9594}"/>
              </a:ext>
            </a:extLst>
          </p:cNvPr>
          <p:cNvSpPr txBox="1"/>
          <p:nvPr/>
        </p:nvSpPr>
        <p:spPr>
          <a:xfrm>
            <a:off x="110247" y="6048314"/>
            <a:ext cx="3402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APIs, databases, sensors, vector store, or user interface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5AC549-0910-C981-0C07-3C44CFED4D4E}"/>
              </a:ext>
            </a:extLst>
          </p:cNvPr>
          <p:cNvCxnSpPr>
            <a:cxnSpLocks/>
          </p:cNvCxnSpPr>
          <p:nvPr/>
        </p:nvCxnSpPr>
        <p:spPr>
          <a:xfrm flipV="1">
            <a:off x="1750541" y="5564221"/>
            <a:ext cx="1761955" cy="583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">
            <a:extLst>
              <a:ext uri="{FF2B5EF4-FFF2-40B4-BE49-F238E27FC236}">
                <a16:creationId xmlns:a16="http://schemas.microsoft.com/office/drawing/2014/main" id="{ECEC492F-C28F-2B70-79BA-EDE976C4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62616"/>
            <a:ext cx="22172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Autonomy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Coordination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Communication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Adaptivity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45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BBC08-531F-7A93-9E08-C5258B51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Coordination Strategies in Multi-Agent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DC68E-6A17-070C-CD7F-263F0CFEF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999978"/>
              </p:ext>
            </p:extLst>
          </p:nvPr>
        </p:nvGraphicFramePr>
        <p:xfrm>
          <a:off x="583660" y="1780161"/>
          <a:ext cx="10988229" cy="49402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37357">
                  <a:extLst>
                    <a:ext uri="{9D8B030D-6E8A-4147-A177-3AD203B41FA5}">
                      <a16:colId xmlns:a16="http://schemas.microsoft.com/office/drawing/2014/main" val="1768570264"/>
                    </a:ext>
                  </a:extLst>
                </a:gridCol>
                <a:gridCol w="2235389">
                  <a:extLst>
                    <a:ext uri="{9D8B030D-6E8A-4147-A177-3AD203B41FA5}">
                      <a16:colId xmlns:a16="http://schemas.microsoft.com/office/drawing/2014/main" val="477001194"/>
                    </a:ext>
                  </a:extLst>
                </a:gridCol>
                <a:gridCol w="2204713">
                  <a:extLst>
                    <a:ext uri="{9D8B030D-6E8A-4147-A177-3AD203B41FA5}">
                      <a16:colId xmlns:a16="http://schemas.microsoft.com/office/drawing/2014/main" val="2550605226"/>
                    </a:ext>
                  </a:extLst>
                </a:gridCol>
                <a:gridCol w="2155385">
                  <a:extLst>
                    <a:ext uri="{9D8B030D-6E8A-4147-A177-3AD203B41FA5}">
                      <a16:colId xmlns:a16="http://schemas.microsoft.com/office/drawing/2014/main" val="2876002902"/>
                    </a:ext>
                  </a:extLst>
                </a:gridCol>
                <a:gridCol w="2155385">
                  <a:extLst>
                    <a:ext uri="{9D8B030D-6E8A-4147-A177-3AD203B41FA5}">
                      <a16:colId xmlns:a16="http://schemas.microsoft.com/office/drawing/2014/main" val="1636333889"/>
                    </a:ext>
                  </a:extLst>
                </a:gridCol>
              </a:tblGrid>
              <a:tr h="451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Strategy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Description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Example Use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Strengths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Weaknesses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1647827743"/>
                  </a:ext>
                </a:extLst>
              </a:tr>
              <a:tr h="753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Centralized</a:t>
                      </a:r>
                      <a:endParaRPr lang="en-US" sz="1800"/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One controller assigns tasks to subagents.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CrewAI “Manager Agent”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Simple control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Single point of failure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1059554829"/>
                  </a:ext>
                </a:extLst>
              </a:tr>
              <a:tr h="753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Hierarchical</a:t>
                      </a:r>
                      <a:endParaRPr lang="en-US" sz="1800"/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Supervisor → </a:t>
                      </a:r>
                      <a:r>
                        <a:rPr lang="en-US" sz="1800" dirty="0" err="1"/>
                        <a:t>subteam</a:t>
                      </a:r>
                      <a:r>
                        <a:rPr lang="en-US" sz="1800" dirty="0"/>
                        <a:t> → workers.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LangGraph multi-layer orchestration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Clear structure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Slower adaptation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3930217669"/>
                  </a:ext>
                </a:extLst>
              </a:tr>
              <a:tr h="753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Decentralized (Swarm)</a:t>
                      </a:r>
                      <a:endParaRPr lang="en-US" sz="1800"/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coordinate via shared signals, no leader.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Traffic simulation, sensor networks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 scalability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Hard to debug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3379275434"/>
                  </a:ext>
                </a:extLst>
              </a:tr>
              <a:tr h="753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Market-based (Contract Net)</a:t>
                      </a:r>
                      <a:endParaRPr lang="en-US" sz="1800"/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Tasks are auctioned; best bidder executes.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Resource allocation systems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Efficient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Requires negotiation logic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1294633339"/>
                  </a:ext>
                </a:extLst>
              </a:tr>
              <a:tr h="1056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Blackboard Model</a:t>
                      </a:r>
                      <a:endParaRPr lang="en-US" sz="1800"/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Shared workspace; agents post/read intermediate results.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Problem-solving MAS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Collaborative</a:t>
                      </a:r>
                    </a:p>
                  </a:txBody>
                  <a:tcPr marL="69894" marR="69894" marT="34948" marB="349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Needs strong synchronization</a:t>
                      </a:r>
                    </a:p>
                  </a:txBody>
                  <a:tcPr marL="69894" marR="69894" marT="34948" marB="34948" anchor="ctr"/>
                </a:tc>
                <a:extLst>
                  <a:ext uri="{0D108BD9-81ED-4DB2-BD59-A6C34878D82A}">
                    <a16:rowId xmlns:a16="http://schemas.microsoft.com/office/drawing/2014/main" val="75023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995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multi-agent architecture&#10;&#10;AI-generated content may be incorrect.">
            <a:extLst>
              <a:ext uri="{FF2B5EF4-FFF2-40B4-BE49-F238E27FC236}">
                <a16:creationId xmlns:a16="http://schemas.microsoft.com/office/drawing/2014/main" id="{FA3780C7-99A5-982A-F08E-42A438851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7"/>
          <a:stretch>
            <a:fillRect/>
          </a:stretch>
        </p:blipFill>
        <p:spPr>
          <a:xfrm>
            <a:off x="2895594" y="923968"/>
            <a:ext cx="6300957" cy="59623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CAF7F-ED3A-A07F-C62B-919FAD262212}"/>
              </a:ext>
            </a:extLst>
          </p:cNvPr>
          <p:cNvSpPr txBox="1"/>
          <p:nvPr/>
        </p:nvSpPr>
        <p:spPr>
          <a:xfrm>
            <a:off x="167801" y="272534"/>
            <a:ext cx="986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Coordination + Communication + Collaboration</a:t>
            </a:r>
          </a:p>
        </p:txBody>
      </p:sp>
    </p:spTree>
    <p:extLst>
      <p:ext uri="{BB962C8B-B14F-4D97-AF65-F5344CB8AC3E}">
        <p14:creationId xmlns:p14="http://schemas.microsoft.com/office/powerpoint/2010/main" val="97543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6E9F68-F525-B463-825B-B7491B9BE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541342"/>
              </p:ext>
            </p:extLst>
          </p:nvPr>
        </p:nvGraphicFramePr>
        <p:xfrm>
          <a:off x="1312888" y="1606742"/>
          <a:ext cx="9974786" cy="52199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30742">
                  <a:extLst>
                    <a:ext uri="{9D8B030D-6E8A-4147-A177-3AD203B41FA5}">
                      <a16:colId xmlns:a16="http://schemas.microsoft.com/office/drawing/2014/main" val="3314579434"/>
                    </a:ext>
                  </a:extLst>
                </a:gridCol>
                <a:gridCol w="3663265">
                  <a:extLst>
                    <a:ext uri="{9D8B030D-6E8A-4147-A177-3AD203B41FA5}">
                      <a16:colId xmlns:a16="http://schemas.microsoft.com/office/drawing/2014/main" val="2191876746"/>
                    </a:ext>
                  </a:extLst>
                </a:gridCol>
                <a:gridCol w="3580779">
                  <a:extLst>
                    <a:ext uri="{9D8B030D-6E8A-4147-A177-3AD203B41FA5}">
                      <a16:colId xmlns:a16="http://schemas.microsoft.com/office/drawing/2014/main" val="996933577"/>
                    </a:ext>
                  </a:extLst>
                </a:gridCol>
              </a:tblGrid>
              <a:tr h="276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Pattern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Simple Meaning 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Agentic AI Example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700858271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Handoffs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Ek agent ka task </a:t>
                      </a:r>
                      <a:r>
                        <a:rPr lang="en-US" sz="1600" dirty="0" err="1"/>
                        <a:t>doosre</a:t>
                      </a:r>
                      <a:r>
                        <a:rPr lang="en-US" sz="1600" dirty="0"/>
                        <a:t> ko transfer </a:t>
                      </a:r>
                      <a:r>
                        <a:rPr lang="en-US" sz="1600" dirty="0" err="1"/>
                        <a:t>hota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hai</a:t>
                      </a:r>
                      <a:r>
                        <a:rPr lang="en-US" sz="1600" dirty="0"/>
                        <a:t>  sequential collaboration.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Planner agent assigns task → Researcher agent executes it.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4096589934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Parallel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Multiple agents ek saath kaam karte hain (load balancing).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Multiple summarizers run on different documents at once.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4087633878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Router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Ek agent route karta hai kaunsa task kis agent ko bhejna hai.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Supervisor in LangGraph routes queries to right sub-agent.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2243291020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Aggregator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Alag-alag agents ke outputs combine karke ek final result banta hai.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Reviewer agent merges multiple research summaries.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4058646680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Hierarchical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Top-level agents (supervisors) control niche-level agents.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Crew Manager → Team Leads → Workers (CrewAI).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1536570537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Network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Peer-to-peer system  </a:t>
                      </a:r>
                      <a:r>
                        <a:rPr lang="en-US" sz="1600" dirty="0" err="1"/>
                        <a:t>har</a:t>
                      </a:r>
                      <a:r>
                        <a:rPr lang="en-US" sz="1600" dirty="0"/>
                        <a:t> agent </a:t>
                      </a:r>
                      <a:r>
                        <a:rPr lang="en-US" sz="1600" dirty="0" err="1"/>
                        <a:t>apas</a:t>
                      </a:r>
                      <a:r>
                        <a:rPr lang="en-US" sz="1600" dirty="0"/>
                        <a:t> me directly </a:t>
                      </a:r>
                      <a:r>
                        <a:rPr lang="en-US" sz="1600" dirty="0" err="1"/>
                        <a:t>baat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karta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hai</a:t>
                      </a:r>
                      <a:r>
                        <a:rPr lang="en-US" sz="1600" dirty="0"/>
                        <a:t>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AutoGen’s conversational agents.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128903335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Loop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Feedback-based structure  agents continuously improve result.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Critic agent giving iterative feedback to Writer agent.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1627695185"/>
                  </a:ext>
                </a:extLst>
              </a:tr>
              <a:tr h="276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Sequential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Ek ke baad ek agents kaam karte hain in fixed order.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LangChain-style sequential pipelines.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141256432"/>
                  </a:ext>
                </a:extLst>
              </a:tr>
              <a:tr h="45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Supervisor</a:t>
                      </a:r>
                      <a:endParaRPr lang="en-US" sz="1600"/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Ek master agent performance monitor karta hai aur quality ensure karta hai.</a:t>
                      </a:r>
                    </a:p>
                  </a:txBody>
                  <a:tcPr marL="58702" marR="58702" marT="29351" marB="29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LangGraph’s</a:t>
                      </a:r>
                      <a:r>
                        <a:rPr lang="en-US" sz="1600" dirty="0"/>
                        <a:t> “Supervisor Node” watching worker agents.</a:t>
                      </a:r>
                    </a:p>
                  </a:txBody>
                  <a:tcPr marL="58702" marR="58702" marT="29351" marB="29351" anchor="ctr"/>
                </a:tc>
                <a:extLst>
                  <a:ext uri="{0D108BD9-81ED-4DB2-BD59-A6C34878D82A}">
                    <a16:rowId xmlns:a16="http://schemas.microsoft.com/office/drawing/2014/main" val="2637480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145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B5EC-942E-C79C-69EE-04DEA18D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Core Building Blocks / Subtopics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FC7731-951F-855E-D3D4-7761493F6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184576"/>
              </p:ext>
            </p:extLst>
          </p:nvPr>
        </p:nvGraphicFramePr>
        <p:xfrm>
          <a:off x="4624302" y="271305"/>
          <a:ext cx="6981220" cy="6290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072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BAC94-46EF-1278-0835-668BD012C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Overview of CrewAI &amp; AutoGen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5CE19C-6D75-D4CA-4DA6-13355A1C2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805" y="1507252"/>
            <a:ext cx="11515410" cy="51749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CrewAI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Role-based abstraction: define a “crew” of agents, each with a role &amp; responsibilities.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Good for structured teams / business workflows.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Lean, simpler orchestration, faster prototyping.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But limited flexibility in branching logic or dynamic graph flows.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Some empirical studies show coordination failures in edge cases (e.g. in robotic or multi-agent setups)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AutoGen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Built for collaborative, conversational multi-agent settings.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Agents talk to each other, passing messages, reasoning, negotiating.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Good for back-and-forth discourse, brainstorming, negotiation tasks.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 - But lacks higher-order workflow control abstractions; developer must design the orchestration logic manually.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Works well for prototyping, but scaling or more rigid workflows can be brittle</a:t>
            </a:r>
          </a:p>
        </p:txBody>
      </p:sp>
    </p:spTree>
    <p:extLst>
      <p:ext uri="{BB962C8B-B14F-4D97-AF65-F5344CB8AC3E}">
        <p14:creationId xmlns:p14="http://schemas.microsoft.com/office/powerpoint/2010/main" val="1810271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22CB5-B5B1-607F-3839-D66A140B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Why LangChain (alone) Isn’t Enough for Multi-Agent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8CA1-0595-A190-4193-BA9C86B9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39816"/>
            <a:ext cx="10143812" cy="4431322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 err="1"/>
              <a:t>LangChain</a:t>
            </a:r>
            <a:r>
              <a:rPr lang="en-US" sz="2000" dirty="0"/>
              <a:t> is primarily designed around </a:t>
            </a:r>
            <a:r>
              <a:rPr lang="en-US" sz="2000" b="1" dirty="0"/>
              <a:t>chains / sequential pipelines</a:t>
            </a:r>
            <a:r>
              <a:rPr lang="en-US" sz="2000" dirty="0"/>
              <a:t> and agent + tool wrappers.</a:t>
            </a:r>
          </a:p>
          <a:p>
            <a:r>
              <a:rPr lang="en-US" sz="2000" dirty="0"/>
              <a:t>It lacks built-in support for </a:t>
            </a:r>
            <a:r>
              <a:rPr lang="en-US" sz="2000" b="1" dirty="0"/>
              <a:t>graph-based workflows</a:t>
            </a:r>
            <a:r>
              <a:rPr lang="en-US" sz="2000" dirty="0"/>
              <a:t>, dynamic routing, branching, or inter-agent messaging.</a:t>
            </a:r>
          </a:p>
          <a:p>
            <a:r>
              <a:rPr lang="en-US" sz="2000" dirty="0"/>
              <a:t>Memory &amp; state management across multiple agent instances is ad hoc and can become inconsistent or tangled.</a:t>
            </a:r>
          </a:p>
          <a:p>
            <a:r>
              <a:rPr lang="en-US" sz="2000" dirty="0"/>
              <a:t>As we scale, orchestration logic gets pushed into our own code (ad hoc controllers, branching logic), which leads to boilerplate and fragility.</a:t>
            </a:r>
          </a:p>
          <a:p>
            <a:r>
              <a:rPr lang="en-US" sz="2000" dirty="0"/>
              <a:t>Developers often “reinvent” orchestration on top of </a:t>
            </a:r>
            <a:r>
              <a:rPr lang="en-US" sz="2000" dirty="0" err="1"/>
              <a:t>LangChain</a:t>
            </a:r>
            <a:r>
              <a:rPr lang="en-US" sz="2000" dirty="0"/>
              <a:t> when trying to build multi-agent systems.</a:t>
            </a:r>
          </a:p>
          <a:p>
            <a:r>
              <a:rPr lang="en-US" sz="2000" dirty="0"/>
              <a:t>The abstraction is too coarse: chaining, callbacks, tool calls—but not full multi-agent graph workflow support.</a:t>
            </a:r>
          </a:p>
          <a:p>
            <a:r>
              <a:rPr lang="en-US" sz="2000" dirty="0"/>
              <a:t>Hence, the need for a lower-level orchestration / graph layer on top of or alongside </a:t>
            </a:r>
            <a:r>
              <a:rPr lang="en-US" sz="2000" dirty="0" err="1"/>
              <a:t>LangChain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1127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09D52-39FF-04AE-6075-D51B2F4E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LangGraph &amp; Why It Helps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F19C71-9810-B1E8-D4D8-D0E9FC172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1718268"/>
            <a:ext cx="11407752" cy="48451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graph-based orchestration framework designed to enable multi-agent workflows.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ideas: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 • Represent agents / tasks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a directed graph,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edges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defining routing / dependencies.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 • A shared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state object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flows through nodes; nodes may read, modify, branch based on state.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 • Dynamic routing / conditional edges based on intermediate results.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 • Built-in memory, checkpointing, orchestration primitives, “supervisor” &amp; “swarm” architectures.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Debugging, tracing, observability (via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LangSmith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and modularity.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Because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lower-level, you get flexibility: you can build hierarchical agents, mixtures of orchestration styles, or integrate workflows with other parts of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 avoid reinventing routing logic, context passing, error handling, branching semantics—all are supported by the graph abstraction.</a:t>
            </a:r>
          </a:p>
        </p:txBody>
      </p:sp>
    </p:spTree>
    <p:extLst>
      <p:ext uri="{BB962C8B-B14F-4D97-AF65-F5344CB8AC3E}">
        <p14:creationId xmlns:p14="http://schemas.microsoft.com/office/powerpoint/2010/main" val="3763534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EE336-7531-26A5-836D-F437C682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Multi-Agent Architectures in LangGraph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684786-45A6-BCE5-1A41-3AA51BD412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Supervisor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one master agent routes tasks to sub-agents, collects results, decides final output.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Swarm / peer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agents collaborate more peer-to-peer, negotiate, or pass messages directly.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supports both, and you can mix them.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 The “City Information System” on AWS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+ Mistral)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route tasks (weather, events, transport) through agents.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can also visualize the graph, checkpoints, fallback routes, loops, branching.</a:t>
            </a:r>
          </a:p>
        </p:txBody>
      </p:sp>
    </p:spTree>
    <p:extLst>
      <p:ext uri="{BB962C8B-B14F-4D97-AF65-F5344CB8AC3E}">
        <p14:creationId xmlns:p14="http://schemas.microsoft.com/office/powerpoint/2010/main" val="2538751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1FB2EC-4DDF-A2DF-6592-B403C2860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335" y="23488"/>
            <a:ext cx="9706708" cy="69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0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73D94-E64D-3881-3C53-B4FC0458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3400">
                <a:solidFill>
                  <a:srgbClr val="FFFFFF"/>
                </a:solidFill>
              </a:rPr>
              <a:t>Comparison Table: CrewAI vs AutoGen vs LangGraph</a:t>
            </a: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F94552-7D98-A117-B8B8-EE8FA4EAF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124644"/>
              </p:ext>
            </p:extLst>
          </p:nvPr>
        </p:nvGraphicFramePr>
        <p:xfrm>
          <a:off x="1096449" y="2112579"/>
          <a:ext cx="10023043" cy="419281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32457">
                  <a:extLst>
                    <a:ext uri="{9D8B030D-6E8A-4147-A177-3AD203B41FA5}">
                      <a16:colId xmlns:a16="http://schemas.microsoft.com/office/drawing/2014/main" val="609603958"/>
                    </a:ext>
                  </a:extLst>
                </a:gridCol>
                <a:gridCol w="2026692">
                  <a:extLst>
                    <a:ext uri="{9D8B030D-6E8A-4147-A177-3AD203B41FA5}">
                      <a16:colId xmlns:a16="http://schemas.microsoft.com/office/drawing/2014/main" val="925743946"/>
                    </a:ext>
                  </a:extLst>
                </a:gridCol>
                <a:gridCol w="2631947">
                  <a:extLst>
                    <a:ext uri="{9D8B030D-6E8A-4147-A177-3AD203B41FA5}">
                      <a16:colId xmlns:a16="http://schemas.microsoft.com/office/drawing/2014/main" val="3210857667"/>
                    </a:ext>
                  </a:extLst>
                </a:gridCol>
                <a:gridCol w="2631947">
                  <a:extLst>
                    <a:ext uri="{9D8B030D-6E8A-4147-A177-3AD203B41FA5}">
                      <a16:colId xmlns:a16="http://schemas.microsoft.com/office/drawing/2014/main" val="2764507637"/>
                    </a:ext>
                  </a:extLst>
                </a:gridCol>
              </a:tblGrid>
              <a:tr h="402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Feature / Capability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CrewAI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AutoGen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LangGraph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1738010349"/>
                  </a:ext>
                </a:extLst>
              </a:tr>
              <a:tr h="677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Role / crew abstraction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 yes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limited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yes (via graph node agents)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2215969641"/>
                  </a:ext>
                </a:extLst>
              </a:tr>
              <a:tr h="677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Graph / branching workflows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limited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minimal (you build manually)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 native graph support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3153958236"/>
                  </a:ext>
                </a:extLst>
              </a:tr>
              <a:tr h="677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Routing / conditional logic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basic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manual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 built-in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3434332055"/>
                  </a:ext>
                </a:extLst>
              </a:tr>
              <a:tr h="402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Scalability / concurrency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moderate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moderate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strong (parallel nodes)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1903787369"/>
                  </a:ext>
                </a:extLst>
              </a:tr>
              <a:tr h="677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Debugging / observability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limited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manual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good (tracing, checkpoints)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673052935"/>
                  </a:ext>
                </a:extLst>
              </a:tr>
              <a:tr h="677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Flexibility &amp; customization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moderate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marL="91546" marR="91546" marT="45773" marB="45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very high (low-level primitives)</a:t>
                      </a:r>
                    </a:p>
                  </a:txBody>
                  <a:tcPr marL="91546" marR="91546" marT="45773" marB="45773" anchor="ctr"/>
                </a:tc>
                <a:extLst>
                  <a:ext uri="{0D108BD9-81ED-4DB2-BD59-A6C34878D82A}">
                    <a16:rowId xmlns:a16="http://schemas.microsoft.com/office/drawing/2014/main" val="582321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035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E85B1-CF25-27F2-2228-029C9FDE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FDEC9A89-79AA-76E5-B365-BB6C44005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1903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9126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140E1-CFF6-1933-BA3E-3CB12E30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When to Use Multi-Agent / LangGraph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D8623B-38FA-8CF1-B827-9EC67845B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Workflows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branching or conditional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(not strictly linear)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Tasks that decompose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parallelizable subtasks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Cases needing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error retry, fallback, recovery logic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Systems needing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scalability, modularity, extendibility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Complex orchestration or dynamic workflows where you don’t want to hardcode control logic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When you expect to iterate / evolve the workflow rather than fix it once</a:t>
            </a:r>
          </a:p>
        </p:txBody>
      </p:sp>
    </p:spTree>
    <p:extLst>
      <p:ext uri="{BB962C8B-B14F-4D97-AF65-F5344CB8AC3E}">
        <p14:creationId xmlns:p14="http://schemas.microsoft.com/office/powerpoint/2010/main" val="376168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474CA-5AC8-F5C3-EE92-110739AC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When NOT to Use Multi-Agent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D6F1FE-7F02-808D-6CBB-24DED8ED5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113928"/>
              </p:ext>
            </p:extLst>
          </p:nvPr>
        </p:nvGraphicFramePr>
        <p:xfrm>
          <a:off x="644056" y="2394502"/>
          <a:ext cx="10927830" cy="36289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22659">
                  <a:extLst>
                    <a:ext uri="{9D8B030D-6E8A-4147-A177-3AD203B41FA5}">
                      <a16:colId xmlns:a16="http://schemas.microsoft.com/office/drawing/2014/main" val="1554755184"/>
                    </a:ext>
                  </a:extLst>
                </a:gridCol>
                <a:gridCol w="3682512">
                  <a:extLst>
                    <a:ext uri="{9D8B030D-6E8A-4147-A177-3AD203B41FA5}">
                      <a16:colId xmlns:a16="http://schemas.microsoft.com/office/drawing/2014/main" val="2518821596"/>
                    </a:ext>
                  </a:extLst>
                </a:gridCol>
                <a:gridCol w="3622659">
                  <a:extLst>
                    <a:ext uri="{9D8B030D-6E8A-4147-A177-3AD203B41FA5}">
                      <a16:colId xmlns:a16="http://schemas.microsoft.com/office/drawing/2014/main" val="3376693999"/>
                    </a:ext>
                  </a:extLst>
                </a:gridCol>
              </a:tblGrid>
              <a:tr h="41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Limitation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Why It Happens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Consequence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1495510320"/>
                  </a:ext>
                </a:extLst>
              </a:tr>
              <a:tr h="699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Communication overhead</a:t>
                      </a:r>
                      <a:endParaRPr lang="en-US" sz="1900"/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Each message = API call or delay.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Higher cost &amp; latency.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1544691653"/>
                  </a:ext>
                </a:extLst>
              </a:tr>
              <a:tr h="699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Complex debugging</a:t>
                      </a:r>
                      <a:endParaRPr lang="en-US" sz="1900"/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Parallel reasoning → hard to trace failures.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Unpredictable outputs.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3469831812"/>
                  </a:ext>
                </a:extLst>
              </a:tr>
              <a:tr h="699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State synchronization</a:t>
                      </a:r>
                      <a:endParaRPr lang="en-US" sz="1900"/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Multiple agents modify same data.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Inconsistent memory states.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666868872"/>
                  </a:ext>
                </a:extLst>
              </a:tr>
              <a:tr h="41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Emergent misalignment</a:t>
                      </a:r>
                      <a:endParaRPr lang="en-US" sz="1900"/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Independent goals can conflict.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Unstable behavior.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2360751780"/>
                  </a:ext>
                </a:extLst>
              </a:tr>
              <a:tr h="699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Overengineering risk</a:t>
                      </a:r>
                      <a:endParaRPr lang="en-US" sz="1900"/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Simple tasks don’t need full MAS.</a:t>
                      </a:r>
                    </a:p>
                  </a:txBody>
                  <a:tcPr marL="94504" marR="94504" marT="47252" marB="472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Wasted complexity.</a:t>
                      </a:r>
                    </a:p>
                  </a:txBody>
                  <a:tcPr marL="94504" marR="94504" marT="47252" marB="47252" anchor="ctr"/>
                </a:tc>
                <a:extLst>
                  <a:ext uri="{0D108BD9-81ED-4DB2-BD59-A6C34878D82A}">
                    <a16:rowId xmlns:a16="http://schemas.microsoft.com/office/drawing/2014/main" val="231842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673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D7917-3580-1F3B-2F4E-96CB1F15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&amp;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186D0-411E-3F17-1A41-79E6EA0585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Overhead: inter-agent communication, latency, coordination costs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Designing clear message schemas, contracts, state consistency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Handling failures, retries, race conditions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Debugging distributed logic is harder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Designing consistent memory / state sharing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Ensuring agents don’t “fight” or conflict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Tradeoff between expressiveness and complexity (too fine-grained agents can be overkill)</a:t>
            </a:r>
          </a:p>
        </p:txBody>
      </p:sp>
    </p:spTree>
    <p:extLst>
      <p:ext uri="{BB962C8B-B14F-4D97-AF65-F5344CB8AC3E}">
        <p14:creationId xmlns:p14="http://schemas.microsoft.com/office/powerpoint/2010/main" val="40679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2638</Words>
  <Application>Microsoft Office PowerPoint</Application>
  <PresentationFormat>Widescreen</PresentationFormat>
  <Paragraphs>313</Paragraphs>
  <Slides>29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MultiAgent Systems &amp; Coordination</vt:lpstr>
      <vt:lpstr>Recap / Problem Statement</vt:lpstr>
      <vt:lpstr>Why a Single Agent (Even with Many “Roles”) Fails / Struggles</vt:lpstr>
      <vt:lpstr>Scenario: Market Research and Report Writing Agent</vt:lpstr>
      <vt:lpstr>What Actually Happens</vt:lpstr>
      <vt:lpstr>Failure Point (Why Single-Agent Multi-Role Fails)</vt:lpstr>
      <vt:lpstr>What a Multi-Agent System Would Do Instead</vt:lpstr>
      <vt:lpstr>PowerPoint Presentation</vt:lpstr>
      <vt:lpstr>What Multi-Agent Systems Bring to the Table</vt:lpstr>
      <vt:lpstr>Theoretical Foundation: Core Principles of Multi-Agent Systems</vt:lpstr>
      <vt:lpstr>Autonomous Agent Collaboration Types</vt:lpstr>
      <vt:lpstr>Messaging Protocols &amp; Communication Standards</vt:lpstr>
      <vt:lpstr>PowerPoint Presentation</vt:lpstr>
      <vt:lpstr>PowerPoint Presentation</vt:lpstr>
      <vt:lpstr>PowerPoint Presentation</vt:lpstr>
      <vt:lpstr>Coordination Strategies in Multi-Agent Systems</vt:lpstr>
      <vt:lpstr>PowerPoint Presentation</vt:lpstr>
      <vt:lpstr>PowerPoint Presentation</vt:lpstr>
      <vt:lpstr>Core Building Blocks / Subtopics</vt:lpstr>
      <vt:lpstr>Overview of CrewAI &amp; AutoGen</vt:lpstr>
      <vt:lpstr>Why LangChain (alone) Isn’t Enough for Multi-Agent</vt:lpstr>
      <vt:lpstr>LangGraph &amp; Why It Helps</vt:lpstr>
      <vt:lpstr>Multi-Agent Architectures in LangGraph</vt:lpstr>
      <vt:lpstr>PowerPoint Presentation</vt:lpstr>
      <vt:lpstr>Comparison Table: CrewAI vs AutoGen vs LangGraph</vt:lpstr>
      <vt:lpstr>PowerPoint Presentation</vt:lpstr>
      <vt:lpstr>When to Use Multi-Agent / LangGraph</vt:lpstr>
      <vt:lpstr>When NOT to Use Multi-Agent Systems</vt:lpstr>
      <vt:lpstr>Challenges &amp;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16</cp:revision>
  <dcterms:created xsi:type="dcterms:W3CDTF">2025-10-07T10:45:45Z</dcterms:created>
  <dcterms:modified xsi:type="dcterms:W3CDTF">2026-03-17T18:31:30Z</dcterms:modified>
</cp:coreProperties>
</file>