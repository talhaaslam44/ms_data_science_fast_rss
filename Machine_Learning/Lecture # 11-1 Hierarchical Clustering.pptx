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25"/>
  </p:notesMasterIdLst>
  <p:sldIdLst>
    <p:sldId id="443" r:id="rId2"/>
    <p:sldId id="421" r:id="rId3"/>
    <p:sldId id="1306" r:id="rId4"/>
    <p:sldId id="1300" r:id="rId5"/>
    <p:sldId id="1304" r:id="rId6"/>
    <p:sldId id="1310" r:id="rId7"/>
    <p:sldId id="1329" r:id="rId8"/>
    <p:sldId id="1332" r:id="rId9"/>
    <p:sldId id="1333" r:id="rId10"/>
    <p:sldId id="259" r:id="rId11"/>
    <p:sldId id="1331" r:id="rId12"/>
    <p:sldId id="260" r:id="rId13"/>
    <p:sldId id="1334" r:id="rId14"/>
    <p:sldId id="1335" r:id="rId15"/>
    <p:sldId id="1337" r:id="rId16"/>
    <p:sldId id="1338" r:id="rId17"/>
    <p:sldId id="1339" r:id="rId18"/>
    <p:sldId id="1340" r:id="rId19"/>
    <p:sldId id="1351" r:id="rId20"/>
    <p:sldId id="1345" r:id="rId21"/>
    <p:sldId id="1342" r:id="rId22"/>
    <p:sldId id="1298" r:id="rId23"/>
    <p:sldId id="415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A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08" autoAdjust="0"/>
    <p:restoredTop sz="94660"/>
  </p:normalViewPr>
  <p:slideViewPr>
    <p:cSldViewPr>
      <p:cViewPr varScale="1">
        <p:scale>
          <a:sx n="72" d="100"/>
          <a:sy n="72" d="100"/>
        </p:scale>
        <p:origin x="122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5T09:03:17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2363 372 24575,'-117'-73'0,"16"10"0,38 27 0,-118-58 0,152 82 0,0 0 0,-1 2 0,-1 2 0,-45-8 0,51 13 0,-429-40 0,370 42 0,-216 4 0,263 3 0,1 1 0,0 1 0,0 3 0,1 0 0,0 3 0,-33 17 0,-43 15 0,98-41 0,0 1 0,0 0 0,0 1 0,1 0 0,0 1 0,1 0 0,-20 19 0,12-7 0,1 1 0,-29 47 0,19-20 0,2 2 0,3 0 0,-20 61 0,-17 40 0,54-135 0,0 1 0,2 0 0,0 1 0,1-1 0,1 0 0,1 1 0,0 26 0,1-20 0,-1 0 0,-1-1 0,-7 32 0,-2 7 0,3 0 0,2 0 0,3 1 0,7 89 0,-1-16 0,-4-63 0,3-1 0,3 0 0,24 117 0,72 179 0,-69-279 0,44 86 0,-3-9 0,-54-126 0,28 48 0,-26-52 0,26 60 0,10 42 0,95 160 0,-104-192 0,-38-79 0,2 0 0,1-1 0,20 31 0,-10-18 0,-1 1 0,-2 1 0,-1 0 0,16 59 0,-28-80 0,21 57 0,-4 1 0,16 94 0,-32-134 0,23 67 0,-11-45 0,11 92 0,-13-74 0,-12-48 0,1 0 0,12 31 0,56 163 0,-9-19 0,-10-72 0,5-3 0,92 144 0,-34-68 0,-103-178 0,-1 0 0,13 38 0,-16-37 0,1-1 0,27 46 0,-23-46 0,-1 0 0,15 42 0,-22-48 0,0-1 0,1-1 0,1 0 0,0 0 0,2-1 0,23 27 0,-6-12 0,48 72 0,-18-22 0,-10-9 0,-38-54 0,2-1 0,0 0 0,21 22 0,76 62 0,216 153 0,-299-236 0,7 3 0,0-2 0,2-1 0,0-1 0,1-2 0,1-2 0,0-2 0,1-1 0,1-2 0,0-2 0,0-2 0,1-1 0,70 0 0,45-7 0,404-23 0,-498 17 0,-30 4 0,1 0 0,-2-2 0,1-2 0,-1-1 0,0-1 0,37-17 0,13-20 0,-49 25 0,1 2 0,55-21 0,-58 27 0,44-25 0,-3 2 0,-48 25 0,-1 0 0,0-1 0,-1-2 0,0 0 0,-2-1 0,1-1 0,-2-1 0,0-1 0,-1 0 0,-1-2 0,-1 0 0,0 0 0,13-26 0,9-28 0,-4-1 0,-3-1 0,-4-2 0,24-106 0,-35 105 0,-3 1 0,-4-1 0,0-120 0,-8 149 0,15-87 0,1-16 0,-13-529 0,-7 348 0,1 208 0,-19-130 0,7 109 0,7 68 0,-17-82 0,-11-9 0,-88-331 0,99 426 0,-8-29 0,-4 2 0,-75-146 0,-188-232 0,204 341 0,-188-212 0,223 286 0,-124-134 0,-246-205 0,354 334 0,48 43 0,-45-35 0,26 25 0,1-2 0,-55-61 0,64 65 0,-1 3 0,-50-34 0,18 15 0,3 3 0,-2 3 0,-98-46 0,126 73 59,-75-23 0,75 29-800,-77-34-1,92 32-6084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5T09:03:19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1678 24575,'-2'-14'0,"1"1"0,-2-1 0,0 1 0,0 0 0,-2 0 0,1 0 0,-9-15 0,6 11 0,0 0 0,1-1 0,-5-23 0,-26-201 0,10-1 0,6-290 0,23 133-1365,-2 355-5461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5T09:03:20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61 24575,'6'-6'0,"9"-3"0,14 1 0,8 2 0,5-5 0,7 0 0,-5 2-8191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4-15T09:03:24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2174 226 24575,'137'61'0,"-86"-40"0,-1 2 0,-1 1 0,84 59 0,-85-44 0,-2 2 0,-2 3 0,-2 1 0,61 84 0,117 221 0,-179-268 0,-4 3 0,36 118 0,-46-119 0,-4 1 0,-4 1 0,-4 1 0,6 109 0,-19 319 0,-4-256 0,0-236 0,-1 0 0,0 0 0,-2 0 0,-1 0 0,-14 36 0,-4 17 0,-61 167 0,22-71 0,55-152 0,-1 1 0,-1-1 0,-18 25 0,-8 17 0,9-9 0,1-7 0,3 2 0,2 0 0,-18 61 0,23-58 0,-32 68 0,10-28 0,20-49 0,-1 0 0,-2-2 0,-2 0 0,-28 37 0,42-67 0,-1 0 0,1 0 0,-1-1 0,-1 0 0,0-1 0,0 0 0,-1-1 0,-19 9 0,-8 1 0,-56 18 0,55-25 0,-1-3 0,0-1 0,0-2 0,0-1 0,-79-7 0,37 2 0,58 0 0,0-1 0,0-1 0,1-2 0,0 0 0,0-1 0,0-2 0,1 0 0,-34-19 0,41 20 0,-47-18 0,-2 3 0,-74-17 0,29 10 0,-152-71 0,246 94 0,-54-28 0,2-3 0,1-3 0,-82-67 0,123 85 0,1 0 0,1-2 0,2-1 0,-21-30 0,13 13 0,3-2 0,-39-85 0,23 42 0,29 58 0,-19-63 0,-3-10 0,21 71 0,3-1 0,0-1 0,3 1 0,-10-57 0,-14-59 0,22 111 0,2-1 0,1-1 0,-3-62 0,9 68 0,0 1 0,-15-63 0,-21-123 0,2-2 0,-14 48 0,48 161 0,-11-47 0,3-1 0,-4-101 0,16-318 0,-3 456 0,-2 1 0,0 0 0,-9-30 0,6 26 0,-6-51 0,10-220 0,3 153 0,-1 133 0,0 0 0,1-1 0,0 1 0,0 0 0,1-1 0,1 1 0,0 0 0,0 0 0,1 1 0,1-1 0,0 1 0,0 0 0,1 0 0,0 0 0,0 1 0,1 0 0,1 0 0,0 1 0,0 0 0,0 0 0,17-11 0,-8 7 0,-1-2 0,17-17 0,-21 19 0,1 0 0,0 0 0,1 1 0,17-10 0,78-33 0,23-14 0,-117 61 0,1 0 0,0 1 0,1 1 0,0 0 0,0 1 0,0 1 0,0 1 0,0 0 0,34 2 0,-18-1 0,50-7 0,3-4 0,1 4 0,1 3 0,119 10 0,-54 13 0,30 1 0,-137-16 0,73 16 0,-51-7 0,-25-3 0,0 3 0,-1 1 0,78 35 0,-96-38 0,36 14 0,-38-16 0,-1 0 0,0 1 0,-1 1 0,0 0 0,0 2 0,-1 0 0,19 18 0,3 6-1365,-20-19-5461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4/18/2022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1A346E70-BEB2-4F7D-846B-B643A0B56E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5F909307-6C05-4C6D-AE67-DAA33D613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PK" altLang="en-PK">
              <a:latin typeface="Arial" panose="020B0604020202020204" pitchFamily="34" charset="0"/>
            </a:endParaRPr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0A39E42F-4766-455C-999E-EF5634081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5B6D347F-DCB6-4ABA-BB76-5155E5AEC5B2}" type="slidenum">
              <a:rPr lang="en-US" altLang="en-PK" sz="1200"/>
              <a:pPr eaLnBrk="1" hangingPunct="1"/>
              <a:t>12</a:t>
            </a:fld>
            <a:endParaRPr lang="en-US" altLang="en-PK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2875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E8716D9-7C7F-4279-A58B-B8DC97448E7F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77000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65175-0133-478E-9450-C17B00B48FA9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609601"/>
            <a:ext cx="82296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457200"/>
            <a:ext cx="9128760" cy="7620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517199"/>
            <a:ext cx="91287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5510B-F72E-4674-AEB8-3C080ADFF1F6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8064B-2403-4BB5-A538-1B5459A6E5E0}" type="datetime1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AD6E0-E8DB-47B3-BD65-8EBDC6DA6575}" type="datetime1">
              <a:rPr lang="en-US" smtClean="0"/>
              <a:t>4/18/2022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E182B-62CF-4AB3-809E-6DCFC57DAE06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524000"/>
            <a:ext cx="82296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7512B-FBB8-4BF0-91A2-00D53C72D7C8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BB-0F56-4347-AF50-A3567245D6E5}" type="datetime1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92D09-72E8-47B7-A27B-172B2E521328}" type="datetime1">
              <a:rPr lang="en-US" smtClean="0"/>
              <a:t>4/18/2022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0E3A7-D52D-4728-9D67-3875B0EC631D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4138-E0B2-481B-B43E-E0742CCF4AE9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82296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5502D5-FAEF-4073-B709-1A5CC58226D4}" type="datetime1">
              <a:rPr lang="en-US" smtClean="0"/>
              <a:t>4/18/2022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77000"/>
            <a:ext cx="2895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77000"/>
            <a:ext cx="2133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ftaliharris.com/blog/visualizing-dbscan-clustering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581400" y="928670"/>
            <a:ext cx="495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0" i="0" dirty="0">
                <a:solidFill>
                  <a:srgbClr val="0099CC"/>
                </a:solidFill>
                <a:effectLst/>
                <a:latin typeface="arial" panose="020B0604020202020204" pitchFamily="34" charset="0"/>
              </a:rPr>
              <a:t>The National University of Computer and Emerging Sciences</a:t>
            </a:r>
            <a:endParaRPr lang="en-US" sz="2000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876300" y="2589241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Unsupervised Learning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028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Akhtar Jamil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6300" y="3900341"/>
            <a:ext cx="7391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Machine Learning for Data Science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5802"/>
            <a:ext cx="1864889" cy="186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4CE3A62-5C29-499E-8256-FBD552D3D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2209-AB53-475A-9CBB-5304D4293A37}" type="datetime1">
              <a:rPr lang="en-US" smtClean="0"/>
              <a:t>4/18/2022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808BEE6-F8F4-4A24-8FF4-E33955C7B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0B18DA6-C312-4A10-95C0-9292A7C8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5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sz="2400" dirty="0">
                <a:solidFill>
                  <a:srgbClr val="002060"/>
                </a:solidFill>
              </a:rPr>
              <a:t>Unsupervised Learning</a:t>
            </a:r>
          </a:p>
          <a:p>
            <a:pPr lvl="1"/>
            <a:r>
              <a:rPr lang="en-US" sz="2400" dirty="0">
                <a:solidFill>
                  <a:srgbClr val="002060"/>
                </a:solidFill>
              </a:rPr>
              <a:t>Clustering</a:t>
            </a:r>
            <a:endParaRPr lang="en-US" dirty="0">
              <a:solidFill>
                <a:srgbClr val="002060"/>
              </a:solidFill>
            </a:endParaRP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402D7-A97B-483B-B162-D01C3F959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B73BB-36F2-4697-9E79-5ECFF4D30AD2}" type="datetime1">
              <a:rPr lang="en-US" smtClean="0"/>
              <a:t>4/18/2022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73A54A-7D4E-437F-83F7-634F4507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AEB498-E246-4877-A681-DE3891A30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0675F3-FE91-49F9-9079-50C1B08C4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Various Unsupervised learning approaches: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Clustering </a:t>
            </a:r>
          </a:p>
          <a:p>
            <a:pPr lvl="1"/>
            <a:r>
              <a:rPr lang="en-US" dirty="0"/>
              <a:t>Local Outlier Factor</a:t>
            </a:r>
          </a:p>
          <a:p>
            <a:pPr lvl="1"/>
            <a:r>
              <a:rPr lang="en-US" dirty="0"/>
              <a:t>Expectation–maximization </a:t>
            </a:r>
          </a:p>
          <a:p>
            <a:pPr lvl="1"/>
            <a:r>
              <a:rPr lang="en-US" dirty="0"/>
              <a:t>Principal component analysis</a:t>
            </a:r>
          </a:p>
          <a:p>
            <a:pPr lvl="1"/>
            <a:r>
              <a:rPr lang="en-US" dirty="0"/>
              <a:t>Independent component analysis</a:t>
            </a:r>
          </a:p>
          <a:p>
            <a:pPr lvl="1"/>
            <a:r>
              <a:rPr lang="en-US" dirty="0"/>
              <a:t>Non-negative matrix factorization</a:t>
            </a:r>
          </a:p>
          <a:p>
            <a:pPr lvl="1"/>
            <a:r>
              <a:rPr lang="en-US" dirty="0"/>
              <a:t>Singular value decomposition</a:t>
            </a:r>
          </a:p>
          <a:p>
            <a:pPr lvl="1"/>
            <a:r>
              <a:rPr lang="en-US" dirty="0"/>
              <a:t>Isolation Forest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0B7BA4-E599-4FDA-9427-00B4B4B6D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303A-F3C3-48A9-A3DE-61F2B7144E84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EEDEDB-F4F6-4AEA-B2F8-0B15B1816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5D6725-7C9A-41EC-80DC-E76BE47C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18A3F1A-FEE6-41C6-B95B-B4B3A9C61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3610684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1976AC-1B29-4D47-AF39-DEB1565A3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PK" sz="3200" dirty="0"/>
              <a:t>Partition unlabeled examples into disjoint subsets of </a:t>
            </a:r>
            <a:r>
              <a:rPr lang="en-US" altLang="en-PK" sz="3200" i="1" dirty="0">
                <a:solidFill>
                  <a:srgbClr val="FF0000"/>
                </a:solidFill>
              </a:rPr>
              <a:t>clusters (Groups)</a:t>
            </a:r>
            <a:r>
              <a:rPr lang="en-US" altLang="en-PK" sz="3200" dirty="0"/>
              <a:t>, such that:</a:t>
            </a:r>
          </a:p>
          <a:p>
            <a:pPr lvl="1" eaLnBrk="1" hangingPunct="1"/>
            <a:r>
              <a:rPr lang="en-US" altLang="en-PK" sz="2800" dirty="0"/>
              <a:t>Samples </a:t>
            </a:r>
            <a:r>
              <a:rPr lang="en-US" altLang="en-PK" sz="2800" dirty="0">
                <a:solidFill>
                  <a:srgbClr val="07AE77"/>
                </a:solidFill>
              </a:rPr>
              <a:t>within a cluster </a:t>
            </a:r>
            <a:r>
              <a:rPr lang="en-US" altLang="en-PK" sz="2800" dirty="0"/>
              <a:t>are very </a:t>
            </a:r>
            <a:r>
              <a:rPr lang="en-US" altLang="en-PK" sz="2800" dirty="0">
                <a:solidFill>
                  <a:srgbClr val="FF0000"/>
                </a:solidFill>
              </a:rPr>
              <a:t>similar</a:t>
            </a:r>
          </a:p>
          <a:p>
            <a:pPr lvl="1" eaLnBrk="1" hangingPunct="1"/>
            <a:r>
              <a:rPr lang="en-US" altLang="en-PK" sz="2800" dirty="0"/>
              <a:t>Samples in </a:t>
            </a:r>
            <a:r>
              <a:rPr lang="en-US" altLang="en-PK" sz="2800" dirty="0">
                <a:solidFill>
                  <a:srgbClr val="00B0F0"/>
                </a:solidFill>
              </a:rPr>
              <a:t>different clusters </a:t>
            </a:r>
            <a:r>
              <a:rPr lang="en-US" altLang="en-PK" sz="2800" dirty="0"/>
              <a:t>are </a:t>
            </a:r>
            <a:r>
              <a:rPr lang="en-US" altLang="en-PK" sz="2800" dirty="0">
                <a:solidFill>
                  <a:srgbClr val="00B0F0"/>
                </a:solidFill>
              </a:rPr>
              <a:t>very different</a:t>
            </a:r>
          </a:p>
          <a:p>
            <a:pPr eaLnBrk="1" hangingPunct="1"/>
            <a:r>
              <a:rPr lang="en-US" altLang="en-PK" dirty="0"/>
              <a:t>Discover new categories in an </a:t>
            </a:r>
            <a:r>
              <a:rPr lang="en-US" altLang="en-PK" i="1" dirty="0">
                <a:solidFill>
                  <a:srgbClr val="FF0000"/>
                </a:solidFill>
              </a:rPr>
              <a:t>unsupervised</a:t>
            </a:r>
            <a:r>
              <a:rPr lang="en-US" altLang="en-PK" dirty="0"/>
              <a:t>  manner </a:t>
            </a:r>
          </a:p>
          <a:p>
            <a:pPr lvl="1"/>
            <a:r>
              <a:rPr lang="en-US" altLang="en-PK" sz="2800" dirty="0"/>
              <a:t>No labels provided.</a:t>
            </a: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1B7FA-5408-4603-9E7D-4273D56BD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6CB4-2CEF-4303-A4A7-E7DDFDB40CB9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9A5980-0085-46AF-97D3-96CF2708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D1A5F-6E3D-4FCD-8420-C734B85DB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2559F5-DAF6-436E-A6C9-C705C218A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3184636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027E93-F953-44F6-962F-E0705B6CE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K-means clustering 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is a </a:t>
            </a:r>
            <a:r>
              <a:rPr lang="en-US" b="0" i="0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very famous, simple and powerful </a:t>
            </a:r>
            <a:r>
              <a:rPr lang="en-US" b="0" i="0" dirty="0">
                <a:solidFill>
                  <a:srgbClr val="00B050"/>
                </a:solidFill>
                <a:effectLst/>
                <a:latin typeface="Lato" panose="020F0502020204030203" pitchFamily="34" charset="0"/>
              </a:rPr>
              <a:t>unsupervised machine learning 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algorithm. 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Has been applied to many </a:t>
            </a:r>
            <a:r>
              <a:rPr lang="en-US" b="0" i="0" dirty="0">
                <a:solidFill>
                  <a:srgbClr val="00B050"/>
                </a:solidFill>
                <a:effectLst/>
                <a:latin typeface="Lato" panose="020F0502020204030203" pitchFamily="34" charset="0"/>
              </a:rPr>
              <a:t>complex unsupervised machine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learning problems. </a:t>
            </a:r>
          </a:p>
          <a:p>
            <a:r>
              <a:rPr lang="en-US" b="0" i="1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A K-means clustering algorithm tries to </a:t>
            </a:r>
            <a:r>
              <a:rPr lang="en-US" b="0" i="1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group similar items in the form of clusters</a:t>
            </a:r>
            <a:r>
              <a:rPr lang="en-US" b="0" i="1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. </a:t>
            </a:r>
          </a:p>
          <a:p>
            <a:pPr lvl="1"/>
            <a:r>
              <a:rPr lang="en-US" b="0" i="1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The number of groups is represented by K. </a:t>
            </a:r>
            <a:r>
              <a:rPr lang="en-US" b="0" i="1" dirty="0">
                <a:solidFill>
                  <a:srgbClr val="FF0000"/>
                </a:solidFill>
                <a:effectLst/>
                <a:latin typeface="Lato" panose="020F0502020204030203" pitchFamily="34" charset="0"/>
              </a:rPr>
              <a:t>It should be given beforehand</a:t>
            </a:r>
            <a:r>
              <a:rPr lang="en-US" b="0" i="1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.</a:t>
            </a:r>
          </a:p>
          <a:p>
            <a:pPr lvl="1"/>
            <a:r>
              <a:rPr lang="en-US" i="1" dirty="0">
                <a:solidFill>
                  <a:srgbClr val="222222"/>
                </a:solidFill>
                <a:latin typeface="Lato" panose="020F0502020204030203" pitchFamily="34" charset="0"/>
              </a:rPr>
              <a:t>K should be predetermined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4038E-F87B-4992-83B9-D0530D9E8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169FA-2D07-4F00-A54F-50F3020D2BAD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19DCFA-CC50-4B5B-B2BF-BD488DC0B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EFC82-BE93-48F8-93A0-FE40211D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020D276-406E-43E3-81EF-8AA68F551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K-Means Clustering</a:t>
            </a:r>
          </a:p>
        </p:txBody>
      </p:sp>
    </p:spTree>
    <p:extLst>
      <p:ext uri="{BB962C8B-B14F-4D97-AF65-F5344CB8AC3E}">
        <p14:creationId xmlns:p14="http://schemas.microsoft.com/office/powerpoint/2010/main" val="1358697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D945879-ABC5-41B5-86A1-CED64260A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658" y="2019300"/>
            <a:ext cx="7810683" cy="28194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D14BE5-B5D4-437E-B2A5-1B7038996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A650C-C847-4F38-8DBF-FCC7FAC88437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D5BD27-40D0-4DB5-9CB1-81D76088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34A9C-B311-4E77-800B-B0BA729B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83AD17-C4F3-4FB1-A3EB-5B69AC02B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</a:t>
            </a:r>
          </a:p>
        </p:txBody>
      </p:sp>
    </p:spTree>
    <p:extLst>
      <p:ext uri="{BB962C8B-B14F-4D97-AF65-F5344CB8AC3E}">
        <p14:creationId xmlns:p14="http://schemas.microsoft.com/office/powerpoint/2010/main" val="63652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93079A-4BDE-4F99-9EE0-D1CCE7AEE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4B77D-1952-416C-9F90-8B2EF73F5C14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C41AE-F914-4B22-B662-5C8421714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C3316-8092-4E4A-8004-A820C6E2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8D9F73E-394A-47B0-B9BE-860E9DBB5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09900"/>
            <a:ext cx="8229600" cy="838200"/>
          </a:xfrm>
        </p:spPr>
        <p:txBody>
          <a:bodyPr/>
          <a:lstStyle/>
          <a:p>
            <a:r>
              <a:rPr lang="en-US" dirty="0"/>
              <a:t>Today’s Lecture</a:t>
            </a:r>
          </a:p>
        </p:txBody>
      </p:sp>
    </p:spTree>
    <p:extLst>
      <p:ext uri="{BB962C8B-B14F-4D97-AF65-F5344CB8AC3E}">
        <p14:creationId xmlns:p14="http://schemas.microsoft.com/office/powerpoint/2010/main" val="3944360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6AB06F-15F5-4DE6-93F0-C933F84CA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We randomly select initial centroids in K-Means clustering algorithm.</a:t>
            </a:r>
          </a:p>
          <a:p>
            <a:pPr lvl="1"/>
            <a:r>
              <a:rPr lang="en-US" b="0" i="0" dirty="0">
                <a:solidFill>
                  <a:srgbClr val="FF0000"/>
                </a:solidFill>
                <a:effectLst/>
                <a:latin typeface="charter"/>
              </a:rPr>
              <a:t>Initialization Sensitivity</a:t>
            </a:r>
          </a:p>
          <a:p>
            <a:pPr algn="l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There are two approaches to </a:t>
            </a:r>
            <a:r>
              <a:rPr lang="en-US" b="0" i="0" dirty="0">
                <a:solidFill>
                  <a:srgbClr val="0070C0"/>
                </a:solidFill>
                <a:effectLst/>
                <a:latin typeface="charter"/>
              </a:rPr>
              <a:t>avoid initialization sensitivity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Repeat K-means: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Repeating the algorithm and </a:t>
            </a:r>
            <a:r>
              <a:rPr lang="en-US" b="0" i="0" dirty="0">
                <a:solidFill>
                  <a:srgbClr val="0070C0"/>
                </a:solidFill>
                <a:effectLst/>
                <a:latin typeface="charter"/>
              </a:rPr>
              <a:t>initialization of centroids several times 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and pick the clustering approach that has a </a:t>
            </a:r>
            <a:r>
              <a:rPr lang="en-US" b="0" i="0" dirty="0">
                <a:solidFill>
                  <a:srgbClr val="00B050"/>
                </a:solidFill>
                <a:effectLst/>
                <a:latin typeface="charter"/>
              </a:rPr>
              <a:t>small intra-cluster distance 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and </a:t>
            </a:r>
            <a:r>
              <a:rPr lang="en-US" b="0" i="0" dirty="0">
                <a:solidFill>
                  <a:srgbClr val="00B050"/>
                </a:solidFill>
                <a:effectLst/>
                <a:latin typeface="charter"/>
              </a:rPr>
              <a:t>large inter-cluster distance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K-Means++: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 K-Means++ is a smart centroid initialization technique.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5CB08-3895-4D1A-BE57-717944269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CA9C-C9DF-43A2-AE79-EFD325E85A35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9D77F-9AC5-4FDF-8375-94B7BF5DE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79E100-B62E-4AD6-BD44-2635C870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99C8DD-A39C-45AD-B6A6-52272438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Centroid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100643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FDAACC-DC49-494E-B196-CC44898C5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Steps: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B0F0"/>
                </a:solidFill>
                <a:effectLst/>
                <a:latin typeface="charter"/>
              </a:rPr>
              <a:t>Pick the first centroid point 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(C_1) randomly.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0000"/>
                </a:solidFill>
                <a:effectLst/>
                <a:latin typeface="charter"/>
              </a:rPr>
              <a:t>Compute the distance of all points in the dataset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 from the selected centroid. The distance of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x_i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 point from the farthest centroid can be computed by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solidFill>
                <a:srgbClr val="292929"/>
              </a:solidFill>
              <a:latin typeface="charter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Make the point </a:t>
            </a:r>
            <a:r>
              <a:rPr lang="en-US" b="0" i="0" dirty="0" err="1">
                <a:solidFill>
                  <a:srgbClr val="292929"/>
                </a:solidFill>
                <a:effectLst/>
                <a:latin typeface="charter"/>
              </a:rPr>
              <a:t>x_i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 as the new </a:t>
            </a:r>
            <a:r>
              <a:rPr lang="en-US" b="0" i="0" dirty="0">
                <a:solidFill>
                  <a:srgbClr val="00B0F0"/>
                </a:solidFill>
                <a:effectLst/>
                <a:latin typeface="charter"/>
              </a:rPr>
              <a:t>centroid that is having a maximum distance 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to the nearest centroid (d</a:t>
            </a:r>
            <a:r>
              <a:rPr lang="en-US" b="0" i="1" baseline="-25000" dirty="0">
                <a:solidFill>
                  <a:srgbClr val="292929"/>
                </a:solidFill>
                <a:effectLst/>
                <a:latin typeface="charter"/>
              </a:rPr>
              <a:t>i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)</a:t>
            </a:r>
          </a:p>
          <a:p>
            <a:pPr lvl="2"/>
            <a:r>
              <a:rPr lang="en-US" dirty="0">
                <a:solidFill>
                  <a:srgbClr val="292929"/>
                </a:solidFill>
                <a:latin typeface="charter"/>
              </a:rPr>
              <a:t>( Lloyd’s - &gt; Max probability)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Repeat the above two steps till you find k-centroids.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C378D-59D8-44BF-85C6-795D0F41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9FF38-0550-461E-B6AC-62694A2EB03A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CCCD3-EFF7-4034-B4A9-71FA9B94C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0032AF-B2F8-4F30-B4D1-95A333D0F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B8C0AD6-DD2B-4523-834F-46342443E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292929"/>
                </a:solidFill>
                <a:effectLst/>
                <a:latin typeface="charter"/>
              </a:rPr>
              <a:t>K-Means++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9CD2BE-ECFF-41B0-A835-0B8BB584F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634581"/>
            <a:ext cx="4288221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218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4">
            <a:extLst>
              <a:ext uri="{FF2B5EF4-FFF2-40B4-BE49-F238E27FC236}">
                <a16:creationId xmlns:a16="http://schemas.microsoft.com/office/drawing/2014/main" id="{F9B0EC25-1893-4456-95E5-066B3D244A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F7D606E-9A3E-4814-9877-FB34FA16C8F6}" type="slidenum">
              <a:rPr lang="en-US" altLang="en-PK" sz="1200">
                <a:latin typeface="Helvetica" panose="020B0604020202020204" pitchFamily="34" charset="0"/>
              </a:rPr>
              <a:pPr eaLnBrk="1" hangingPunct="1"/>
              <a:t>10</a:t>
            </a:fld>
            <a:endParaRPr lang="en-US" altLang="en-PK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FE87659-943F-4EA4-80A7-2BD2C38135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 dirty="0"/>
              <a:t>Hierarchical Clustering</a:t>
            </a:r>
          </a:p>
        </p:txBody>
      </p:sp>
      <p:sp>
        <p:nvSpPr>
          <p:cNvPr id="24580" name="Rectangle 19">
            <a:extLst>
              <a:ext uri="{FF2B5EF4-FFF2-40B4-BE49-F238E27FC236}">
                <a16:creationId xmlns:a16="http://schemas.microsoft.com/office/drawing/2014/main" id="{B66185FE-DD20-4563-951F-3DE93EE25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PK" sz="2800" dirty="0"/>
              <a:t>Build a tree-based hierarchical taxonomy </a:t>
            </a:r>
            <a:r>
              <a:rPr lang="en-US" altLang="en-PK" sz="2800" dirty="0">
                <a:solidFill>
                  <a:srgbClr val="0070C0"/>
                </a:solidFill>
              </a:rPr>
              <a:t>(</a:t>
            </a:r>
            <a:r>
              <a:rPr lang="en-US" altLang="en-PK" sz="2800" i="1" dirty="0">
                <a:solidFill>
                  <a:srgbClr val="0070C0"/>
                </a:solidFill>
              </a:rPr>
              <a:t>dendrogram</a:t>
            </a:r>
            <a:r>
              <a:rPr lang="en-US" altLang="en-PK" sz="2800" dirty="0">
                <a:solidFill>
                  <a:srgbClr val="0070C0"/>
                </a:solidFill>
              </a:rPr>
              <a:t>) </a:t>
            </a:r>
            <a:r>
              <a:rPr lang="en-US" altLang="en-PK" sz="2800" dirty="0"/>
              <a:t>from a set of unlabeled examples.</a:t>
            </a:r>
          </a:p>
          <a:p>
            <a:pPr eaLnBrk="1" hangingPunct="1"/>
            <a:endParaRPr lang="en-US" altLang="en-PK" sz="2800" dirty="0"/>
          </a:p>
          <a:p>
            <a:pPr eaLnBrk="1" hangingPunct="1">
              <a:buFontTx/>
              <a:buNone/>
            </a:pPr>
            <a:endParaRPr lang="en-US" altLang="en-PK" sz="2800" dirty="0"/>
          </a:p>
          <a:p>
            <a:pPr eaLnBrk="1" hangingPunct="1"/>
            <a:endParaRPr lang="en-US" altLang="en-PK" sz="2800" dirty="0"/>
          </a:p>
          <a:p>
            <a:pPr eaLnBrk="1" hangingPunct="1"/>
            <a:endParaRPr lang="en-US" altLang="en-PK" sz="2800" dirty="0"/>
          </a:p>
          <a:p>
            <a:pPr eaLnBrk="1" hangingPunct="1"/>
            <a:r>
              <a:rPr lang="en-US" altLang="en-PK" sz="2800" dirty="0"/>
              <a:t>Recursive application of a </a:t>
            </a:r>
            <a:r>
              <a:rPr lang="en-US" altLang="en-PK" sz="2800" dirty="0">
                <a:solidFill>
                  <a:srgbClr val="FF0000"/>
                </a:solidFill>
              </a:rPr>
              <a:t>standard clustering algorithm</a:t>
            </a:r>
            <a:r>
              <a:rPr lang="en-US" altLang="en-PK" sz="2800" dirty="0"/>
              <a:t> can produce hierarchical clustering.</a:t>
            </a:r>
          </a:p>
          <a:p>
            <a:pPr eaLnBrk="1" hangingPunct="1"/>
            <a:endParaRPr lang="en-US" altLang="en-PK" sz="2800" dirty="0"/>
          </a:p>
          <a:p>
            <a:pPr eaLnBrk="1" hangingPunct="1"/>
            <a:endParaRPr lang="en-US" altLang="en-PK" sz="2800" dirty="0"/>
          </a:p>
        </p:txBody>
      </p:sp>
      <p:grpSp>
        <p:nvGrpSpPr>
          <p:cNvPr id="24581" name="Group 91">
            <a:extLst>
              <a:ext uri="{FF2B5EF4-FFF2-40B4-BE49-F238E27FC236}">
                <a16:creationId xmlns:a16="http://schemas.microsoft.com/office/drawing/2014/main" id="{1ED2117E-984E-47EB-86B7-B73EF0EE401E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286000"/>
            <a:ext cx="5867400" cy="1981200"/>
            <a:chOff x="1056" y="1536"/>
            <a:chExt cx="3696" cy="1248"/>
          </a:xfrm>
        </p:grpSpPr>
        <p:sp>
          <p:nvSpPr>
            <p:cNvPr id="24582" name="Text Box 22">
              <a:extLst>
                <a:ext uri="{FF2B5EF4-FFF2-40B4-BE49-F238E27FC236}">
                  <a16:creationId xmlns:a16="http://schemas.microsoft.com/office/drawing/2014/main" id="{8458750C-3BF9-4754-A41A-15A44F6B4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536"/>
              <a:ext cx="86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PK">
                  <a:solidFill>
                    <a:schemeClr val="tx2"/>
                  </a:solidFill>
                </a:rPr>
                <a:t>animal</a:t>
              </a:r>
            </a:p>
          </p:txBody>
        </p:sp>
        <p:sp>
          <p:nvSpPr>
            <p:cNvPr id="24583" name="Text Box 23">
              <a:extLst>
                <a:ext uri="{FF2B5EF4-FFF2-40B4-BE49-F238E27FC236}">
                  <a16:creationId xmlns:a16="http://schemas.microsoft.com/office/drawing/2014/main" id="{6CBFB4B8-859C-4C6C-BB7F-9DF770B44A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872"/>
              <a:ext cx="7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PK">
                  <a:solidFill>
                    <a:schemeClr val="tx2"/>
                  </a:solidFill>
                </a:rPr>
                <a:t>vertebrate</a:t>
              </a:r>
            </a:p>
          </p:txBody>
        </p:sp>
        <p:sp>
          <p:nvSpPr>
            <p:cNvPr id="24584" name="Text Box 55">
              <a:extLst>
                <a:ext uri="{FF2B5EF4-FFF2-40B4-BE49-F238E27FC236}">
                  <a16:creationId xmlns:a16="http://schemas.microsoft.com/office/drawing/2014/main" id="{64F5904E-F7DD-45DD-BD07-08FA577FB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256"/>
              <a:ext cx="36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PK">
                  <a:solidFill>
                    <a:schemeClr val="tx2"/>
                  </a:solidFill>
                </a:rPr>
                <a:t>fish reptile amphib. mammal      worm insect crustacean</a:t>
              </a:r>
            </a:p>
          </p:txBody>
        </p:sp>
        <p:sp>
          <p:nvSpPr>
            <p:cNvPr id="24585" name="Text Box 57">
              <a:extLst>
                <a:ext uri="{FF2B5EF4-FFF2-40B4-BE49-F238E27FC236}">
                  <a16:creationId xmlns:a16="http://schemas.microsoft.com/office/drawing/2014/main" id="{58B63A05-45BF-4E2B-9212-D925AA37CD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872"/>
              <a:ext cx="8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PK">
                  <a:solidFill>
                    <a:schemeClr val="tx2"/>
                  </a:solidFill>
                </a:rPr>
                <a:t>invertebrate</a:t>
              </a:r>
            </a:p>
          </p:txBody>
        </p:sp>
        <p:sp>
          <p:nvSpPr>
            <p:cNvPr id="24586" name="Line 58">
              <a:extLst>
                <a:ext uri="{FF2B5EF4-FFF2-40B4-BE49-F238E27FC236}">
                  <a16:creationId xmlns:a16="http://schemas.microsoft.com/office/drawing/2014/main" id="{8922E001-99F0-422D-A2BA-D7D92EA7A5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4" y="1736"/>
              <a:ext cx="962" cy="2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4587" name="Line 59">
              <a:extLst>
                <a:ext uri="{FF2B5EF4-FFF2-40B4-BE49-F238E27FC236}">
                  <a16:creationId xmlns:a16="http://schemas.microsoft.com/office/drawing/2014/main" id="{1F8AE5C3-B016-4B36-9819-1335DCB56D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4" y="1736"/>
              <a:ext cx="639" cy="2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4588" name="Line 60">
              <a:extLst>
                <a:ext uri="{FF2B5EF4-FFF2-40B4-BE49-F238E27FC236}">
                  <a16:creationId xmlns:a16="http://schemas.microsoft.com/office/drawing/2014/main" id="{73EF2C82-7A13-4C17-9C2C-ACE41303F8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2" y="2059"/>
              <a:ext cx="876" cy="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4589" name="Line 61">
              <a:extLst>
                <a:ext uri="{FF2B5EF4-FFF2-40B4-BE49-F238E27FC236}">
                  <a16:creationId xmlns:a16="http://schemas.microsoft.com/office/drawing/2014/main" id="{F8EB2808-5FBE-44C4-868F-C5D8148F86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5" y="2059"/>
              <a:ext cx="473" cy="2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4590" name="Line 62">
              <a:extLst>
                <a:ext uri="{FF2B5EF4-FFF2-40B4-BE49-F238E27FC236}">
                  <a16:creationId xmlns:a16="http://schemas.microsoft.com/office/drawing/2014/main" id="{48E007C1-1312-4C62-A9C6-4719FA557E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8" y="2059"/>
              <a:ext cx="0" cy="31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4591" name="Line 63">
              <a:extLst>
                <a:ext uri="{FF2B5EF4-FFF2-40B4-BE49-F238E27FC236}">
                  <a16:creationId xmlns:a16="http://schemas.microsoft.com/office/drawing/2014/main" id="{04088D36-4697-48A8-893D-BB8DF2E11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8" y="2059"/>
              <a:ext cx="513" cy="26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4592" name="Line 64">
              <a:extLst>
                <a:ext uri="{FF2B5EF4-FFF2-40B4-BE49-F238E27FC236}">
                  <a16:creationId xmlns:a16="http://schemas.microsoft.com/office/drawing/2014/main" id="{98442308-1FD3-417A-A41B-28A7127D14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6" y="2044"/>
              <a:ext cx="347" cy="3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4593" name="Line 65">
              <a:extLst>
                <a:ext uri="{FF2B5EF4-FFF2-40B4-BE49-F238E27FC236}">
                  <a16:creationId xmlns:a16="http://schemas.microsoft.com/office/drawing/2014/main" id="{5CC84AB0-4FCF-4540-AD8F-1A6232FDDA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" y="2052"/>
              <a:ext cx="0" cy="3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sp>
          <p:nvSpPr>
            <p:cNvPr id="24594" name="Line 66">
              <a:extLst>
                <a:ext uri="{FF2B5EF4-FFF2-40B4-BE49-F238E27FC236}">
                  <a16:creationId xmlns:a16="http://schemas.microsoft.com/office/drawing/2014/main" id="{C61CB149-BBAB-487A-9860-45D519948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" y="2059"/>
              <a:ext cx="537" cy="2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US"/>
            </a:p>
          </p:txBody>
        </p:sp>
        <p:grpSp>
          <p:nvGrpSpPr>
            <p:cNvPr id="24595" name="Group 72">
              <a:extLst>
                <a:ext uri="{FF2B5EF4-FFF2-40B4-BE49-F238E27FC236}">
                  <a16:creationId xmlns:a16="http://schemas.microsoft.com/office/drawing/2014/main" id="{44F8F091-94BC-4006-9455-260ACE6CB4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2448"/>
              <a:ext cx="192" cy="336"/>
              <a:chOff x="1104" y="2448"/>
              <a:chExt cx="192" cy="336"/>
            </a:xfrm>
          </p:grpSpPr>
          <p:sp>
            <p:nvSpPr>
              <p:cNvPr id="24614" name="Line 69">
                <a:extLst>
                  <a:ext uri="{FF2B5EF4-FFF2-40B4-BE49-F238E27FC236}">
                    <a16:creationId xmlns:a16="http://schemas.microsoft.com/office/drawing/2014/main" id="{B9AC72E4-1DD0-44E7-ACEF-60410E9EA6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448"/>
                <a:ext cx="96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615" name="Line 70">
                <a:extLst>
                  <a:ext uri="{FF2B5EF4-FFF2-40B4-BE49-F238E27FC236}">
                    <a16:creationId xmlns:a16="http://schemas.microsoft.com/office/drawing/2014/main" id="{740B93D8-98A9-457B-9EA6-55103FE0D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7" y="2454"/>
                <a:ext cx="89" cy="3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24596" name="Group 73">
              <a:extLst>
                <a:ext uri="{FF2B5EF4-FFF2-40B4-BE49-F238E27FC236}">
                  <a16:creationId xmlns:a16="http://schemas.microsoft.com/office/drawing/2014/main" id="{1E1BCC5A-2DC5-4CF1-B96C-0B0A408BF1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448"/>
              <a:ext cx="192" cy="336"/>
              <a:chOff x="1104" y="2448"/>
              <a:chExt cx="192" cy="336"/>
            </a:xfrm>
          </p:grpSpPr>
          <p:sp>
            <p:nvSpPr>
              <p:cNvPr id="24612" name="Line 74">
                <a:extLst>
                  <a:ext uri="{FF2B5EF4-FFF2-40B4-BE49-F238E27FC236}">
                    <a16:creationId xmlns:a16="http://schemas.microsoft.com/office/drawing/2014/main" id="{0D61F1CC-F890-4E97-9863-8FE5D9B093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448"/>
                <a:ext cx="96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613" name="Line 75">
                <a:extLst>
                  <a:ext uri="{FF2B5EF4-FFF2-40B4-BE49-F238E27FC236}">
                    <a16:creationId xmlns:a16="http://schemas.microsoft.com/office/drawing/2014/main" id="{D5F44CB6-5C28-4061-A5CA-0311A5DF41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7" y="2454"/>
                <a:ext cx="89" cy="3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24597" name="Group 76">
              <a:extLst>
                <a:ext uri="{FF2B5EF4-FFF2-40B4-BE49-F238E27FC236}">
                  <a16:creationId xmlns:a16="http://schemas.microsoft.com/office/drawing/2014/main" id="{719617E9-64C0-440B-977C-4446C0A31A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2448"/>
              <a:ext cx="192" cy="336"/>
              <a:chOff x="1104" y="2448"/>
              <a:chExt cx="192" cy="336"/>
            </a:xfrm>
          </p:grpSpPr>
          <p:sp>
            <p:nvSpPr>
              <p:cNvPr id="24610" name="Line 77">
                <a:extLst>
                  <a:ext uri="{FF2B5EF4-FFF2-40B4-BE49-F238E27FC236}">
                    <a16:creationId xmlns:a16="http://schemas.microsoft.com/office/drawing/2014/main" id="{296AF056-ED03-4A9E-BF7E-8940EE4DA8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448"/>
                <a:ext cx="96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611" name="Line 78">
                <a:extLst>
                  <a:ext uri="{FF2B5EF4-FFF2-40B4-BE49-F238E27FC236}">
                    <a16:creationId xmlns:a16="http://schemas.microsoft.com/office/drawing/2014/main" id="{E2196E66-DA85-4F8E-A909-AF69630734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7" y="2454"/>
                <a:ext cx="89" cy="3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24598" name="Group 79">
              <a:extLst>
                <a:ext uri="{FF2B5EF4-FFF2-40B4-BE49-F238E27FC236}">
                  <a16:creationId xmlns:a16="http://schemas.microsoft.com/office/drawing/2014/main" id="{4792D40C-8708-4E92-9FB1-19AF65B1CF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2448"/>
              <a:ext cx="192" cy="336"/>
              <a:chOff x="1104" y="2448"/>
              <a:chExt cx="192" cy="336"/>
            </a:xfrm>
          </p:grpSpPr>
          <p:sp>
            <p:nvSpPr>
              <p:cNvPr id="24608" name="Line 80">
                <a:extLst>
                  <a:ext uri="{FF2B5EF4-FFF2-40B4-BE49-F238E27FC236}">
                    <a16:creationId xmlns:a16="http://schemas.microsoft.com/office/drawing/2014/main" id="{E0EAD408-6850-4B54-BFCD-004F585FB0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448"/>
                <a:ext cx="96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609" name="Line 81">
                <a:extLst>
                  <a:ext uri="{FF2B5EF4-FFF2-40B4-BE49-F238E27FC236}">
                    <a16:creationId xmlns:a16="http://schemas.microsoft.com/office/drawing/2014/main" id="{193DB7F3-63E9-4C60-90F2-2502B60B0E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7" y="2454"/>
                <a:ext cx="89" cy="3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24599" name="Group 82">
              <a:extLst>
                <a:ext uri="{FF2B5EF4-FFF2-40B4-BE49-F238E27FC236}">
                  <a16:creationId xmlns:a16="http://schemas.microsoft.com/office/drawing/2014/main" id="{8319CF43-9354-45A6-8303-A24A88420A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4" y="2448"/>
              <a:ext cx="192" cy="336"/>
              <a:chOff x="1104" y="2448"/>
              <a:chExt cx="192" cy="336"/>
            </a:xfrm>
          </p:grpSpPr>
          <p:sp>
            <p:nvSpPr>
              <p:cNvPr id="24606" name="Line 83">
                <a:extLst>
                  <a:ext uri="{FF2B5EF4-FFF2-40B4-BE49-F238E27FC236}">
                    <a16:creationId xmlns:a16="http://schemas.microsoft.com/office/drawing/2014/main" id="{EE2106E1-02A2-4B69-A73E-4B9BD986D2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448"/>
                <a:ext cx="96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607" name="Line 84">
                <a:extLst>
                  <a:ext uri="{FF2B5EF4-FFF2-40B4-BE49-F238E27FC236}">
                    <a16:creationId xmlns:a16="http://schemas.microsoft.com/office/drawing/2014/main" id="{30BF3DB9-DE8E-4F1F-92FA-FA157FE37D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7" y="2454"/>
                <a:ext cx="89" cy="3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24600" name="Group 85">
              <a:extLst>
                <a:ext uri="{FF2B5EF4-FFF2-40B4-BE49-F238E27FC236}">
                  <a16:creationId xmlns:a16="http://schemas.microsoft.com/office/drawing/2014/main" id="{7363A3BE-0452-49B3-A255-B15174C0E5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2448"/>
              <a:ext cx="192" cy="336"/>
              <a:chOff x="1104" y="2448"/>
              <a:chExt cx="192" cy="336"/>
            </a:xfrm>
          </p:grpSpPr>
          <p:sp>
            <p:nvSpPr>
              <p:cNvPr id="24604" name="Line 86">
                <a:extLst>
                  <a:ext uri="{FF2B5EF4-FFF2-40B4-BE49-F238E27FC236}">
                    <a16:creationId xmlns:a16="http://schemas.microsoft.com/office/drawing/2014/main" id="{895924FB-B958-433F-9E56-A8F11CEF5E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448"/>
                <a:ext cx="96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605" name="Line 87">
                <a:extLst>
                  <a:ext uri="{FF2B5EF4-FFF2-40B4-BE49-F238E27FC236}">
                    <a16:creationId xmlns:a16="http://schemas.microsoft.com/office/drawing/2014/main" id="{A30C1FA1-A1C3-4544-A04A-8E75BA60F7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7" y="2454"/>
                <a:ext cx="89" cy="3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24601" name="Group 88">
              <a:extLst>
                <a:ext uri="{FF2B5EF4-FFF2-40B4-BE49-F238E27FC236}">
                  <a16:creationId xmlns:a16="http://schemas.microsoft.com/office/drawing/2014/main" id="{26A3E2A2-7F8E-40E2-B249-88DACA5D7A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448"/>
              <a:ext cx="192" cy="336"/>
              <a:chOff x="1104" y="2448"/>
              <a:chExt cx="192" cy="336"/>
            </a:xfrm>
          </p:grpSpPr>
          <p:sp>
            <p:nvSpPr>
              <p:cNvPr id="24602" name="Line 89">
                <a:extLst>
                  <a:ext uri="{FF2B5EF4-FFF2-40B4-BE49-F238E27FC236}">
                    <a16:creationId xmlns:a16="http://schemas.microsoft.com/office/drawing/2014/main" id="{7023D303-C954-4A15-BC6E-5D714A69D3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448"/>
                <a:ext cx="96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90000" tIns="46800" rIns="90000" bIns="46800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4603" name="Line 90">
                <a:extLst>
                  <a:ext uri="{FF2B5EF4-FFF2-40B4-BE49-F238E27FC236}">
                    <a16:creationId xmlns:a16="http://schemas.microsoft.com/office/drawing/2014/main" id="{F2887DD7-CFC3-4882-8CEE-061AA65D1E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07" y="2454"/>
                <a:ext cx="89" cy="3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90000" tIns="46800" rIns="90000" bIns="46800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CDD09D-3F3A-40F2-8494-1EB5FA523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23DF7-97D2-4E93-A36A-8455A66DAAE3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CF1095-4CAE-4643-AB4E-5CB2721E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482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B78FFD-BFC4-4DE2-B668-B7C5C8BA5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0" i="0" dirty="0">
                <a:solidFill>
                  <a:srgbClr val="00B050"/>
                </a:solidFill>
                <a:effectLst/>
                <a:latin typeface="charter"/>
              </a:rPr>
              <a:t>Hierarchical clustering 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is a method of cluster analysis that is used to cluster similar data points together.</a:t>
            </a:r>
          </a:p>
          <a:p>
            <a:pPr algn="l"/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There are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charter"/>
              </a:rPr>
              <a:t>two types of hierarchical clustering 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methods:</a:t>
            </a:r>
          </a:p>
          <a:p>
            <a:pPr lvl="1">
              <a:buFont typeface="+mj-lt"/>
              <a:buAutoNum type="arabicPeriod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charter"/>
              </a:rPr>
              <a:t>Divisive Clustering</a:t>
            </a:r>
          </a:p>
          <a:p>
            <a:pPr lvl="1">
              <a:buFont typeface="+mj-lt"/>
              <a:buAutoNum type="arabicPeriod"/>
            </a:pPr>
            <a:r>
              <a:rPr lang="en-US" sz="2800" b="0" i="0" dirty="0">
                <a:solidFill>
                  <a:srgbClr val="292929"/>
                </a:solidFill>
                <a:effectLst/>
                <a:latin typeface="charter"/>
              </a:rPr>
              <a:t>Agglomerative Clustering</a:t>
            </a:r>
          </a:p>
          <a:p>
            <a:endParaRPr lang="en-US" sz="3200" dirty="0">
              <a:solidFill>
                <a:srgbClr val="292929"/>
              </a:solidFill>
              <a:latin typeface="charter"/>
            </a:endParaRP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95F9F-CA45-4940-AA05-D90B32A74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DE4D6-E6F4-476D-AAC8-992EC9298BDD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ACF0C3-D87B-4E4C-A309-16A0FBFC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0B463-FF50-48C7-85E4-80A11CC7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881FF6-AB60-4FBB-AF68-D1FCA6858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Hierarchical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614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>
            <a:extLst>
              <a:ext uri="{FF2B5EF4-FFF2-40B4-BE49-F238E27FC236}">
                <a16:creationId xmlns:a16="http://schemas.microsoft.com/office/drawing/2014/main" id="{E7C550E4-C53C-4000-97CC-AA58BF74E2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8810388-A085-4C67-B16B-011779A82903}" type="slidenum">
              <a:rPr lang="en-US" altLang="en-PK" sz="1200">
                <a:latin typeface="Helvetica" panose="020B0604020202020204" pitchFamily="34" charset="0"/>
              </a:rPr>
              <a:pPr eaLnBrk="1" hangingPunct="1"/>
              <a:t>12</a:t>
            </a:fld>
            <a:endParaRPr lang="en-US" altLang="en-PK" sz="1200"/>
          </a:p>
        </p:txBody>
      </p:sp>
      <p:sp>
        <p:nvSpPr>
          <p:cNvPr id="25603" name="Rectangle 1026">
            <a:extLst>
              <a:ext uri="{FF2B5EF4-FFF2-40B4-BE49-F238E27FC236}">
                <a16:creationId xmlns:a16="http://schemas.microsoft.com/office/drawing/2014/main" id="{85FD91CC-475D-4175-A2A0-CD21EE7AD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Aglommerative vs. Divisive Clustering</a:t>
            </a:r>
          </a:p>
        </p:txBody>
      </p:sp>
      <p:sp>
        <p:nvSpPr>
          <p:cNvPr id="25604" name="Rectangle 1062">
            <a:extLst>
              <a:ext uri="{FF2B5EF4-FFF2-40B4-BE49-F238E27FC236}">
                <a16:creationId xmlns:a16="http://schemas.microsoft.com/office/drawing/2014/main" id="{475429C2-BF4B-40E6-811E-E045077F7F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PK" i="1" dirty="0" err="1">
                <a:solidFill>
                  <a:srgbClr val="FF0000"/>
                </a:solidFill>
              </a:rPr>
              <a:t>Aglommerative</a:t>
            </a:r>
            <a:r>
              <a:rPr lang="en-US" altLang="en-PK" i="1" dirty="0">
                <a:solidFill>
                  <a:srgbClr val="FF0000"/>
                </a:solidFill>
              </a:rPr>
              <a:t> </a:t>
            </a:r>
            <a:r>
              <a:rPr lang="en-US" altLang="en-PK" dirty="0"/>
              <a:t>(</a:t>
            </a:r>
            <a:r>
              <a:rPr lang="en-US" altLang="en-PK" i="1" dirty="0"/>
              <a:t>bottom-up</a:t>
            </a:r>
            <a:r>
              <a:rPr lang="en-US" altLang="en-PK" dirty="0"/>
              <a:t>) methods start with </a:t>
            </a:r>
            <a:r>
              <a:rPr lang="en-US" altLang="en-PK" dirty="0">
                <a:solidFill>
                  <a:srgbClr val="0070C0"/>
                </a:solidFill>
              </a:rPr>
              <a:t>each example in its own cluste</a:t>
            </a:r>
            <a:r>
              <a:rPr lang="en-US" altLang="en-PK" dirty="0"/>
              <a:t>r and iteratively combine them to form larger and larger clusters.</a:t>
            </a:r>
          </a:p>
          <a:p>
            <a:pPr eaLnBrk="1" hangingPunct="1"/>
            <a:r>
              <a:rPr lang="en-US" altLang="en-PK" i="1" dirty="0">
                <a:solidFill>
                  <a:srgbClr val="FF0000"/>
                </a:solidFill>
              </a:rPr>
              <a:t>Divisive</a:t>
            </a:r>
            <a:r>
              <a:rPr lang="en-US" altLang="en-PK" dirty="0"/>
              <a:t> (</a:t>
            </a:r>
            <a:r>
              <a:rPr lang="en-US" altLang="en-PK" i="1" dirty="0"/>
              <a:t>partitional, top-down</a:t>
            </a:r>
            <a:r>
              <a:rPr lang="en-US" altLang="en-PK" dirty="0"/>
              <a:t>) separate all examples immediately into clusters.</a:t>
            </a:r>
          </a:p>
          <a:p>
            <a:pPr eaLnBrk="1" hangingPunct="1"/>
            <a:r>
              <a:rPr lang="en-US" altLang="en-PK" dirty="0"/>
              <a:t>Splits the root to set of children</a:t>
            </a:r>
          </a:p>
          <a:p>
            <a:pPr eaLnBrk="1" hangingPunct="1"/>
            <a:endParaRPr lang="en-US" altLang="en-PK" dirty="0"/>
          </a:p>
          <a:p>
            <a:pPr eaLnBrk="1" hangingPunct="1"/>
            <a:endParaRPr lang="en-US" altLang="en-PK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6D5FC0-AC3E-4CCB-ACAB-FCEBB5D22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D11C3-6090-4BC7-9B28-7638314F0296}" type="datetime1">
              <a:rPr lang="en-US" smtClean="0"/>
              <a:t>4/18/2022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342CB-9278-4734-840A-8A7FB142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D55142-C147-4D7B-8F65-D7CDC018F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i="0" dirty="0">
                <a:solidFill>
                  <a:srgbClr val="292929"/>
                </a:solidFill>
                <a:effectLst/>
                <a:latin typeface="sohne"/>
              </a:rPr>
              <a:t>Divisive Clustering Steps:</a:t>
            </a:r>
          </a:p>
          <a:p>
            <a:pPr>
              <a:buFont typeface="+mj-lt"/>
              <a:buAutoNum type="arabicPeriod"/>
            </a:pP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Initially, all points in the </a:t>
            </a:r>
            <a:r>
              <a:rPr lang="en-US" sz="3200" b="0" i="0" dirty="0">
                <a:solidFill>
                  <a:srgbClr val="0070C0"/>
                </a:solidFill>
                <a:effectLst/>
                <a:latin typeface="charter"/>
              </a:rPr>
              <a:t>dataset belong to one single cluster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.</a:t>
            </a:r>
          </a:p>
          <a:p>
            <a:pPr>
              <a:buFont typeface="+mj-lt"/>
              <a:buAutoNum type="arabicPeriod"/>
            </a:pP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Partition the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charter"/>
              </a:rPr>
              <a:t>cluster into two least similar cluster</a:t>
            </a:r>
          </a:p>
          <a:p>
            <a:pPr>
              <a:buFont typeface="+mj-lt"/>
              <a:buAutoNum type="arabicPeriod"/>
            </a:pPr>
            <a:r>
              <a:rPr lang="en-US" sz="3200" b="0" i="0" dirty="0">
                <a:solidFill>
                  <a:srgbClr val="FF0000"/>
                </a:solidFill>
                <a:effectLst/>
                <a:latin typeface="charter"/>
              </a:rPr>
              <a:t>Proceed recursively 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to form new clusters until the </a:t>
            </a:r>
            <a:r>
              <a:rPr lang="en-US" sz="3200" b="0" i="0" dirty="0">
                <a:solidFill>
                  <a:srgbClr val="00B050"/>
                </a:solidFill>
                <a:effectLst/>
                <a:latin typeface="charter"/>
              </a:rPr>
              <a:t>desired number of clusters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 is obtained.</a:t>
            </a: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160733-4ECD-4D71-9DA0-1214737F1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8393F-C0C0-4E0E-A870-F1E3D35D06D8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AAA376-6FD1-4EAE-96EB-A82412A2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B86D4-3537-4D29-8109-DFBD1016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245371-115F-444E-B607-BF9ED7F20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Hierarchical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172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52A2B-7E18-4B13-9C5E-835A43F91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C3FA5-F91F-4113-A8F9-86DC10681D85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9B611-D102-4CA0-A4A9-000E74786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A1BD87-D4E6-47E3-8E13-13E5FABE6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32BB2F-9753-42C6-9538-E73F0724A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Hierarchical clustering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DD8DC6-EDCF-4EC5-8AD9-F844391FBC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163" y="2064889"/>
            <a:ext cx="9175163" cy="3341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FFBA947-4046-48D9-835D-ACB3D69A8905}"/>
              </a:ext>
            </a:extLst>
          </p:cNvPr>
          <p:cNvGrpSpPr/>
          <p:nvPr/>
        </p:nvGrpSpPr>
        <p:grpSpPr>
          <a:xfrm>
            <a:off x="3200400" y="1791000"/>
            <a:ext cx="3025080" cy="3276000"/>
            <a:chOff x="3204433" y="1773970"/>
            <a:chExt cx="3025080" cy="327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3EC5D67-66B8-4EAB-B060-E625CECC5662}"/>
                    </a:ext>
                  </a:extLst>
                </p14:cNvPr>
                <p14:cNvContentPartPr/>
                <p14:nvPr/>
              </p14:nvContentPartPr>
              <p14:xfrm>
                <a:off x="3204433" y="2330890"/>
                <a:ext cx="1912320" cy="2719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3EC5D67-66B8-4EAB-B060-E625CECC566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95433" y="2322250"/>
                  <a:ext cx="1929960" cy="27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C094141-2BF6-417F-BA8A-C45B3C512982}"/>
                    </a:ext>
                  </a:extLst>
                </p14:cNvPr>
                <p14:cNvContentPartPr/>
                <p14:nvPr/>
              </p14:nvContentPartPr>
              <p14:xfrm>
                <a:off x="5008393" y="2072770"/>
                <a:ext cx="54360" cy="604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C094141-2BF6-417F-BA8A-C45B3C51298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99393" y="2064130"/>
                  <a:ext cx="72000" cy="6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302EB08-2B12-4891-B12A-72959E44DA26}"/>
                    </a:ext>
                  </a:extLst>
                </p14:cNvPr>
                <p14:cNvContentPartPr/>
                <p14:nvPr/>
              </p14:nvContentPartPr>
              <p14:xfrm>
                <a:off x="5128273" y="1780090"/>
                <a:ext cx="80280" cy="22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302EB08-2B12-4891-B12A-72959E44DA2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19273" y="1771450"/>
                  <a:ext cx="97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35C76F8-EF1A-40F8-A653-C260DE000CB6}"/>
                    </a:ext>
                  </a:extLst>
                </p14:cNvPr>
                <p14:cNvContentPartPr/>
                <p14:nvPr/>
              </p14:nvContentPartPr>
              <p14:xfrm>
                <a:off x="5021353" y="1773970"/>
                <a:ext cx="1208160" cy="1647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35C76F8-EF1A-40F8-A653-C260DE000CB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12713" y="1764970"/>
                  <a:ext cx="1225800" cy="1665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9794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8BC34-7652-48A7-8F63-EFC0E369E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Find </a:t>
            </a:r>
            <a:r>
              <a:rPr lang="en-US" b="0" i="0" dirty="0">
                <a:solidFill>
                  <a:srgbClr val="FF0000"/>
                </a:solidFill>
                <a:effectLst/>
                <a:latin typeface="charter"/>
              </a:rPr>
              <a:t>sum of squared errors 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of each cluster and choose the one with the </a:t>
            </a:r>
            <a:r>
              <a:rPr lang="en-US" b="0" i="0" dirty="0">
                <a:solidFill>
                  <a:srgbClr val="00B050"/>
                </a:solidFill>
                <a:effectLst/>
                <a:latin typeface="charter"/>
              </a:rPr>
              <a:t>largest value</a:t>
            </a: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. 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7F358-7D8D-43B2-BC94-64C47E18B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791A2-AE26-4619-A402-9229294F8F81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D3C0AA-B188-428F-8F87-FFF58F07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18FB0-D2EE-448B-BD45-52F8B602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B68AB77-7C62-4333-9D7B-6559B70D4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Hierarchical clustering</a:t>
            </a:r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E277533-07B7-4D28-A796-1C35C0010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835550"/>
            <a:ext cx="5076506" cy="339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368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5B7859-876B-41CB-8831-D75B5724D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b="1" i="0" dirty="0">
                <a:solidFill>
                  <a:srgbClr val="292929"/>
                </a:solidFill>
                <a:effectLst/>
                <a:latin typeface="sohne"/>
              </a:rPr>
              <a:t>Steps of Agglomerative Clustering: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Initially, all the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charter"/>
              </a:rPr>
              <a:t>data-points are individual clusters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Take </a:t>
            </a:r>
            <a:r>
              <a:rPr lang="en-US" sz="3200" b="0" i="0" dirty="0">
                <a:solidFill>
                  <a:srgbClr val="FF0000"/>
                </a:solidFill>
                <a:effectLst/>
                <a:latin typeface="charter"/>
              </a:rPr>
              <a:t>two nearest clusters and join them 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to form one single cluster.</a:t>
            </a:r>
          </a:p>
          <a:p>
            <a:pPr algn="l">
              <a:buFont typeface="+mj-lt"/>
              <a:buAutoNum type="arabicPeriod"/>
            </a:pPr>
            <a:r>
              <a:rPr lang="en-US" sz="3200" b="0" i="0" dirty="0">
                <a:solidFill>
                  <a:srgbClr val="00B050"/>
                </a:solidFill>
                <a:effectLst/>
                <a:latin typeface="charter"/>
              </a:rPr>
              <a:t>Proceed recursively 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step 2 until you obtain the </a:t>
            </a:r>
            <a:r>
              <a:rPr lang="en-US" sz="3200" b="0" i="0" dirty="0">
                <a:solidFill>
                  <a:srgbClr val="00B050"/>
                </a:solidFill>
                <a:effectLst/>
                <a:latin typeface="charter"/>
              </a:rPr>
              <a:t>desired number of clusters</a:t>
            </a:r>
            <a:r>
              <a:rPr lang="en-US" sz="3200" b="0" i="0" dirty="0">
                <a:solidFill>
                  <a:srgbClr val="292929"/>
                </a:solidFill>
                <a:effectLst/>
                <a:latin typeface="charter"/>
              </a:rPr>
              <a:t>.</a:t>
            </a:r>
          </a:p>
          <a:p>
            <a:endParaRPr lang="en-US" sz="3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7DB78-38E4-4A24-8E67-8FDB69A8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E3DBA-D753-4B9A-8ECC-067C28CF0D83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9666C5-E34E-4CF4-B094-37B615357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57598-EA91-4E9A-A5F7-28761561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AFD0E40-DE8F-400C-8627-61CCE4FCD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Hierarchical clustering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45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6E9196-554C-48F8-8FAB-844A2901D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BC711-015A-4E08-AFA6-C8E5AB860606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67EA0-AA1F-45AC-805D-8081A9212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3608E-C1B5-431E-89F0-4057166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7FF917-F12B-49C1-9125-CF022699A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Hierarchical clustering</a:t>
            </a:r>
            <a:endParaRPr lang="en-US" dirty="0"/>
          </a:p>
        </p:txBody>
      </p:sp>
      <p:pic>
        <p:nvPicPr>
          <p:cNvPr id="3074" name="Picture 2" descr="AggloDivHierarClustering">
            <a:extLst>
              <a:ext uri="{FF2B5EF4-FFF2-40B4-BE49-F238E27FC236}">
                <a16:creationId xmlns:a16="http://schemas.microsoft.com/office/drawing/2014/main" id="{ACFC8883-EC0D-454B-B03A-2AF89AE927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57" y="1752600"/>
            <a:ext cx="8511286" cy="413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388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34BB4-D081-439A-8369-D52AFE83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9C251-DB61-4F89-A835-C369785CBD38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9FF09-67E1-4A22-BEFA-C4D8CAB9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C66B8-F775-4626-851B-4D138A91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3ECE99B-7499-4662-9B48-41C5B5AEC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Hierarchical clustering</a:t>
            </a:r>
            <a:endParaRPr lang="en-US" dirty="0"/>
          </a:p>
        </p:txBody>
      </p:sp>
      <p:pic>
        <p:nvPicPr>
          <p:cNvPr id="5122" name="Picture 2" descr="final dendrogram">
            <a:extLst>
              <a:ext uri="{FF2B5EF4-FFF2-40B4-BE49-F238E27FC236}">
                <a16:creationId xmlns:a16="http://schemas.microsoft.com/office/drawing/2014/main" id="{AE91229E-79F2-498D-9EEB-BE682AF1399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319" y="1800224"/>
            <a:ext cx="3621482" cy="3469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9135C0-66E0-4B35-8E96-431E9D7571B9}"/>
              </a:ext>
            </a:extLst>
          </p:cNvPr>
          <p:cNvSpPr txBox="1"/>
          <p:nvPr/>
        </p:nvSpPr>
        <p:spPr>
          <a:xfrm>
            <a:off x="6400800" y="5507890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Dendrogram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2296F5-88D7-428E-8817-D9C5A60D9892}"/>
              </a:ext>
            </a:extLst>
          </p:cNvPr>
          <p:cNvSpPr txBox="1"/>
          <p:nvPr/>
        </p:nvSpPr>
        <p:spPr>
          <a:xfrm>
            <a:off x="1676400" y="5269544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Original Data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B7A09E-D04E-4AB7-AE80-BDA3B636C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81200"/>
            <a:ext cx="3592699" cy="267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626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CBDA7A-BAFA-4129-9BDE-D8A30CD64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Density based clustering algorithms forms clusters based on the </a:t>
            </a:r>
            <a:r>
              <a:rPr lang="en-US" dirty="0">
                <a:solidFill>
                  <a:srgbClr val="FF0000"/>
                </a:solidFill>
              </a:rPr>
              <a:t>density of regions</a:t>
            </a:r>
            <a:r>
              <a:rPr lang="en-US" dirty="0"/>
              <a:t>.</a:t>
            </a:r>
          </a:p>
          <a:p>
            <a:r>
              <a:rPr lang="en-US" dirty="0"/>
              <a:t>A dense cluster is a region which is “</a:t>
            </a:r>
            <a:r>
              <a:rPr lang="en-US" dirty="0">
                <a:solidFill>
                  <a:srgbClr val="00B050"/>
                </a:solidFill>
              </a:rPr>
              <a:t>density connected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The density of points in that region is greater than a minimum threshold. </a:t>
            </a:r>
          </a:p>
          <a:p>
            <a:r>
              <a:rPr lang="en-US" dirty="0"/>
              <a:t>They can find </a:t>
            </a:r>
            <a:r>
              <a:rPr lang="en-US" dirty="0">
                <a:solidFill>
                  <a:srgbClr val="FF0000"/>
                </a:solidFill>
              </a:rPr>
              <a:t>clusters of arbitrary shapes</a:t>
            </a:r>
            <a:r>
              <a:rPr lang="en-US" dirty="0"/>
              <a:t>. </a:t>
            </a:r>
          </a:p>
          <a:p>
            <a:r>
              <a:rPr lang="en-US" dirty="0">
                <a:solidFill>
                  <a:srgbClr val="07AE77"/>
                </a:solidFill>
              </a:rPr>
              <a:t>DBSCAN</a:t>
            </a:r>
            <a:r>
              <a:rPr lang="en-US" dirty="0"/>
              <a:t> is an example of density-based clustering algorithm.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9632B7-14AB-4F4C-8300-8B9FA3AF5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5B9EF-EADC-46D5-BD84-F68618E519CF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209491-4898-4653-9844-21EA57E7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50AC36-CEE0-44EC-8CF4-800D8ACC1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BD667F-3544-484C-8D1A-E4A9E10E0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Density-based Clustering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D0CB36-DB30-4974-BC07-5FD007599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4876800"/>
            <a:ext cx="3312629" cy="1238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632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D733C-20B7-4639-B113-ECE364A1C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F21D0-469E-43BE-AE51-25B00480F6E1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7C10E-B32B-4DE2-9F42-776A07FE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D2EDB-6E4D-4C8E-AAB5-EE7754D5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5B67B42-A840-43EF-ACF3-F5ED29B32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Density-based Clustering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E339199-A645-4DC6-B3B2-EEA73F65A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58A973B-47D3-4960-8406-CC4FADAD3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9307"/>
            <a:ext cx="3867150" cy="3009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B8AB601-43FD-4AC6-B563-3B19A500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109307"/>
            <a:ext cx="4019550" cy="30099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24E2F9-E1C3-4449-BD98-DAD3146FA03D}"/>
              </a:ext>
            </a:extLst>
          </p:cNvPr>
          <p:cNvCxnSpPr>
            <a:cxnSpLocks/>
          </p:cNvCxnSpPr>
          <p:nvPr/>
        </p:nvCxnSpPr>
        <p:spPr>
          <a:xfrm flipH="1" flipV="1">
            <a:off x="2895600" y="3962400"/>
            <a:ext cx="914400" cy="16659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32DA5EE-DD4B-424F-8CEA-8E05A44A2ABE}"/>
              </a:ext>
            </a:extLst>
          </p:cNvPr>
          <p:cNvCxnSpPr/>
          <p:nvPr/>
        </p:nvCxnSpPr>
        <p:spPr>
          <a:xfrm flipH="1" flipV="1">
            <a:off x="3048000" y="2895600"/>
            <a:ext cx="762000" cy="27327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EDF16A3-F113-4CBF-928A-D3A959570617}"/>
              </a:ext>
            </a:extLst>
          </p:cNvPr>
          <p:cNvSpPr txBox="1"/>
          <p:nvPr/>
        </p:nvSpPr>
        <p:spPr>
          <a:xfrm>
            <a:off x="3200400" y="5609084"/>
            <a:ext cx="17604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High Density</a:t>
            </a:r>
          </a:p>
        </p:txBody>
      </p:sp>
    </p:spTree>
    <p:extLst>
      <p:ext uri="{BB962C8B-B14F-4D97-AF65-F5344CB8AC3E}">
        <p14:creationId xmlns:p14="http://schemas.microsoft.com/office/powerpoint/2010/main" val="3499154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048A3-76C7-4786-8494-818B6B40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AE4D3-6FF9-487E-8932-29F36AD9E0ED}" type="datetime1">
              <a:rPr lang="en-US" smtClean="0"/>
              <a:t>4/18/2022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1D1676-5499-463F-9717-998A5B4F5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1C0E61-64D7-47A5-A415-EB4E490A7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AD711B5-3F1E-4A57-987A-79F6A5F3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Density-based Clustering</a:t>
            </a:r>
          </a:p>
        </p:txBody>
      </p:sp>
      <p:pic>
        <p:nvPicPr>
          <p:cNvPr id="7" name="Content Placeholder 7">
            <a:extLst>
              <a:ext uri="{FF2B5EF4-FFF2-40B4-BE49-F238E27FC236}">
                <a16:creationId xmlns:a16="http://schemas.microsoft.com/office/drawing/2014/main" id="{2B9BFAD5-664D-4002-927E-DBD79B0B42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14770"/>
            <a:ext cx="7848600" cy="3429000"/>
          </a:xfrm>
        </p:spPr>
      </p:pic>
    </p:spTree>
    <p:extLst>
      <p:ext uri="{BB962C8B-B14F-4D97-AF65-F5344CB8AC3E}">
        <p14:creationId xmlns:p14="http://schemas.microsoft.com/office/powerpoint/2010/main" val="2165857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451F11-1A79-4878-BD6B-B8BF6260D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Animation</a:t>
            </a:r>
          </a:p>
          <a:p>
            <a:r>
              <a:rPr lang="en-US" dirty="0">
                <a:hlinkClick r:id="rId2"/>
              </a:rPr>
              <a:t>https://www.naftaliharris.com/blog/visualizing-dbscan-clustering/</a:t>
            </a:r>
            <a:endParaRPr lang="en-US" dirty="0"/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E980EE-E49A-432C-9A0E-21147F21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B48DCE-46ED-4FCE-A81D-B65C35EF3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E58C2-0973-4057-8025-89A170232CFF}" type="datetime1">
              <a:rPr lang="en-US" smtClean="0"/>
              <a:t>4/18/2022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0F90D-8F13-421E-8B83-A7E30BD0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3FBBB-D9A7-4725-8EA4-AC9CA4F4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41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152" y="2866671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202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1D60B6-C4AB-4FCE-A7D0-FA402B4C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7D457-AB10-40F4-B17F-DB6453818B55}" type="datetime1">
              <a:rPr lang="en-US" smtClean="0"/>
              <a:t>4/18/2022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1114CE-420E-4172-B2B3-AF289C1C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F60BAE-FF99-448B-948D-19B928DA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331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28364</TotalTime>
  <Words>816</Words>
  <Application>Microsoft Office PowerPoint</Application>
  <PresentationFormat>On-screen Show (4:3)</PresentationFormat>
  <Paragraphs>169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</vt:lpstr>
      <vt:lpstr>Calibri</vt:lpstr>
      <vt:lpstr>charter</vt:lpstr>
      <vt:lpstr>Helvetica</vt:lpstr>
      <vt:lpstr>Lato</vt:lpstr>
      <vt:lpstr>sohne</vt:lpstr>
      <vt:lpstr>Times New Roman</vt:lpstr>
      <vt:lpstr>Office Theme</vt:lpstr>
      <vt:lpstr>PowerPoint Presentation</vt:lpstr>
      <vt:lpstr>Goals</vt:lpstr>
      <vt:lpstr>Unsupervised Learning</vt:lpstr>
      <vt:lpstr>Clustering</vt:lpstr>
      <vt:lpstr>K-Means Clustering</vt:lpstr>
      <vt:lpstr>K-Means Clustering</vt:lpstr>
      <vt:lpstr>Today’s Lecture</vt:lpstr>
      <vt:lpstr>Centroid Initialization</vt:lpstr>
      <vt:lpstr>K-Means++</vt:lpstr>
      <vt:lpstr>Hierarchical Clustering</vt:lpstr>
      <vt:lpstr>Hierarchical clustering</vt:lpstr>
      <vt:lpstr>Aglommerative vs. Divisive Clustering</vt:lpstr>
      <vt:lpstr>Hierarchical clustering</vt:lpstr>
      <vt:lpstr>Hierarchical clustering</vt:lpstr>
      <vt:lpstr>Hierarchical clustering</vt:lpstr>
      <vt:lpstr>Hierarchical clustering</vt:lpstr>
      <vt:lpstr>Hierarchical clustering</vt:lpstr>
      <vt:lpstr>Hierarchical clustering</vt:lpstr>
      <vt:lpstr>Density-based Clustering</vt:lpstr>
      <vt:lpstr>Density-based Clustering</vt:lpstr>
      <vt:lpstr>Density-based Clustering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Akhtar JAMIL</cp:lastModifiedBy>
  <cp:revision>1864</cp:revision>
  <dcterms:created xsi:type="dcterms:W3CDTF">2006-08-16T00:00:00Z</dcterms:created>
  <dcterms:modified xsi:type="dcterms:W3CDTF">2022-04-19T12:14:44Z</dcterms:modified>
</cp:coreProperties>
</file>