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2" r:id="rId2"/>
    <p:sldMasterId id="2147483656" r:id="rId3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88" r:id="rId10"/>
    <p:sldId id="299" r:id="rId11"/>
    <p:sldId id="298" r:id="rId12"/>
    <p:sldId id="262" r:id="rId13"/>
    <p:sldId id="300" r:id="rId14"/>
    <p:sldId id="274" r:id="rId15"/>
    <p:sldId id="276" r:id="rId16"/>
  </p:sldIdLst>
  <p:sldSz cx="12192000" cy="6858000"/>
  <p:notesSz cx="6858000" cy="91440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j0H5rYXLmhiRccYWXC1iB/EG8Q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45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4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74050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9157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2773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6598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6657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3163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57357f8743_3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7357f8743_3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9895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57357f8743_3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7357f8743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39642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F147C5D-90B3-8539-6DC0-4C85444E4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57357f8743_3_13:notes">
            <a:extLst>
              <a:ext uri="{FF2B5EF4-FFF2-40B4-BE49-F238E27FC236}">
                <a16:creationId xmlns:a16="http://schemas.microsoft.com/office/drawing/2014/main" id="{EE1AA22D-B4F0-CF34-5F15-B18096C93F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7357f8743_3_13:notes">
            <a:extLst>
              <a:ext uri="{FF2B5EF4-FFF2-40B4-BE49-F238E27FC236}">
                <a16:creationId xmlns:a16="http://schemas.microsoft.com/office/drawing/2014/main" id="{B729AA28-3C90-555E-C63A-9D53A66283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1106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7828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57357f8743_5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257357f8743_5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7705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>
          <a:extLst>
            <a:ext uri="{FF2B5EF4-FFF2-40B4-BE49-F238E27FC236}">
              <a16:creationId xmlns:a16="http://schemas.microsoft.com/office/drawing/2014/main" id="{7E9CC651-EA23-C7C1-C398-4D4FCCAA2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57357f8743_5_93:notes">
            <a:extLst>
              <a:ext uri="{FF2B5EF4-FFF2-40B4-BE49-F238E27FC236}">
                <a16:creationId xmlns:a16="http://schemas.microsoft.com/office/drawing/2014/main" id="{3DBCD197-A03C-E2B4-86E1-04C6BA096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g257357f8743_5_93:notes">
            <a:extLst>
              <a:ext uri="{FF2B5EF4-FFF2-40B4-BE49-F238E27FC236}">
                <a16:creationId xmlns:a16="http://schemas.microsoft.com/office/drawing/2014/main" id="{21F85FBE-F61A-0DC5-A589-88C7E70BC0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8779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57357f8743_5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g257357f8743_5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67354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3608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TD0008">
  <p:cSld name="SPTD0008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>
            <a:spLocks noGrp="1"/>
          </p:cNvSpPr>
          <p:nvPr>
            <p:ph type="pic" idx="2"/>
          </p:nvPr>
        </p:nvSpPr>
        <p:spPr>
          <a:xfrm>
            <a:off x="5266267" y="0"/>
            <a:ext cx="6925733" cy="685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Subtitle">
  <p:cSld name="Title-Sub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9"/>
          <p:cNvSpPr txBox="1">
            <a:spLocks noGrp="1"/>
          </p:cNvSpPr>
          <p:nvPr>
            <p:ph type="body" idx="1"/>
          </p:nvPr>
        </p:nvSpPr>
        <p:spPr>
          <a:xfrm>
            <a:off x="517093" y="974041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title"/>
          </p:nvPr>
        </p:nvSpPr>
        <p:spPr>
          <a:xfrm>
            <a:off x="517093" y="376816"/>
            <a:ext cx="11157817" cy="54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Font typeface="Roboto"/>
              <a:buNone/>
              <a:defRPr sz="3733" b="0" i="0" u="none" strike="noStrike" cap="non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Subtitle">
  <p:cSld name="Title-Sub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body" idx="1"/>
          </p:nvPr>
        </p:nvSpPr>
        <p:spPr>
          <a:xfrm>
            <a:off x="517093" y="974041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title"/>
          </p:nvPr>
        </p:nvSpPr>
        <p:spPr>
          <a:xfrm>
            <a:off x="517093" y="376816"/>
            <a:ext cx="11157817" cy="54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Font typeface="Roboto"/>
              <a:buNone/>
              <a:defRPr sz="3733" b="0" i="0" u="none" strike="noStrike" cap="non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TD0008">
  <p:cSld name="SPTD0008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1"/>
          <p:cNvSpPr>
            <a:spLocks noGrp="1"/>
          </p:cNvSpPr>
          <p:nvPr>
            <p:ph type="pic" idx="2"/>
          </p:nvPr>
        </p:nvSpPr>
        <p:spPr>
          <a:xfrm>
            <a:off x="5266267" y="0"/>
            <a:ext cx="6925733" cy="685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ts slide layout">
  <p:cSld name="6_Contents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 slide layout">
  <p:cSld name="Contents slide layou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s slide layout">
  <p:cSld name="2_Contents slide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genda slide layout">
  <p:cSld name="3_Agenda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aam slide layout">
  <p:cSld name="4_Taam slide layou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462336" y="315931"/>
            <a:ext cx="3113070" cy="6226139"/>
          </a:xfrm>
          <a:prstGeom prst="roundRect">
            <a:avLst>
              <a:gd name="adj" fmla="val 447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>
            <a:spLocks noGrp="1"/>
          </p:cNvSpPr>
          <p:nvPr>
            <p:ph type="pic" idx="2"/>
          </p:nvPr>
        </p:nvSpPr>
        <p:spPr>
          <a:xfrm>
            <a:off x="682645" y="553565"/>
            <a:ext cx="2672453" cy="2405392"/>
          </a:xfrm>
          <a:prstGeom prst="roundRect">
            <a:avLst>
              <a:gd name="adj" fmla="val 2681"/>
            </a:avLst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ts slide layout">
  <p:cSld name="5_Contents slide layou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>
            <a:spLocks noGrp="1"/>
          </p:cNvSpPr>
          <p:nvPr>
            <p:ph type="pic" idx="2"/>
          </p:nvPr>
        </p:nvSpPr>
        <p:spPr>
          <a:xfrm>
            <a:off x="2346462" y="0"/>
            <a:ext cx="9486855" cy="454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ts slide layout">
  <p:cSld name="7_Contents slide layou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>
            <a:spLocks noGrp="1"/>
          </p:cNvSpPr>
          <p:nvPr>
            <p:ph type="pic" idx="2"/>
          </p:nvPr>
        </p:nvSpPr>
        <p:spPr>
          <a:xfrm>
            <a:off x="0" y="-8359"/>
            <a:ext cx="7561133" cy="686635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ts slide layout">
  <p:cSld name="8_Contents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ts slide layout">
  <p:cSld name="9_Contents slide layou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>
            <a:spLocks noGrp="1"/>
          </p:cNvSpPr>
          <p:nvPr>
            <p:ph type="pic" idx="2"/>
          </p:nvPr>
        </p:nvSpPr>
        <p:spPr>
          <a:xfrm>
            <a:off x="-1" y="0"/>
            <a:ext cx="4570491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ts slide layout">
  <p:cSld name="10_Contents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ontents slide layout">
  <p:cSld name="11_Contents slide layou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30"/>
          <p:cNvGrpSpPr/>
          <p:nvPr/>
        </p:nvGrpSpPr>
        <p:grpSpPr>
          <a:xfrm>
            <a:off x="729449" y="1780758"/>
            <a:ext cx="2449180" cy="4305530"/>
            <a:chOff x="445712" y="1449040"/>
            <a:chExt cx="2113018" cy="3924176"/>
          </a:xfrm>
        </p:grpSpPr>
        <p:sp>
          <p:nvSpPr>
            <p:cNvPr id="50" name="Google Shape;50;p30"/>
            <p:cNvSpPr/>
            <p:nvPr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0"/>
            <p:cNvSpPr/>
            <p:nvPr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" name="Google Shape;52;p30"/>
            <p:cNvGrpSpPr/>
            <p:nvPr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53" name="Google Shape;53;p30"/>
              <p:cNvSpPr/>
              <p:nvPr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>
                <a:gsLst>
                  <a:gs pos="0">
                    <a:srgbClr val="0F0F0F"/>
                  </a:gs>
                  <a:gs pos="56000">
                    <a:srgbClr val="595959"/>
                  </a:gs>
                  <a:gs pos="91000">
                    <a:srgbClr val="7F7F7F"/>
                  </a:gs>
                  <a:gs pos="100000">
                    <a:srgbClr val="BFBFBF"/>
                  </a:gs>
                </a:gsLst>
                <a:lin ang="10800000" scaled="0"/>
              </a:gradFill>
              <a:ln w="12700" cap="flat" cmpd="sng">
                <a:solidFill>
                  <a:srgbClr val="26262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30"/>
              <p:cNvSpPr/>
              <p:nvPr/>
            </p:nvSpPr>
            <p:spPr>
              <a:xfrm>
                <a:off x="1634225" y="5796647"/>
                <a:ext cx="142969" cy="144016"/>
              </a:xfrm>
              <a:prstGeom prst="roundRect">
                <a:avLst>
                  <a:gd name="adj" fmla="val 16667"/>
                </a:avLst>
              </a:prstGeom>
              <a:solidFill>
                <a:srgbClr val="737373"/>
              </a:solidFill>
              <a:ln w="9525" cap="flat" cmpd="sng">
                <a:solidFill>
                  <a:srgbClr val="B0B0B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5" name="Google Shape;55;p30"/>
          <p:cNvSpPr>
            <a:spLocks noGrp="1"/>
          </p:cNvSpPr>
          <p:nvPr>
            <p:ph type="pic" idx="2"/>
          </p:nvPr>
        </p:nvSpPr>
        <p:spPr>
          <a:xfrm>
            <a:off x="873465" y="2102271"/>
            <a:ext cx="2152765" cy="352442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6" name="Google Shape;56;p30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ontents slide layout">
  <p:cSld name="12_Contents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ontents slide layout">
  <p:cSld name="13_Contents slide layou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>
            <a:spLocks noGrp="1"/>
          </p:cNvSpPr>
          <p:nvPr>
            <p:ph type="pic" idx="2"/>
          </p:nvPr>
        </p:nvSpPr>
        <p:spPr>
          <a:xfrm>
            <a:off x="0" y="3238500"/>
            <a:ext cx="6035040" cy="3619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0" name="Google Shape;60;p32"/>
          <p:cNvSpPr>
            <a:spLocks noGrp="1"/>
          </p:cNvSpPr>
          <p:nvPr>
            <p:ph type="pic" idx="3"/>
          </p:nvPr>
        </p:nvSpPr>
        <p:spPr>
          <a:xfrm>
            <a:off x="6156960" y="3238500"/>
            <a:ext cx="6035040" cy="3619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1" name="Google Shape;61;p32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ontents slide layout">
  <p:cSld name="14_Contents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ontents slide layout">
  <p:cSld name="15_Contents slide layou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4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34"/>
          <p:cNvGrpSpPr/>
          <p:nvPr/>
        </p:nvGrpSpPr>
        <p:grpSpPr>
          <a:xfrm>
            <a:off x="3295523" y="1504766"/>
            <a:ext cx="5600954" cy="3077345"/>
            <a:chOff x="-548507" y="477868"/>
            <a:chExt cx="11570449" cy="6357177"/>
          </a:xfrm>
        </p:grpSpPr>
        <p:sp>
          <p:nvSpPr>
            <p:cNvPr id="66" name="Google Shape;66;p34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/>
              <a:ahLst/>
              <a:cxnLst/>
              <a:rect l="l" t="t" r="r" b="b"/>
              <a:pathLst>
                <a:path w="1657350" h="57150" extrusionOk="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4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/>
              <a:ahLst/>
              <a:cxnLst/>
              <a:rect l="l" t="t" r="r" b="b"/>
              <a:pathLst>
                <a:path w="1314450" h="857250" extrusionOk="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4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/>
              <a:ahLst/>
              <a:cxnLst/>
              <a:rect l="l" t="t" r="r" b="b"/>
              <a:pathLst>
                <a:path w="1200150" h="733425" extrusionOk="0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4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/>
              <a:ahLst/>
              <a:cxnLst/>
              <a:rect l="l" t="t" r="r" b="b"/>
              <a:pathLst>
                <a:path w="1676400" h="66675" extrusionOk="0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4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/>
              <a:ahLst/>
              <a:cxnLst/>
              <a:rect l="l" t="t" r="r" b="b"/>
              <a:pathLst>
                <a:path w="1618413" h="184076" extrusionOk="0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" name="Google Shape;71;p34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72" name="Google Shape;72;p34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4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" name="Google Shape;74;p34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75" name="Google Shape;75;p34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4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" name="Google Shape;77;p34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/>
              <a:ahLst/>
              <a:cxnLst/>
              <a:rect l="l" t="t" r="r" b="b"/>
              <a:pathLst>
                <a:path w="3976489" h="4035268" extrusionOk="0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34"/>
          <p:cNvSpPr>
            <a:spLocks noGrp="1"/>
          </p:cNvSpPr>
          <p:nvPr>
            <p:ph type="pic" idx="2"/>
          </p:nvPr>
        </p:nvSpPr>
        <p:spPr>
          <a:xfrm>
            <a:off x="4048029" y="1677606"/>
            <a:ext cx="4124421" cy="248237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9" name="Google Shape;79;p34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Contents slide layout">
  <p:cSld name="17_Contents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Contents slide layout">
  <p:cSld name="16_Contents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NG sets layout">
  <p:cSld name="PNG sets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7"/>
          <p:cNvSpPr txBox="1">
            <a:spLocks noGrp="1"/>
          </p:cNvSpPr>
          <p:nvPr>
            <p:ph type="body" idx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con sets layout">
  <p:cSld name="1_Icon sets lay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8"/>
          <p:cNvSpPr txBox="1">
            <a:spLocks noGrp="1"/>
          </p:cNvSpPr>
          <p:nvPr>
            <p:ph type="body" idx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38"/>
          <p:cNvSpPr/>
          <p:nvPr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8"/>
          <p:cNvSpPr/>
          <p:nvPr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lt1">
              <a:alpha val="40784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8"/>
          <p:cNvSpPr/>
          <p:nvPr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lt1">
              <a:alpha val="2274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8"/>
          <p:cNvSpPr txBox="1"/>
          <p:nvPr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can Resize without losing quality</a:t>
            </a:r>
            <a:endParaRPr sz="14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8"/>
          <p:cNvSpPr txBox="1"/>
          <p:nvPr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can Change Fill Color &amp;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Line Color</a:t>
            </a:r>
            <a:endParaRPr sz="14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8"/>
          <p:cNvSpPr txBox="1"/>
          <p:nvPr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www.allppt.com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8"/>
          <p:cNvSpPr txBox="1"/>
          <p:nvPr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PPT TEMPLATES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/>
        </p:nvSpPr>
        <p:spPr>
          <a:xfrm>
            <a:off x="7620000" y="6466586"/>
            <a:ext cx="4064000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Noto Sans Symbols"/>
              <a:buNone/>
            </a:pPr>
            <a:r>
              <a:rPr lang="en-US" sz="1333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Copyright (C) SlideSalad.com All rights reserved.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5"/>
          <p:cNvSpPr txBox="1"/>
          <p:nvPr/>
        </p:nvSpPr>
        <p:spPr>
          <a:xfrm>
            <a:off x="533400" y="6466586"/>
            <a:ext cx="4064000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Noto Sans Symbols"/>
              <a:buNone/>
            </a:pPr>
            <a:r>
              <a:rPr lang="en-US" sz="1333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Free SlideSalad PowerPoint Template</a:t>
            </a:r>
            <a:endParaRPr sz="1333" b="0" i="0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" name="Google Shape;12;p15"/>
          <p:cNvCxnSpPr/>
          <p:nvPr/>
        </p:nvCxnSpPr>
        <p:spPr>
          <a:xfrm>
            <a:off x="0" y="6243320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3" name="Google Shape;13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84799" y="6434933"/>
            <a:ext cx="1422403" cy="24790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/>
        </p:nvSpPr>
        <p:spPr>
          <a:xfrm>
            <a:off x="7620000" y="6466586"/>
            <a:ext cx="4064000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Noto Sans Symbols"/>
              <a:buNone/>
            </a:pPr>
            <a:r>
              <a:rPr lang="en-US" sz="1333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Copyright (C) SlideSalad.com All rights reserved.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7"/>
          <p:cNvSpPr txBox="1"/>
          <p:nvPr/>
        </p:nvSpPr>
        <p:spPr>
          <a:xfrm>
            <a:off x="533400" y="6466586"/>
            <a:ext cx="4064000" cy="18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Noto Sans Symbols"/>
              <a:buNone/>
            </a:pPr>
            <a:r>
              <a:rPr lang="en-US" sz="1333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Free SlideSalad PowerPoint Template</a:t>
            </a:r>
            <a:endParaRPr sz="1333" b="0" i="0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17"/>
          <p:cNvCxnSpPr/>
          <p:nvPr/>
        </p:nvCxnSpPr>
        <p:spPr>
          <a:xfrm>
            <a:off x="0" y="6243320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24" name="Google Shape;24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84799" y="6434933"/>
            <a:ext cx="1422403" cy="24790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467572" y="2298700"/>
            <a:ext cx="6858000" cy="226059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-203200" y="-5"/>
            <a:ext cx="10363200" cy="6832604"/>
          </a:xfrm>
          <a:prstGeom prst="rect">
            <a:avLst/>
          </a:prstGeom>
          <a:solidFill>
            <a:srgbClr val="36384E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"/>
          <p:cNvSpPr/>
          <p:nvPr/>
        </p:nvSpPr>
        <p:spPr>
          <a:xfrm flipH="1">
            <a:off x="9347200" y="1"/>
            <a:ext cx="2844800" cy="6858000"/>
          </a:xfrm>
          <a:prstGeom prst="rtTriangle">
            <a:avLst/>
          </a:prstGeom>
          <a:solidFill>
            <a:srgbClr val="36384E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540749" y="3599549"/>
            <a:ext cx="1584960" cy="7257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351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"/>
          <p:cNvSpPr/>
          <p:nvPr/>
        </p:nvSpPr>
        <p:spPr>
          <a:xfrm rot="10800000">
            <a:off x="6047873" y="0"/>
            <a:ext cx="6153664" cy="6858000"/>
          </a:xfrm>
          <a:prstGeom prst="parallelogram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201" y="2097528"/>
            <a:ext cx="4426980" cy="29513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33000" endPos="28000" dist="5000" dir="5400000" sy="-100000" algn="bl" rotWithShape="0"/>
          </a:effectLst>
        </p:spPr>
      </p:pic>
      <p:sp>
        <p:nvSpPr>
          <p:cNvPr id="105" name="Google Shape;105;p1"/>
          <p:cNvSpPr txBox="1"/>
          <p:nvPr/>
        </p:nvSpPr>
        <p:spPr>
          <a:xfrm>
            <a:off x="6807200" y="5568674"/>
            <a:ext cx="4371600" cy="738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133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Supervisor: </a:t>
            </a:r>
            <a:r>
              <a:rPr lang="en-US" sz="2133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Sir Atif Saeed</a:t>
            </a:r>
            <a:endParaRPr sz="2133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86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644164" y="963018"/>
            <a:ext cx="5453600" cy="242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imes New Roman"/>
              <a:buNone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Neural and Machine Learning Architectures for Context-Aware Hate Speech Classification in Urdu News</a:t>
            </a:r>
            <a:endParaRPr sz="3200" i="0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Roboto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34330" y="4087155"/>
            <a:ext cx="4161817" cy="205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None/>
            </a:pPr>
            <a:r>
              <a:rPr lang="en-US" sz="2133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FAST NUCES, ISLAMABAD</a:t>
            </a:r>
            <a:endParaRPr sz="186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133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133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Talha Aslam i24-8067</a:t>
            </a:r>
            <a:endParaRPr sz="186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133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Muhammad Ahmer i24-7602</a:t>
            </a:r>
            <a:endParaRPr sz="186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2133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4AB257-6E64-112E-F313-9743D9B14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0810" y="2086724"/>
            <a:ext cx="4483761" cy="2972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78000">
              <a:srgbClr val="B3B3B3"/>
            </a:gs>
          </a:gsLst>
          <a:lin ang="5400012" scaled="0"/>
        </a:gra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008361" y="2001493"/>
            <a:ext cx="6277317" cy="22605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2"/>
          <p:cNvGrpSpPr/>
          <p:nvPr/>
        </p:nvGrpSpPr>
        <p:grpSpPr>
          <a:xfrm>
            <a:off x="1624836" y="2594370"/>
            <a:ext cx="2542973" cy="2357911"/>
            <a:chOff x="1752600" y="2038350"/>
            <a:chExt cx="1636763" cy="1517650"/>
          </a:xfrm>
        </p:grpSpPr>
        <p:sp>
          <p:nvSpPr>
            <p:cNvPr id="114" name="Google Shape;114;p2"/>
            <p:cNvSpPr/>
            <p:nvPr/>
          </p:nvSpPr>
          <p:spPr>
            <a:xfrm>
              <a:off x="1752600" y="2038350"/>
              <a:ext cx="1517650" cy="1517650"/>
            </a:xfrm>
            <a:prstGeom prst="blockArc">
              <a:avLst>
                <a:gd name="adj1" fmla="val 3555861"/>
                <a:gd name="adj2" fmla="val 19907927"/>
                <a:gd name="adj3" fmla="val 11294"/>
              </a:avLst>
            </a:prstGeom>
            <a:solidFill>
              <a:srgbClr val="36384E"/>
            </a:solidFill>
            <a:ln>
              <a:noFill/>
            </a:ln>
          </p:spPr>
          <p:txBody>
            <a:bodyPr spcFirstLastPara="1" wrap="square" lIns="121900" tIns="60925" rIns="121900" bIns="60925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600" b="1" i="0" u="none" strike="noStrike" cap="non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 rot="9090263">
              <a:off x="2949493" y="2463183"/>
              <a:ext cx="407953" cy="237388"/>
            </a:xfrm>
            <a:prstGeom prst="triangle">
              <a:avLst>
                <a:gd name="adj" fmla="val 50000"/>
              </a:avLst>
            </a:prstGeom>
            <a:solidFill>
              <a:srgbClr val="36384E"/>
            </a:solidFill>
            <a:ln>
              <a:noFill/>
            </a:ln>
          </p:spPr>
          <p:txBody>
            <a:bodyPr spcFirstLastPara="1" wrap="square" lIns="121900" tIns="60925" rIns="121900" bIns="60925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600" b="1" i="0" u="none" strike="noStrike" cap="non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 rot="10800000" flipH="1">
            <a:off x="3545814" y="2779350"/>
            <a:ext cx="2542973" cy="2357911"/>
            <a:chOff x="3559423" y="2038350"/>
            <a:chExt cx="1636763" cy="1517650"/>
          </a:xfrm>
        </p:grpSpPr>
        <p:sp>
          <p:nvSpPr>
            <p:cNvPr id="117" name="Google Shape;117;p2"/>
            <p:cNvSpPr/>
            <p:nvPr/>
          </p:nvSpPr>
          <p:spPr>
            <a:xfrm>
              <a:off x="3559423" y="2038350"/>
              <a:ext cx="1517650" cy="1517650"/>
            </a:xfrm>
            <a:prstGeom prst="blockArc">
              <a:avLst>
                <a:gd name="adj1" fmla="val 9481174"/>
                <a:gd name="adj2" fmla="val 19907927"/>
                <a:gd name="adj3" fmla="val 1129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60925" rIns="121900" bIns="60925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600" b="1" i="0" u="none" strike="noStrike" cap="non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 rot="9090263">
              <a:off x="4756316" y="2463183"/>
              <a:ext cx="407953" cy="237388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60925" rIns="121900" bIns="60925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600" b="1" i="0" u="none" strike="noStrike" cap="non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5463831" y="2601761"/>
            <a:ext cx="2542973" cy="2357911"/>
            <a:chOff x="3559423" y="2038350"/>
            <a:chExt cx="1636763" cy="1517650"/>
          </a:xfrm>
        </p:grpSpPr>
        <p:sp>
          <p:nvSpPr>
            <p:cNvPr id="120" name="Google Shape;120;p2"/>
            <p:cNvSpPr/>
            <p:nvPr/>
          </p:nvSpPr>
          <p:spPr>
            <a:xfrm>
              <a:off x="3559423" y="2038350"/>
              <a:ext cx="1517650" cy="1517650"/>
            </a:xfrm>
            <a:prstGeom prst="blockArc">
              <a:avLst>
                <a:gd name="adj1" fmla="val 9481174"/>
                <a:gd name="adj2" fmla="val 19907927"/>
                <a:gd name="adj3" fmla="val 11294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121900" tIns="60925" rIns="121900" bIns="60925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600" b="1" i="0" u="none" strike="noStrike" cap="non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 rot="9090263">
              <a:off x="4756316" y="2463183"/>
              <a:ext cx="407953" cy="237388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121900" tIns="60925" rIns="121900" bIns="60925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600" b="1" i="0" u="none" strike="noStrike" cap="non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 rot="10800000" flipH="1">
            <a:off x="7382590" y="2779350"/>
            <a:ext cx="2542973" cy="2357911"/>
            <a:chOff x="3559423" y="2038350"/>
            <a:chExt cx="1636763" cy="1517650"/>
          </a:xfrm>
        </p:grpSpPr>
        <p:sp>
          <p:nvSpPr>
            <p:cNvPr id="123" name="Google Shape;123;p2"/>
            <p:cNvSpPr/>
            <p:nvPr/>
          </p:nvSpPr>
          <p:spPr>
            <a:xfrm>
              <a:off x="3559423" y="2038350"/>
              <a:ext cx="1517650" cy="1517650"/>
            </a:xfrm>
            <a:prstGeom prst="blockArc">
              <a:avLst>
                <a:gd name="adj1" fmla="val 9481174"/>
                <a:gd name="adj2" fmla="val 19907927"/>
                <a:gd name="adj3" fmla="val 1129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60925" rIns="121900" bIns="60925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600" b="1" i="0" u="none" strike="noStrike" cap="non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 rot="9090263">
              <a:off x="4756316" y="2463183"/>
              <a:ext cx="407953" cy="237388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60925" rIns="121900" bIns="60925" anchor="ctr" anchorCtr="1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600" b="1" i="0" u="none" strike="noStrike" cap="non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5" name="Google Shape;125;p2"/>
          <p:cNvSpPr/>
          <p:nvPr/>
        </p:nvSpPr>
        <p:spPr>
          <a:xfrm>
            <a:off x="9305161" y="2601759"/>
            <a:ext cx="2357912" cy="2357911"/>
          </a:xfrm>
          <a:prstGeom prst="blockArc">
            <a:avLst>
              <a:gd name="adj1" fmla="val 9481174"/>
              <a:gd name="adj2" fmla="val 6755091"/>
              <a:gd name="adj3" fmla="val 11353"/>
            </a:avLst>
          </a:prstGeom>
          <a:solidFill>
            <a:srgbClr val="36384E"/>
          </a:solidFill>
          <a:ln>
            <a:noFill/>
          </a:ln>
        </p:spPr>
        <p:txBody>
          <a:bodyPr spcFirstLastPara="1" wrap="square" lIns="121900" tIns="60925" rIns="121900" bIns="60925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1" i="0" u="none" strike="noStrike" cap="none">
              <a:solidFill>
                <a:srgbClr val="5B5B5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2118019" y="3102689"/>
            <a:ext cx="1341275" cy="1341273"/>
          </a:xfrm>
          <a:prstGeom prst="ellipse">
            <a:avLst/>
          </a:prstGeom>
          <a:solidFill>
            <a:srgbClr val="36384E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5932532" y="3102686"/>
            <a:ext cx="1341275" cy="134127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9813480" y="3110080"/>
            <a:ext cx="1341275" cy="1341273"/>
          </a:xfrm>
          <a:prstGeom prst="ellipse">
            <a:avLst/>
          </a:prstGeom>
          <a:solidFill>
            <a:srgbClr val="36384E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875772" y="3287666"/>
            <a:ext cx="1341275" cy="134127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4020009" y="3287665"/>
            <a:ext cx="1341275" cy="1341273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3329120" y="5251877"/>
            <a:ext cx="27231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95D7A"/>
              </a:buClr>
              <a:buSzPts val="1400"/>
              <a:buFont typeface="Noto Sans Symbols"/>
              <a:buNone/>
            </a:pPr>
            <a:r>
              <a:rPr lang="en-US" sz="1867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02 </a:t>
            </a:r>
            <a:endParaRPr sz="1867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67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1333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867" b="1" i="0" u="none" strike="noStrike" cap="none" dirty="0">
              <a:solidFill>
                <a:srgbClr val="695D7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1061615" y="1822912"/>
            <a:ext cx="3484627" cy="574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94B69"/>
              </a:buClr>
              <a:buSzPts val="1400"/>
              <a:buFont typeface="Noto Sans Symbols"/>
              <a:buNone/>
            </a:pPr>
            <a:r>
              <a:rPr lang="en-US" sz="1867" b="1" i="0" u="none" strike="noStrike" cap="none">
                <a:solidFill>
                  <a:srgbClr val="36384E"/>
                </a:solidFill>
                <a:latin typeface="Roboto"/>
                <a:ea typeface="Roboto"/>
                <a:cs typeface="Roboto"/>
                <a:sym typeface="Roboto"/>
              </a:rPr>
              <a:t>Step 01</a:t>
            </a:r>
            <a:br>
              <a:rPr lang="en-US" sz="1867" b="1" i="0" u="none" strike="noStrike" cap="none">
                <a:solidFill>
                  <a:srgbClr val="36384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867" b="1" i="0" u="none" strike="noStrike" cap="none">
                <a:solidFill>
                  <a:srgbClr val="36384E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r>
              <a:rPr lang="en-US" sz="1333" b="0" i="0" u="none" strike="noStrike" cap="none">
                <a:solidFill>
                  <a:srgbClr val="36384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67" b="0" i="0" u="none" strike="noStrike" cap="none">
              <a:solidFill>
                <a:srgbClr val="3638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7002125" y="5287763"/>
            <a:ext cx="30885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8707C"/>
              </a:buClr>
              <a:buSzPts val="1400"/>
              <a:buFont typeface="Noto Sans Symbols"/>
              <a:buNone/>
            </a:pPr>
            <a:r>
              <a:rPr lang="en-US" sz="1867" b="1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04</a:t>
            </a:r>
            <a:endParaRPr sz="1867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67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1867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5068437" y="1640609"/>
            <a:ext cx="3149700" cy="11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5B72"/>
              </a:buClr>
              <a:buSzPts val="1400"/>
              <a:buFont typeface="Noto Sans Symbols"/>
              <a:buNone/>
            </a:pPr>
            <a:r>
              <a:rPr lang="en-US" sz="1867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Step 03 </a:t>
            </a:r>
            <a:endParaRPr sz="1867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67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</a:t>
            </a:r>
            <a:endParaRPr sz="1867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867" b="1" i="0" u="none" strike="noStrike" cap="none">
              <a:solidFill>
                <a:srgbClr val="9F5B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8987061" y="1720453"/>
            <a:ext cx="2994000" cy="933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B7B05"/>
              </a:buClr>
              <a:buSzPts val="1400"/>
              <a:buFont typeface="Noto Sans Symbols"/>
              <a:buNone/>
            </a:pPr>
            <a:r>
              <a:rPr lang="en-US" sz="1867" b="1" i="0" u="none" strike="noStrike" cap="none" dirty="0">
                <a:solidFill>
                  <a:srgbClr val="36384E"/>
                </a:solidFill>
                <a:latin typeface="Roboto"/>
                <a:ea typeface="Roboto"/>
                <a:cs typeface="Roboto"/>
                <a:sym typeface="Roboto"/>
              </a:rPr>
              <a:t>Step 05</a:t>
            </a:r>
            <a:endParaRPr sz="1867" b="0" i="0" u="none" strike="noStrike" cap="none" dirty="0">
              <a:solidFill>
                <a:srgbClr val="36384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67" b="1" i="0" u="none" strike="noStrike" cap="none" dirty="0">
                <a:solidFill>
                  <a:srgbClr val="3638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br>
              <a:rPr lang="en-US" sz="1467" b="1" i="0" u="none" strike="noStrike" cap="none" dirty="0">
                <a:solidFill>
                  <a:srgbClr val="494B69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333" b="0" i="0" u="none" strike="noStrike" cap="none" dirty="0">
              <a:solidFill>
                <a:srgbClr val="5B5B5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-7213" y="6248190"/>
            <a:ext cx="12192000" cy="6032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3762106" y="236722"/>
            <a:ext cx="4784303" cy="830997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4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79000">
              <a:srgbClr val="B3B3B3"/>
            </a:gs>
          </a:gsLst>
          <a:lin ang="5400012" scaled="0"/>
        </a:gra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3"/>
          <p:cNvGrpSpPr/>
          <p:nvPr/>
        </p:nvGrpSpPr>
        <p:grpSpPr>
          <a:xfrm>
            <a:off x="6641204" y="0"/>
            <a:ext cx="4962610" cy="6858000"/>
            <a:chOff x="4838546" y="626785"/>
            <a:chExt cx="4194057" cy="5795909"/>
          </a:xfrm>
        </p:grpSpPr>
        <p:sp>
          <p:nvSpPr>
            <p:cNvPr id="143" name="Google Shape;143;p3"/>
            <p:cNvSpPr/>
            <p:nvPr/>
          </p:nvSpPr>
          <p:spPr>
            <a:xfrm rot="5400000">
              <a:off x="5432494" y="2432627"/>
              <a:ext cx="3002400" cy="3002400"/>
            </a:xfrm>
            <a:prstGeom prst="blockArc">
              <a:avLst>
                <a:gd name="adj1" fmla="val 10735117"/>
                <a:gd name="adj2" fmla="val 16074287"/>
                <a:gd name="adj3" fmla="val 25807"/>
              </a:avLst>
            </a:prstGeom>
            <a:solidFill>
              <a:srgbClr val="3F3F3F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7660182" y="3855008"/>
              <a:ext cx="781200" cy="2567686"/>
            </a:xfrm>
            <a:prstGeom prst="rect">
              <a:avLst/>
            </a:prstGeom>
            <a:solidFill>
              <a:srgbClr val="3F3F3F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 rot="10800000">
              <a:off x="6568168" y="626785"/>
              <a:ext cx="2105549" cy="4800940"/>
            </a:xfrm>
            <a:custGeom>
              <a:avLst/>
              <a:gdLst/>
              <a:ahLst/>
              <a:cxnLst/>
              <a:rect l="l" t="t" r="r" b="b"/>
              <a:pathLst>
                <a:path w="2105549" h="4800940" extrusionOk="0">
                  <a:moveTo>
                    <a:pt x="1010388" y="1501213"/>
                  </a:moveTo>
                  <a:lnTo>
                    <a:pt x="232767" y="1501213"/>
                  </a:lnTo>
                  <a:cubicBezTo>
                    <a:pt x="232767" y="1037585"/>
                    <a:pt x="446990" y="599968"/>
                    <a:pt x="813157" y="315587"/>
                  </a:cubicBezTo>
                  <a:cubicBezTo>
                    <a:pt x="1179324" y="31205"/>
                    <a:pt x="1656348" y="-68031"/>
                    <a:pt x="2105549" y="46728"/>
                  </a:cubicBezTo>
                  <a:lnTo>
                    <a:pt x="1913069" y="800151"/>
                  </a:lnTo>
                  <a:cubicBezTo>
                    <a:pt x="1696554" y="744837"/>
                    <a:pt x="1466629" y="792669"/>
                    <a:pt x="1290136" y="929741"/>
                  </a:cubicBezTo>
                  <a:cubicBezTo>
                    <a:pt x="1113644" y="1066813"/>
                    <a:pt x="1010388" y="1277744"/>
                    <a:pt x="1010388" y="1501213"/>
                  </a:cubicBezTo>
                  <a:close/>
                  <a:moveTo>
                    <a:pt x="1013533" y="3726917"/>
                  </a:moveTo>
                  <a:lnTo>
                    <a:pt x="232333" y="3726917"/>
                  </a:lnTo>
                  <a:lnTo>
                    <a:pt x="232333" y="1501328"/>
                  </a:lnTo>
                  <a:lnTo>
                    <a:pt x="1013533" y="1501328"/>
                  </a:lnTo>
                  <a:close/>
                  <a:moveTo>
                    <a:pt x="622933" y="4800940"/>
                  </a:moveTo>
                  <a:lnTo>
                    <a:pt x="0" y="3726918"/>
                  </a:lnTo>
                  <a:lnTo>
                    <a:pt x="1245866" y="3726918"/>
                  </a:ln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 rot="-4500000">
              <a:off x="5432494" y="2432625"/>
              <a:ext cx="3002400" cy="3002400"/>
            </a:xfrm>
            <a:prstGeom prst="blockArc">
              <a:avLst>
                <a:gd name="adj1" fmla="val 10815410"/>
                <a:gd name="adj2" fmla="val 13831376"/>
                <a:gd name="adj3" fmla="val 2604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 rot="-1380602">
              <a:off x="5432494" y="2432625"/>
              <a:ext cx="3002400" cy="3002400"/>
            </a:xfrm>
            <a:prstGeom prst="blockArc">
              <a:avLst>
                <a:gd name="adj1" fmla="val 10804147"/>
                <a:gd name="adj2" fmla="val 14189823"/>
                <a:gd name="adj3" fmla="val 26226"/>
              </a:avLst>
            </a:prstGeom>
            <a:solidFill>
              <a:srgbClr val="17365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 rot="2161546">
              <a:off x="5434375" y="2432626"/>
              <a:ext cx="3002400" cy="3002400"/>
            </a:xfrm>
            <a:prstGeom prst="blockArc">
              <a:avLst>
                <a:gd name="adj1" fmla="val 10735117"/>
                <a:gd name="adj2" fmla="val 13869755"/>
                <a:gd name="adj3" fmla="val 25921"/>
              </a:avLst>
            </a:prstGeom>
            <a:solidFill>
              <a:schemeClr val="dk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" name="Google Shape;149;p3"/>
          <p:cNvSpPr txBox="1"/>
          <p:nvPr/>
        </p:nvSpPr>
        <p:spPr>
          <a:xfrm>
            <a:off x="1243089" y="2226558"/>
            <a:ext cx="628421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News articles are more formal and structured.</a:t>
            </a:r>
          </a:p>
        </p:txBody>
      </p:sp>
      <p:sp>
        <p:nvSpPr>
          <p:cNvPr id="150" name="Google Shape;150;p3"/>
          <p:cNvSpPr txBox="1"/>
          <p:nvPr/>
        </p:nvSpPr>
        <p:spPr>
          <a:xfrm>
            <a:off x="1635785" y="3755550"/>
            <a:ext cx="5508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 research focuses on social media, not news.</a:t>
            </a:r>
          </a:p>
        </p:txBody>
      </p:sp>
      <p:sp>
        <p:nvSpPr>
          <p:cNvPr id="151" name="Google Shape;151;p3"/>
          <p:cNvSpPr txBox="1"/>
          <p:nvPr/>
        </p:nvSpPr>
        <p:spPr>
          <a:xfrm>
            <a:off x="1295424" y="4933089"/>
            <a:ext cx="6403051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Hate speech in news is a growing problem.</a:t>
            </a:r>
          </a:p>
        </p:txBody>
      </p:sp>
      <p:sp>
        <p:nvSpPr>
          <p:cNvPr id="152" name="Google Shape;152;p3"/>
          <p:cNvSpPr txBox="1"/>
          <p:nvPr/>
        </p:nvSpPr>
        <p:spPr>
          <a:xfrm>
            <a:off x="3340342" y="5937138"/>
            <a:ext cx="662707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Urdu news shapes public opinion.</a:t>
            </a:r>
          </a:p>
        </p:txBody>
      </p:sp>
      <p:sp>
        <p:nvSpPr>
          <p:cNvPr id="153" name="Google Shape;153;p3"/>
          <p:cNvSpPr txBox="1"/>
          <p:nvPr/>
        </p:nvSpPr>
        <p:spPr>
          <a:xfrm>
            <a:off x="5483906" y="1202227"/>
            <a:ext cx="455569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project detects hate speech in Urdu news.</a:t>
            </a:r>
          </a:p>
        </p:txBody>
      </p:sp>
      <p:sp>
        <p:nvSpPr>
          <p:cNvPr id="154" name="Google Shape;154;p3"/>
          <p:cNvSpPr txBox="1"/>
          <p:nvPr/>
        </p:nvSpPr>
        <p:spPr>
          <a:xfrm>
            <a:off x="9954942" y="5247873"/>
            <a:ext cx="10154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7734982" y="4652573"/>
            <a:ext cx="10154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7343991" y="3528392"/>
            <a:ext cx="10154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7951954" y="2520280"/>
            <a:ext cx="10154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9933467" y="1719481"/>
            <a:ext cx="101544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32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1586806" y="190827"/>
            <a:ext cx="5176733" cy="830956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4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372141" y="2370130"/>
            <a:ext cx="6864868" cy="211086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"/>
          <p:cNvSpPr/>
          <p:nvPr/>
        </p:nvSpPr>
        <p:spPr>
          <a:xfrm>
            <a:off x="8509212" y="3276691"/>
            <a:ext cx="1272716" cy="12727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8886972" y="3649191"/>
            <a:ext cx="523345" cy="527715"/>
          </a:xfrm>
          <a:custGeom>
            <a:avLst/>
            <a:gdLst/>
            <a:ahLst/>
            <a:cxnLst/>
            <a:rect l="l" t="t" r="r" b="b"/>
            <a:pathLst>
              <a:path w="1652142" h="1665940" extrusionOk="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72000">
              <a:srgbClr val="B3B3B3"/>
            </a:gs>
          </a:gsLst>
          <a:lin ang="5400012" scaled="0"/>
        </a:gra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4"/>
          <p:cNvGrpSpPr/>
          <p:nvPr/>
        </p:nvGrpSpPr>
        <p:grpSpPr>
          <a:xfrm>
            <a:off x="3847083" y="1762461"/>
            <a:ext cx="4472740" cy="4341629"/>
            <a:chOff x="2323083" y="1750735"/>
            <a:chExt cx="4472740" cy="4341629"/>
          </a:xfrm>
        </p:grpSpPr>
        <p:sp>
          <p:nvSpPr>
            <p:cNvPr id="168" name="Google Shape;168;p4"/>
            <p:cNvSpPr/>
            <p:nvPr/>
          </p:nvSpPr>
          <p:spPr>
            <a:xfrm>
              <a:off x="2388990" y="1750735"/>
              <a:ext cx="4341629" cy="4341629"/>
            </a:xfrm>
            <a:prstGeom prst="ellipse">
              <a:avLst/>
            </a:prstGeom>
            <a:noFill/>
            <a:ln w="190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2323083" y="3867495"/>
              <a:ext cx="131813" cy="13181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3472176" y="5748785"/>
              <a:ext cx="131813" cy="13181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5627959" y="5731201"/>
              <a:ext cx="131813" cy="13181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664010" y="3867495"/>
              <a:ext cx="131813" cy="13181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5619167" y="1965330"/>
              <a:ext cx="131813" cy="13181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3454592" y="1965330"/>
              <a:ext cx="131813" cy="13181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5" name="Google Shape;175;p4"/>
          <p:cNvCxnSpPr/>
          <p:nvPr/>
        </p:nvCxnSpPr>
        <p:spPr>
          <a:xfrm>
            <a:off x="4738542" y="3160279"/>
            <a:ext cx="2705493" cy="1545995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6" name="Google Shape;176;p4"/>
          <p:cNvCxnSpPr>
            <a:endCxn id="177" idx="4"/>
          </p:cNvCxnSpPr>
          <p:nvPr/>
        </p:nvCxnSpPr>
        <p:spPr>
          <a:xfrm>
            <a:off x="6077225" y="2377706"/>
            <a:ext cx="10200" cy="3158400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8" name="Google Shape;178;p4"/>
          <p:cNvCxnSpPr/>
          <p:nvPr/>
        </p:nvCxnSpPr>
        <p:spPr>
          <a:xfrm flipH="1">
            <a:off x="4757397" y="3150850"/>
            <a:ext cx="2648931" cy="1555422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9" name="Google Shape;179;p4"/>
          <p:cNvSpPr/>
          <p:nvPr/>
        </p:nvSpPr>
        <p:spPr>
          <a:xfrm>
            <a:off x="5451067" y="3290420"/>
            <a:ext cx="1272716" cy="127271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4478097" y="2317450"/>
            <a:ext cx="3218656" cy="3218656"/>
          </a:xfrm>
          <a:prstGeom prst="donut">
            <a:avLst>
              <a:gd name="adj" fmla="val 4483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4"/>
          <p:cNvGrpSpPr/>
          <p:nvPr/>
        </p:nvGrpSpPr>
        <p:grpSpPr>
          <a:xfrm>
            <a:off x="3282624" y="1123681"/>
            <a:ext cx="5606194" cy="5606194"/>
            <a:chOff x="1758624" y="1111957"/>
            <a:chExt cx="5606194" cy="5606194"/>
          </a:xfrm>
        </p:grpSpPr>
        <p:sp>
          <p:nvSpPr>
            <p:cNvPr id="181" name="Google Shape;181;p4"/>
            <p:cNvSpPr/>
            <p:nvPr/>
          </p:nvSpPr>
          <p:spPr>
            <a:xfrm rot="-1680000">
              <a:off x="2527495" y="1880828"/>
              <a:ext cx="4068452" cy="4068452"/>
            </a:xfrm>
            <a:prstGeom prst="blockArc">
              <a:avLst>
                <a:gd name="adj1" fmla="val 10800000"/>
                <a:gd name="adj2" fmla="val 14124484"/>
                <a:gd name="adj3" fmla="val 28327"/>
              </a:avLst>
            </a:prstGeom>
            <a:solidFill>
              <a:srgbClr val="1736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"/>
            <p:cNvSpPr/>
            <p:nvPr/>
          </p:nvSpPr>
          <p:spPr>
            <a:xfrm rot="-5280000">
              <a:off x="2527495" y="1880828"/>
              <a:ext cx="4068452" cy="4068452"/>
            </a:xfrm>
            <a:prstGeom prst="blockArc">
              <a:avLst>
                <a:gd name="adj1" fmla="val 10800000"/>
                <a:gd name="adj2" fmla="val 14124484"/>
                <a:gd name="adj3" fmla="val 2832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 rot="-8880000">
              <a:off x="2527495" y="1880828"/>
              <a:ext cx="4068452" cy="4068452"/>
            </a:xfrm>
            <a:prstGeom prst="blockArc">
              <a:avLst>
                <a:gd name="adj1" fmla="val 10800000"/>
                <a:gd name="adj2" fmla="val 14124484"/>
                <a:gd name="adj3" fmla="val 28327"/>
              </a:avLst>
            </a:prstGeom>
            <a:solidFill>
              <a:srgbClr val="1736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"/>
            <p:cNvSpPr/>
            <p:nvPr/>
          </p:nvSpPr>
          <p:spPr>
            <a:xfrm rot="9120000">
              <a:off x="2527495" y="1880828"/>
              <a:ext cx="4068452" cy="4068452"/>
            </a:xfrm>
            <a:prstGeom prst="blockArc">
              <a:avLst>
                <a:gd name="adj1" fmla="val 10800000"/>
                <a:gd name="adj2" fmla="val 14124484"/>
                <a:gd name="adj3" fmla="val 2832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"/>
            <p:cNvSpPr/>
            <p:nvPr/>
          </p:nvSpPr>
          <p:spPr>
            <a:xfrm rot="5520000">
              <a:off x="2527495" y="1880828"/>
              <a:ext cx="4068452" cy="4068452"/>
            </a:xfrm>
            <a:prstGeom prst="blockArc">
              <a:avLst>
                <a:gd name="adj1" fmla="val 10800000"/>
                <a:gd name="adj2" fmla="val 14124484"/>
                <a:gd name="adj3" fmla="val 28327"/>
              </a:avLst>
            </a:prstGeom>
            <a:solidFill>
              <a:srgbClr val="1736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"/>
            <p:cNvSpPr/>
            <p:nvPr/>
          </p:nvSpPr>
          <p:spPr>
            <a:xfrm rot="1920000">
              <a:off x="2527495" y="1880828"/>
              <a:ext cx="4068452" cy="4068452"/>
            </a:xfrm>
            <a:prstGeom prst="blockArc">
              <a:avLst>
                <a:gd name="adj1" fmla="val 10800000"/>
                <a:gd name="adj2" fmla="val 14124484"/>
                <a:gd name="adj3" fmla="val 2832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4"/>
          <p:cNvSpPr txBox="1"/>
          <p:nvPr/>
        </p:nvSpPr>
        <p:spPr>
          <a:xfrm>
            <a:off x="1515327" y="1427126"/>
            <a:ext cx="37885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Final Classification</a:t>
            </a:r>
            <a:endParaRPr sz="2400" b="1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7003383" y="1418107"/>
            <a:ext cx="280554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Data Acquisition</a:t>
            </a:r>
            <a:endParaRPr sz="2400" b="1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900891" y="3742112"/>
            <a:ext cx="2805546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US" sz="2400" b="1" dirty="0">
                <a:solidFill>
                  <a:srgbClr val="3F3F3F"/>
                </a:solidFill>
              </a:rPr>
              <a:t>ML &amp; DL Model Implementation</a:t>
            </a:r>
            <a:endParaRPr lang="en-US" sz="2400" dirty="0"/>
          </a:p>
          <a:p>
            <a:pPr lvl="0" algn="r"/>
            <a:endParaRPr lang="en-US" sz="2400" b="1" dirty="0">
              <a:solidFill>
                <a:srgbClr val="3F3F3F"/>
              </a:solidFill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8612686" y="3742112"/>
            <a:ext cx="321875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Urdu-Specific Text Preprocessing</a:t>
            </a:r>
            <a:endParaRPr sz="2400" b="1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1383576" y="5734758"/>
            <a:ext cx="335643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Engineering with TF-IDF</a:t>
            </a:r>
          </a:p>
        </p:txBody>
      </p:sp>
      <p:sp>
        <p:nvSpPr>
          <p:cNvPr id="192" name="Google Shape;192;p4"/>
          <p:cNvSpPr txBox="1"/>
          <p:nvPr/>
        </p:nvSpPr>
        <p:spPr>
          <a:xfrm>
            <a:off x="7562157" y="5698092"/>
            <a:ext cx="356675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Lexicon-Based Binary Annotation</a:t>
            </a:r>
          </a:p>
        </p:txBody>
      </p:sp>
      <p:sp>
        <p:nvSpPr>
          <p:cNvPr id="193" name="Google Shape;193;p4"/>
          <p:cNvSpPr/>
          <p:nvPr/>
        </p:nvSpPr>
        <p:spPr>
          <a:xfrm>
            <a:off x="5840392" y="3669968"/>
            <a:ext cx="523345" cy="527715"/>
          </a:xfrm>
          <a:custGeom>
            <a:avLst/>
            <a:gdLst/>
            <a:ahLst/>
            <a:cxnLst/>
            <a:rect l="l" t="t" r="r" b="b"/>
            <a:pathLst>
              <a:path w="1652142" h="1665940" extrusionOk="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3302409" y="211745"/>
            <a:ext cx="5508585" cy="830997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6388813" y="2389733"/>
            <a:ext cx="66994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45700" rIns="10800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7150113" y="3671665"/>
            <a:ext cx="66994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45700" rIns="10800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6423970" y="4973209"/>
            <a:ext cx="66994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45700" rIns="10800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4977316" y="4925086"/>
            <a:ext cx="66994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45700" rIns="10800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4282777" y="3671665"/>
            <a:ext cx="66994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45700" rIns="10800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4968861" y="2393655"/>
            <a:ext cx="66994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45700" rIns="10800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377000" y="2370131"/>
            <a:ext cx="6864868" cy="2110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9000">
              <a:srgbClr val="B3B3B3"/>
            </a:gs>
          </a:gsLst>
          <a:lin ang="5400012" scaled="0"/>
        </a:gra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/>
          <p:nvPr/>
        </p:nvSpPr>
        <p:spPr>
          <a:xfrm>
            <a:off x="293097" y="295153"/>
            <a:ext cx="5976312" cy="830997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ACQUISITION</a:t>
            </a:r>
            <a:endParaRPr sz="4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361;p9"/>
          <p:cNvGrpSpPr/>
          <p:nvPr/>
        </p:nvGrpSpPr>
        <p:grpSpPr>
          <a:xfrm>
            <a:off x="293098" y="1516276"/>
            <a:ext cx="7428502" cy="4677696"/>
            <a:chOff x="494496" y="1952357"/>
            <a:chExt cx="2257306" cy="3024346"/>
          </a:xfrm>
        </p:grpSpPr>
        <p:sp>
          <p:nvSpPr>
            <p:cNvPr id="28" name="Google Shape;362;p9"/>
            <p:cNvSpPr/>
            <p:nvPr/>
          </p:nvSpPr>
          <p:spPr>
            <a:xfrm>
              <a:off x="494496" y="1952357"/>
              <a:ext cx="2257303" cy="3024336"/>
            </a:xfrm>
            <a:custGeom>
              <a:avLst/>
              <a:gdLst/>
              <a:ahLst/>
              <a:cxnLst/>
              <a:rect l="l" t="t" r="r" b="b"/>
              <a:pathLst>
                <a:path w="1881086" h="3024336" extrusionOk="0">
                  <a:moveTo>
                    <a:pt x="130869" y="0"/>
                  </a:moveTo>
                  <a:lnTo>
                    <a:pt x="1453307" y="0"/>
                  </a:lnTo>
                  <a:cubicBezTo>
                    <a:pt x="1525584" y="0"/>
                    <a:pt x="1584176" y="58592"/>
                    <a:pt x="1584176" y="130869"/>
                  </a:cubicBezTo>
                  <a:lnTo>
                    <a:pt x="1584176" y="131000"/>
                  </a:lnTo>
                  <a:lnTo>
                    <a:pt x="1881086" y="1538919"/>
                  </a:lnTo>
                  <a:lnTo>
                    <a:pt x="1574806" y="2954053"/>
                  </a:lnTo>
                  <a:lnTo>
                    <a:pt x="1574806" y="2939881"/>
                  </a:lnTo>
                  <a:cubicBezTo>
                    <a:pt x="1556783" y="2989390"/>
                    <a:pt x="1509126" y="3024336"/>
                    <a:pt x="1453307" y="3024336"/>
                  </a:cubicBezTo>
                  <a:lnTo>
                    <a:pt x="130869" y="3024336"/>
                  </a:lnTo>
                  <a:cubicBezTo>
                    <a:pt x="58592" y="3024336"/>
                    <a:pt x="0" y="2965744"/>
                    <a:pt x="0" y="2893467"/>
                  </a:cubicBezTo>
                  <a:lnTo>
                    <a:pt x="0" y="130869"/>
                  </a:lnTo>
                  <a:cubicBezTo>
                    <a:pt x="0" y="58592"/>
                    <a:pt x="58592" y="0"/>
                    <a:pt x="1308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457200" marR="0" lvl="0" indent="-400050" algn="ctr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Arial"/>
                <a:buChar char="●"/>
              </a:pPr>
              <a:endPara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363;p9"/>
            <p:cNvSpPr/>
            <p:nvPr/>
          </p:nvSpPr>
          <p:spPr>
            <a:xfrm>
              <a:off x="494499" y="2065780"/>
              <a:ext cx="2257303" cy="2910923"/>
            </a:xfrm>
            <a:custGeom>
              <a:avLst/>
              <a:gdLst/>
              <a:ahLst/>
              <a:cxnLst/>
              <a:rect l="l" t="t" r="r" b="b"/>
              <a:pathLst>
                <a:path w="1881086" h="3024336" extrusionOk="0">
                  <a:moveTo>
                    <a:pt x="130869" y="0"/>
                  </a:moveTo>
                  <a:lnTo>
                    <a:pt x="1453307" y="0"/>
                  </a:lnTo>
                  <a:cubicBezTo>
                    <a:pt x="1525584" y="0"/>
                    <a:pt x="1584176" y="58592"/>
                    <a:pt x="1584176" y="130869"/>
                  </a:cubicBezTo>
                  <a:lnTo>
                    <a:pt x="1584176" y="131000"/>
                  </a:lnTo>
                  <a:lnTo>
                    <a:pt x="1881086" y="1538919"/>
                  </a:lnTo>
                  <a:lnTo>
                    <a:pt x="1574806" y="2954053"/>
                  </a:lnTo>
                  <a:lnTo>
                    <a:pt x="1574806" y="2939881"/>
                  </a:lnTo>
                  <a:cubicBezTo>
                    <a:pt x="1556783" y="2989390"/>
                    <a:pt x="1509126" y="3024336"/>
                    <a:pt x="1453307" y="3024336"/>
                  </a:cubicBezTo>
                  <a:lnTo>
                    <a:pt x="856139" y="3024336"/>
                  </a:lnTo>
                  <a:lnTo>
                    <a:pt x="0" y="2171589"/>
                  </a:lnTo>
                  <a:lnTo>
                    <a:pt x="0" y="130869"/>
                  </a:lnTo>
                  <a:cubicBezTo>
                    <a:pt x="0" y="58592"/>
                    <a:pt x="58592" y="0"/>
                    <a:pt x="1308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450850" indent="-342900">
                <a:buClr>
                  <a:schemeClr val="lt1"/>
                </a:buClr>
                <a:buSzPts val="1900"/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Data was collected by web scraping four major </a:t>
              </a:r>
            </a:p>
            <a:p>
              <a:pPr marL="107950">
                <a:buClr>
                  <a:schemeClr val="lt1"/>
                </a:buClr>
                <a:buSzPts val="1900"/>
              </a:pPr>
              <a:r>
                <a:rPr lang="en-US" sz="2000" dirty="0">
                  <a:solidFill>
                    <a:schemeClr val="bg1"/>
                  </a:solidFill>
                </a:rPr>
                <a:t>     Urdu news outlets.</a:t>
              </a:r>
              <a:endParaRPr lang="en-US" sz="1900" dirty="0">
                <a:solidFill>
                  <a:schemeClr val="lt1"/>
                </a:solidFill>
              </a:endParaRPr>
            </a:p>
            <a:p>
              <a:pPr marL="450850" lvl="0" indent="-342900">
                <a:buClr>
                  <a:schemeClr val="lt1"/>
                </a:buClr>
                <a:buSzPts val="1900"/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Articles, titles, and metadata were extracted from each source.</a:t>
              </a:r>
              <a:endParaRPr lang="en-US" sz="1900" dirty="0">
                <a:solidFill>
                  <a:schemeClr val="lt1"/>
                </a:solidFill>
              </a:endParaRPr>
            </a:p>
            <a:p>
              <a:pPr marL="450850" indent="-342900">
                <a:buClr>
                  <a:schemeClr val="lt1"/>
                </a:buClr>
                <a:buSzPts val="1900"/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A custom scraper handled each website's unique HTML structure.</a:t>
              </a:r>
            </a:p>
            <a:p>
              <a:pPr marL="450850" indent="-342900">
                <a:buClr>
                  <a:schemeClr val="lt1"/>
                </a:buClr>
                <a:buSzPts val="1900"/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The collected data was cleaned and stored in a structured dataset. </a:t>
              </a:r>
              <a:endParaRPr lang="en-US" dirty="0">
                <a:solidFill>
                  <a:schemeClr val="bg1"/>
                </a:solidFill>
              </a:endParaRPr>
            </a:p>
            <a:p>
              <a:pPr marL="45085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Arial" panose="020B0604020202020204" pitchFamily="34" charset="0"/>
                <a:buChar char="•"/>
              </a:pPr>
              <a:endParaRPr sz="1900" dirty="0">
                <a:solidFill>
                  <a:schemeClr val="lt1"/>
                </a:solidFill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6A63707-57D3-B22C-3975-40CD5DE37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628" y="2553750"/>
            <a:ext cx="4167264" cy="2778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43E">
                <a:alpha val="57647"/>
              </a:srgbClr>
            </a:gs>
            <a:gs pos="9000">
              <a:srgbClr val="0F243E">
                <a:alpha val="57647"/>
              </a:srgbClr>
            </a:gs>
            <a:gs pos="76000">
              <a:srgbClr val="FEFBF1"/>
            </a:gs>
            <a:gs pos="100000">
              <a:srgbClr val="FFE28B"/>
            </a:gs>
          </a:gsLst>
          <a:lin ang="5400012" scaled="0"/>
        </a:gra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57357f8743_3_90"/>
          <p:cNvSpPr txBox="1"/>
          <p:nvPr/>
        </p:nvSpPr>
        <p:spPr>
          <a:xfrm>
            <a:off x="1408065" y="216547"/>
            <a:ext cx="9562691" cy="769401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Urdu-Specific Text Preprocessing</a:t>
            </a:r>
          </a:p>
        </p:txBody>
      </p:sp>
      <p:pic>
        <p:nvPicPr>
          <p:cNvPr id="236" name="Google Shape;236;g257357f8743_3_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376999" y="2370131"/>
            <a:ext cx="6864867" cy="211086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257357f8743_3_90"/>
          <p:cNvSpPr/>
          <p:nvPr/>
        </p:nvSpPr>
        <p:spPr>
          <a:xfrm>
            <a:off x="6200994" y="1254873"/>
            <a:ext cx="5220000" cy="68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257357f8743_3_90"/>
          <p:cNvSpPr/>
          <p:nvPr/>
        </p:nvSpPr>
        <p:spPr>
          <a:xfrm>
            <a:off x="969411" y="1938873"/>
            <a:ext cx="5220000" cy="684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257357f8743_3_90"/>
          <p:cNvSpPr/>
          <p:nvPr/>
        </p:nvSpPr>
        <p:spPr>
          <a:xfrm>
            <a:off x="6200994" y="2622873"/>
            <a:ext cx="5220000" cy="68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257357f8743_3_90"/>
          <p:cNvSpPr/>
          <p:nvPr/>
        </p:nvSpPr>
        <p:spPr>
          <a:xfrm>
            <a:off x="969411" y="3306873"/>
            <a:ext cx="5220000" cy="684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1" name="Google Shape;241;g257357f8743_3_90"/>
          <p:cNvGrpSpPr/>
          <p:nvPr/>
        </p:nvGrpSpPr>
        <p:grpSpPr>
          <a:xfrm>
            <a:off x="4872372" y="1279118"/>
            <a:ext cx="2700000" cy="2700000"/>
            <a:chOff x="7794000" y="1096324"/>
            <a:chExt cx="2700000" cy="2700000"/>
          </a:xfrm>
        </p:grpSpPr>
        <p:sp>
          <p:nvSpPr>
            <p:cNvPr id="242" name="Google Shape;242;g257357f8743_3_90"/>
            <p:cNvSpPr/>
            <p:nvPr/>
          </p:nvSpPr>
          <p:spPr>
            <a:xfrm>
              <a:off x="7794281" y="1756756"/>
              <a:ext cx="2699438" cy="684000"/>
            </a:xfrm>
            <a:custGeom>
              <a:avLst/>
              <a:gdLst/>
              <a:ahLst/>
              <a:cxnLst/>
              <a:rect l="l" t="t" r="r" b="b"/>
              <a:pathLst>
                <a:path w="2699438" h="684000" extrusionOk="0">
                  <a:moveTo>
                    <a:pt x="190650" y="0"/>
                  </a:moveTo>
                  <a:lnTo>
                    <a:pt x="2508788" y="0"/>
                  </a:lnTo>
                  <a:cubicBezTo>
                    <a:pt x="2629645" y="199728"/>
                    <a:pt x="2698697" y="433837"/>
                    <a:pt x="2699438" y="684000"/>
                  </a:cubicBezTo>
                  <a:lnTo>
                    <a:pt x="0" y="684000"/>
                  </a:lnTo>
                  <a:cubicBezTo>
                    <a:pt x="741" y="433837"/>
                    <a:pt x="69793" y="199728"/>
                    <a:pt x="190650" y="0"/>
                  </a:cubicBez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257357f8743_3_90"/>
            <p:cNvSpPr/>
            <p:nvPr/>
          </p:nvSpPr>
          <p:spPr>
            <a:xfrm>
              <a:off x="7794000" y="2440756"/>
              <a:ext cx="2700000" cy="684000"/>
            </a:xfrm>
            <a:custGeom>
              <a:avLst/>
              <a:gdLst/>
              <a:ahLst/>
              <a:cxnLst/>
              <a:rect l="l" t="t" r="r" b="b"/>
              <a:pathLst>
                <a:path w="2700000" h="684000" extrusionOk="0">
                  <a:moveTo>
                    <a:pt x="281" y="0"/>
                  </a:moveTo>
                  <a:lnTo>
                    <a:pt x="2699719" y="0"/>
                  </a:lnTo>
                  <a:cubicBezTo>
                    <a:pt x="2699996" y="1855"/>
                    <a:pt x="2700000" y="3711"/>
                    <a:pt x="2700000" y="5568"/>
                  </a:cubicBezTo>
                  <a:cubicBezTo>
                    <a:pt x="2700000" y="253162"/>
                    <a:pt x="2633347" y="485188"/>
                    <a:pt x="2515834" y="684000"/>
                  </a:cubicBezTo>
                  <a:lnTo>
                    <a:pt x="184166" y="684000"/>
                  </a:lnTo>
                  <a:cubicBezTo>
                    <a:pt x="66654" y="485188"/>
                    <a:pt x="0" y="253162"/>
                    <a:pt x="0" y="55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257357f8743_3_90"/>
            <p:cNvSpPr/>
            <p:nvPr/>
          </p:nvSpPr>
          <p:spPr>
            <a:xfrm>
              <a:off x="7978166" y="3124756"/>
              <a:ext cx="2331668" cy="671568"/>
            </a:xfrm>
            <a:custGeom>
              <a:avLst/>
              <a:gdLst/>
              <a:ahLst/>
              <a:cxnLst/>
              <a:rect l="l" t="t" r="r" b="b"/>
              <a:pathLst>
                <a:path w="2331668" h="671568" extrusionOk="0">
                  <a:moveTo>
                    <a:pt x="0" y="0"/>
                  </a:moveTo>
                  <a:lnTo>
                    <a:pt x="2331668" y="0"/>
                  </a:lnTo>
                  <a:cubicBezTo>
                    <a:pt x="2098837" y="401928"/>
                    <a:pt x="1663824" y="671568"/>
                    <a:pt x="1165834" y="671568"/>
                  </a:cubicBezTo>
                  <a:cubicBezTo>
                    <a:pt x="667844" y="671568"/>
                    <a:pt x="232831" y="401928"/>
                    <a:pt x="0" y="0"/>
                  </a:cubicBezTo>
                  <a:close/>
                </a:path>
              </a:pathLst>
            </a:custGeom>
            <a:solidFill>
              <a:srgbClr val="1736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257357f8743_3_90"/>
            <p:cNvSpPr/>
            <p:nvPr/>
          </p:nvSpPr>
          <p:spPr>
            <a:xfrm>
              <a:off x="7984931" y="1096324"/>
              <a:ext cx="2318138" cy="660432"/>
            </a:xfrm>
            <a:custGeom>
              <a:avLst/>
              <a:gdLst/>
              <a:ahLst/>
              <a:cxnLst/>
              <a:rect l="l" t="t" r="r" b="b"/>
              <a:pathLst>
                <a:path w="2318138" h="660432" extrusionOk="0">
                  <a:moveTo>
                    <a:pt x="1159069" y="0"/>
                  </a:moveTo>
                  <a:cubicBezTo>
                    <a:pt x="1652397" y="0"/>
                    <a:pt x="2083921" y="264615"/>
                    <a:pt x="2318138" y="660432"/>
                  </a:cubicBezTo>
                  <a:lnTo>
                    <a:pt x="0" y="660432"/>
                  </a:lnTo>
                  <a:cubicBezTo>
                    <a:pt x="234217" y="264615"/>
                    <a:pt x="665741" y="0"/>
                    <a:pt x="1159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g257357f8743_3_90"/>
          <p:cNvSpPr txBox="1"/>
          <p:nvPr/>
        </p:nvSpPr>
        <p:spPr>
          <a:xfrm>
            <a:off x="6852213" y="1291205"/>
            <a:ext cx="4619400" cy="70784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Urdu script and characters were normalized.</a:t>
            </a:r>
          </a:p>
        </p:txBody>
      </p:sp>
      <p:sp>
        <p:nvSpPr>
          <p:cNvPr id="247" name="Google Shape;247;g257357f8743_3_90"/>
          <p:cNvSpPr txBox="1"/>
          <p:nvPr/>
        </p:nvSpPr>
        <p:spPr>
          <a:xfrm>
            <a:off x="1014385" y="1949148"/>
            <a:ext cx="491851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</a:rPr>
              <a:t>Language-specific noise and artifacts were removed.</a:t>
            </a:r>
            <a:endParaRPr sz="20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257357f8743_3_90"/>
          <p:cNvSpPr txBox="1"/>
          <p:nvPr/>
        </p:nvSpPr>
        <p:spPr>
          <a:xfrm>
            <a:off x="6852213" y="2622196"/>
            <a:ext cx="4619400" cy="70784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</a:rPr>
              <a:t>A list of Urdu </a:t>
            </a:r>
            <a:r>
              <a:rPr lang="en-US" sz="2000" b="1" dirty="0" err="1">
                <a:solidFill>
                  <a:schemeClr val="bg1"/>
                </a:solidFill>
              </a:rPr>
              <a:t>stopwords</a:t>
            </a:r>
            <a:r>
              <a:rPr lang="en-US" sz="2000" b="1" dirty="0">
                <a:solidFill>
                  <a:schemeClr val="bg1"/>
                </a:solidFill>
              </a:rPr>
              <a:t> was applied.</a:t>
            </a:r>
            <a:endParaRPr sz="20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257357f8743_3_90"/>
          <p:cNvSpPr txBox="1"/>
          <p:nvPr/>
        </p:nvSpPr>
        <p:spPr>
          <a:xfrm>
            <a:off x="925242" y="3325093"/>
            <a:ext cx="4353900" cy="707846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</a:rPr>
              <a:t>Text was filtered for Urdu content quality.</a:t>
            </a:r>
            <a:endParaRPr sz="20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257357f8743_3_90"/>
          <p:cNvSpPr/>
          <p:nvPr/>
        </p:nvSpPr>
        <p:spPr>
          <a:xfrm>
            <a:off x="2764744" y="4856944"/>
            <a:ext cx="1417800" cy="141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257357f8743_3_90"/>
          <p:cNvSpPr/>
          <p:nvPr/>
        </p:nvSpPr>
        <p:spPr>
          <a:xfrm>
            <a:off x="4182578" y="4856944"/>
            <a:ext cx="1417800" cy="141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257357f8743_3_90"/>
          <p:cNvSpPr/>
          <p:nvPr/>
        </p:nvSpPr>
        <p:spPr>
          <a:xfrm>
            <a:off x="5600412" y="4856944"/>
            <a:ext cx="1417800" cy="141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257357f8743_3_90"/>
          <p:cNvSpPr/>
          <p:nvPr/>
        </p:nvSpPr>
        <p:spPr>
          <a:xfrm>
            <a:off x="7018246" y="4856944"/>
            <a:ext cx="1417800" cy="14178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257357f8743_3_90"/>
          <p:cNvSpPr/>
          <p:nvPr/>
        </p:nvSpPr>
        <p:spPr>
          <a:xfrm>
            <a:off x="8436080" y="4856944"/>
            <a:ext cx="1417800" cy="141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257357f8743_3_90"/>
          <p:cNvSpPr txBox="1"/>
          <p:nvPr/>
        </p:nvSpPr>
        <p:spPr>
          <a:xfrm>
            <a:off x="2804839" y="5496645"/>
            <a:ext cx="108450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lt1"/>
                </a:solidFill>
              </a:rPr>
              <a:t>NORMALIZE</a:t>
            </a:r>
            <a:endParaRPr sz="11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257357f8743_3_90"/>
          <p:cNvSpPr txBox="1"/>
          <p:nvPr/>
        </p:nvSpPr>
        <p:spPr>
          <a:xfrm>
            <a:off x="4150195" y="5427362"/>
            <a:ext cx="14034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endParaRPr sz="1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257357f8743_3_90"/>
          <p:cNvSpPr txBox="1"/>
          <p:nvPr/>
        </p:nvSpPr>
        <p:spPr>
          <a:xfrm>
            <a:off x="5756871" y="5442784"/>
            <a:ext cx="1236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endParaRPr sz="1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257357f8743_3_90"/>
          <p:cNvSpPr txBox="1"/>
          <p:nvPr/>
        </p:nvSpPr>
        <p:spPr>
          <a:xfrm>
            <a:off x="7167063" y="5427362"/>
            <a:ext cx="108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endParaRPr sz="1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257357f8743_3_90"/>
          <p:cNvSpPr txBox="1"/>
          <p:nvPr/>
        </p:nvSpPr>
        <p:spPr>
          <a:xfrm>
            <a:off x="8584897" y="5475017"/>
            <a:ext cx="108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</a:rPr>
              <a:t>Prepare</a:t>
            </a:r>
            <a:endParaRPr sz="1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257357f8743_3_90"/>
          <p:cNvSpPr/>
          <p:nvPr/>
        </p:nvSpPr>
        <p:spPr>
          <a:xfrm>
            <a:off x="8182228" y="5555430"/>
            <a:ext cx="419700" cy="14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12700" cap="flat" cmpd="sng">
            <a:solidFill>
              <a:srgbClr val="3130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257357f8743_3_90"/>
          <p:cNvSpPr/>
          <p:nvPr/>
        </p:nvSpPr>
        <p:spPr>
          <a:xfrm>
            <a:off x="6882753" y="5540042"/>
            <a:ext cx="419700" cy="14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12700" cap="flat" cmpd="sng">
            <a:solidFill>
              <a:srgbClr val="3130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257357f8743_3_90"/>
          <p:cNvSpPr/>
          <p:nvPr/>
        </p:nvSpPr>
        <p:spPr>
          <a:xfrm>
            <a:off x="5433915" y="5582519"/>
            <a:ext cx="419700" cy="14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12700" cap="flat" cmpd="sng">
            <a:solidFill>
              <a:srgbClr val="3130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257357f8743_3_90"/>
          <p:cNvSpPr/>
          <p:nvPr/>
        </p:nvSpPr>
        <p:spPr>
          <a:xfrm>
            <a:off x="3861658" y="5587697"/>
            <a:ext cx="419700" cy="14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12700" cap="flat" cmpd="sng">
            <a:solidFill>
              <a:srgbClr val="3130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257357f8743_3_90"/>
          <p:cNvSpPr/>
          <p:nvPr/>
        </p:nvSpPr>
        <p:spPr>
          <a:xfrm>
            <a:off x="6034546" y="2125469"/>
            <a:ext cx="333300" cy="315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257357f8743_3_90"/>
          <p:cNvSpPr/>
          <p:nvPr/>
        </p:nvSpPr>
        <p:spPr>
          <a:xfrm>
            <a:off x="6057058" y="2745150"/>
            <a:ext cx="333300" cy="315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257357f8743_3_90"/>
          <p:cNvSpPr/>
          <p:nvPr/>
        </p:nvSpPr>
        <p:spPr>
          <a:xfrm>
            <a:off x="6058422" y="3402010"/>
            <a:ext cx="333300" cy="315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257357f8743_3_90"/>
          <p:cNvSpPr/>
          <p:nvPr/>
        </p:nvSpPr>
        <p:spPr>
          <a:xfrm>
            <a:off x="6034546" y="1479074"/>
            <a:ext cx="333300" cy="315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43E">
                <a:alpha val="57647"/>
              </a:srgbClr>
            </a:gs>
            <a:gs pos="9000">
              <a:srgbClr val="0F243E">
                <a:alpha val="57647"/>
              </a:srgbClr>
            </a:gs>
            <a:gs pos="76000">
              <a:srgbClr val="FEFBF1"/>
            </a:gs>
            <a:gs pos="100000">
              <a:srgbClr val="FFE28B"/>
            </a:gs>
          </a:gsLst>
          <a:lin ang="5400012" scaled="0"/>
        </a:gra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57357f8743_3_13"/>
          <p:cNvSpPr txBox="1"/>
          <p:nvPr/>
        </p:nvSpPr>
        <p:spPr>
          <a:xfrm>
            <a:off x="1613558" y="303607"/>
            <a:ext cx="9968841" cy="830956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</a:rPr>
              <a:t>Machine Learning Models </a:t>
            </a:r>
            <a:endParaRPr sz="48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g257357f8743_3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376999" y="2370131"/>
            <a:ext cx="6864867" cy="2110868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257357f8743_3_13"/>
          <p:cNvSpPr/>
          <p:nvPr/>
        </p:nvSpPr>
        <p:spPr>
          <a:xfrm>
            <a:off x="2585301" y="1572800"/>
            <a:ext cx="8342616" cy="4770890"/>
          </a:xfrm>
          <a:custGeom>
            <a:avLst/>
            <a:gdLst/>
            <a:ahLst/>
            <a:cxnLst/>
            <a:rect l="l" t="t" r="r" b="b"/>
            <a:pathLst>
              <a:path w="1881086" h="3024336" extrusionOk="0">
                <a:moveTo>
                  <a:pt x="130869" y="0"/>
                </a:moveTo>
                <a:lnTo>
                  <a:pt x="1453307" y="0"/>
                </a:lnTo>
                <a:cubicBezTo>
                  <a:pt x="1525584" y="0"/>
                  <a:pt x="1584176" y="58592"/>
                  <a:pt x="1584176" y="130869"/>
                </a:cubicBezTo>
                <a:lnTo>
                  <a:pt x="1584176" y="131000"/>
                </a:lnTo>
                <a:lnTo>
                  <a:pt x="1881086" y="1538919"/>
                </a:lnTo>
                <a:lnTo>
                  <a:pt x="1574806" y="2954053"/>
                </a:lnTo>
                <a:lnTo>
                  <a:pt x="1574806" y="2939881"/>
                </a:lnTo>
                <a:cubicBezTo>
                  <a:pt x="1556783" y="2989390"/>
                  <a:pt x="1509126" y="3024336"/>
                  <a:pt x="1453307" y="3024336"/>
                </a:cubicBezTo>
                <a:lnTo>
                  <a:pt x="856139" y="3024336"/>
                </a:lnTo>
                <a:lnTo>
                  <a:pt x="0" y="2171589"/>
                </a:lnTo>
                <a:lnTo>
                  <a:pt x="0" y="130869"/>
                </a:lnTo>
                <a:cubicBezTo>
                  <a:pt x="0" y="58592"/>
                  <a:pt x="58592" y="0"/>
                  <a:pt x="1308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350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r>
              <a:rPr lang="en-US" sz="2200" dirty="0">
                <a:solidFill>
                  <a:schemeClr val="dk1"/>
                </a:solidFill>
              </a:rPr>
              <a:t>o</a:t>
            </a:r>
            <a:endParaRPr sz="22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lt1"/>
              </a:solidFill>
            </a:endParaRPr>
          </a:p>
        </p:txBody>
      </p:sp>
      <p:sp>
        <p:nvSpPr>
          <p:cNvPr id="5" name="Google Shape;352;g257357f8743_3_27"/>
          <p:cNvSpPr txBox="1"/>
          <p:nvPr/>
        </p:nvSpPr>
        <p:spPr>
          <a:xfrm>
            <a:off x="2685352" y="3081102"/>
            <a:ext cx="7607147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46100" lvl="0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400" b="1" dirty="0">
                <a:solidFill>
                  <a:schemeClr val="bg1"/>
                </a:solidFill>
              </a:rPr>
              <a:t>Implemented </a:t>
            </a:r>
            <a:r>
              <a:rPr lang="en-US" sz="2400" b="1" dirty="0" err="1">
                <a:solidFill>
                  <a:schemeClr val="bg1"/>
                </a:solidFill>
              </a:rPr>
              <a:t>XGBoost</a:t>
            </a:r>
            <a:r>
              <a:rPr lang="en-US" sz="2400" b="1" dirty="0">
                <a:solidFill>
                  <a:schemeClr val="bg1"/>
                </a:solidFill>
              </a:rPr>
              <a:t>, Random Forest, SVM, Logistic Regression, and Naïve Bayes using TF-IDF features.</a:t>
            </a:r>
          </a:p>
        </p:txBody>
      </p:sp>
    </p:spTree>
    <p:extLst>
      <p:ext uri="{BB962C8B-B14F-4D97-AF65-F5344CB8AC3E}">
        <p14:creationId xmlns:p14="http://schemas.microsoft.com/office/powerpoint/2010/main" val="3788711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43E">
                <a:alpha val="57647"/>
              </a:srgbClr>
            </a:gs>
            <a:gs pos="9000">
              <a:srgbClr val="0F243E">
                <a:alpha val="57647"/>
              </a:srgbClr>
            </a:gs>
            <a:gs pos="76000">
              <a:srgbClr val="FEFBF1"/>
            </a:gs>
            <a:gs pos="100000">
              <a:srgbClr val="FFE28B"/>
            </a:gs>
          </a:gsLst>
          <a:lin ang="5400012" scaled="0"/>
        </a:gradFill>
        <a:effectLst/>
      </p:bgPr>
    </p:bg>
    <p:spTree>
      <p:nvGrpSpPr>
        <p:cNvPr id="1" name="Shape 340">
          <a:extLst>
            <a:ext uri="{FF2B5EF4-FFF2-40B4-BE49-F238E27FC236}">
              <a16:creationId xmlns:a16="http://schemas.microsoft.com/office/drawing/2014/main" id="{F00A9D14-B5CD-F549-8312-573BB94F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57357f8743_3_13">
            <a:extLst>
              <a:ext uri="{FF2B5EF4-FFF2-40B4-BE49-F238E27FC236}">
                <a16:creationId xmlns:a16="http://schemas.microsoft.com/office/drawing/2014/main" id="{46F489F1-3C53-5876-C36C-753586CAC500}"/>
              </a:ext>
            </a:extLst>
          </p:cNvPr>
          <p:cNvSpPr txBox="1"/>
          <p:nvPr/>
        </p:nvSpPr>
        <p:spPr>
          <a:xfrm>
            <a:off x="1613558" y="303607"/>
            <a:ext cx="9968841" cy="830956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</a:rPr>
              <a:t>Deep Learning Models </a:t>
            </a:r>
            <a:endParaRPr sz="48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g257357f8743_3_13">
            <a:extLst>
              <a:ext uri="{FF2B5EF4-FFF2-40B4-BE49-F238E27FC236}">
                <a16:creationId xmlns:a16="http://schemas.microsoft.com/office/drawing/2014/main" id="{CB01CEFC-42F2-B779-E34F-92AEFC52D8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376999" y="2370131"/>
            <a:ext cx="6864867" cy="2110868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257357f8743_3_13">
            <a:extLst>
              <a:ext uri="{FF2B5EF4-FFF2-40B4-BE49-F238E27FC236}">
                <a16:creationId xmlns:a16="http://schemas.microsoft.com/office/drawing/2014/main" id="{DF0622F6-08C9-7479-0C48-A659C955F142}"/>
              </a:ext>
            </a:extLst>
          </p:cNvPr>
          <p:cNvSpPr/>
          <p:nvPr/>
        </p:nvSpPr>
        <p:spPr>
          <a:xfrm>
            <a:off x="2585301" y="1572800"/>
            <a:ext cx="8342616" cy="4770890"/>
          </a:xfrm>
          <a:custGeom>
            <a:avLst/>
            <a:gdLst/>
            <a:ahLst/>
            <a:cxnLst/>
            <a:rect l="l" t="t" r="r" b="b"/>
            <a:pathLst>
              <a:path w="1881086" h="3024336" extrusionOk="0">
                <a:moveTo>
                  <a:pt x="130869" y="0"/>
                </a:moveTo>
                <a:lnTo>
                  <a:pt x="1453307" y="0"/>
                </a:lnTo>
                <a:cubicBezTo>
                  <a:pt x="1525584" y="0"/>
                  <a:pt x="1584176" y="58592"/>
                  <a:pt x="1584176" y="130869"/>
                </a:cubicBezTo>
                <a:lnTo>
                  <a:pt x="1584176" y="131000"/>
                </a:lnTo>
                <a:lnTo>
                  <a:pt x="1881086" y="1538919"/>
                </a:lnTo>
                <a:lnTo>
                  <a:pt x="1574806" y="2954053"/>
                </a:lnTo>
                <a:lnTo>
                  <a:pt x="1574806" y="2939881"/>
                </a:lnTo>
                <a:cubicBezTo>
                  <a:pt x="1556783" y="2989390"/>
                  <a:pt x="1509126" y="3024336"/>
                  <a:pt x="1453307" y="3024336"/>
                </a:cubicBezTo>
                <a:lnTo>
                  <a:pt x="856139" y="3024336"/>
                </a:lnTo>
                <a:lnTo>
                  <a:pt x="0" y="2171589"/>
                </a:lnTo>
                <a:lnTo>
                  <a:pt x="0" y="130869"/>
                </a:lnTo>
                <a:cubicBezTo>
                  <a:pt x="0" y="58592"/>
                  <a:pt x="58592" y="0"/>
                  <a:pt x="1308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350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r>
              <a:rPr lang="en-US" sz="2200" dirty="0">
                <a:solidFill>
                  <a:schemeClr val="dk1"/>
                </a:solidFill>
              </a:rPr>
              <a:t>o</a:t>
            </a:r>
            <a:endParaRPr sz="22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lt1"/>
              </a:solidFill>
            </a:endParaRPr>
          </a:p>
        </p:txBody>
      </p:sp>
      <p:sp>
        <p:nvSpPr>
          <p:cNvPr id="5" name="Google Shape;352;g257357f8743_3_27">
            <a:extLst>
              <a:ext uri="{FF2B5EF4-FFF2-40B4-BE49-F238E27FC236}">
                <a16:creationId xmlns:a16="http://schemas.microsoft.com/office/drawing/2014/main" id="{7DDFA348-676B-57CF-855D-FDFDAE49514B}"/>
              </a:ext>
            </a:extLst>
          </p:cNvPr>
          <p:cNvSpPr txBox="1"/>
          <p:nvPr/>
        </p:nvSpPr>
        <p:spPr>
          <a:xfrm>
            <a:off x="2936854" y="3119138"/>
            <a:ext cx="7322248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46100" lvl="0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400" b="1" dirty="0">
                <a:solidFill>
                  <a:schemeClr val="bg1"/>
                </a:solidFill>
              </a:rPr>
              <a:t>Built and trained </a:t>
            </a:r>
            <a:r>
              <a:rPr lang="en-US" sz="2400" b="1" dirty="0" err="1">
                <a:solidFill>
                  <a:schemeClr val="bg1"/>
                </a:solidFill>
              </a:rPr>
              <a:t>BiLSTM</a:t>
            </a:r>
            <a:r>
              <a:rPr lang="en-US" sz="2400" b="1" dirty="0">
                <a:solidFill>
                  <a:schemeClr val="bg1"/>
                </a:solidFill>
              </a:rPr>
              <a:t>, CNN, a Hybrid CNN-</a:t>
            </a:r>
            <a:r>
              <a:rPr lang="en-US" sz="2400" b="1" dirty="0" err="1">
                <a:solidFill>
                  <a:schemeClr val="bg1"/>
                </a:solidFill>
              </a:rPr>
              <a:t>BiLSTM</a:t>
            </a:r>
            <a:r>
              <a:rPr lang="en-US" sz="2400" b="1" dirty="0">
                <a:solidFill>
                  <a:schemeClr val="bg1"/>
                </a:solidFill>
              </a:rPr>
              <a:t>, and a </a:t>
            </a:r>
            <a:r>
              <a:rPr lang="en-US" sz="2400" b="1" dirty="0" err="1">
                <a:solidFill>
                  <a:schemeClr val="bg1"/>
                </a:solidFill>
              </a:rPr>
              <a:t>BiLSTM</a:t>
            </a:r>
            <a:r>
              <a:rPr lang="en-US" sz="2400" b="1" dirty="0">
                <a:solidFill>
                  <a:schemeClr val="bg1"/>
                </a:solidFill>
              </a:rPr>
              <a:t> model with an Attention mechanism.</a:t>
            </a:r>
          </a:p>
        </p:txBody>
      </p:sp>
    </p:spTree>
    <p:extLst>
      <p:ext uri="{BB962C8B-B14F-4D97-AF65-F5344CB8AC3E}">
        <p14:creationId xmlns:p14="http://schemas.microsoft.com/office/powerpoint/2010/main" val="467734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B3B3B3"/>
            </a:gs>
          </a:gsLst>
          <a:lin ang="5400012" scaled="0"/>
        </a:gra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"/>
          <p:cNvSpPr txBox="1"/>
          <p:nvPr/>
        </p:nvSpPr>
        <p:spPr>
          <a:xfrm>
            <a:off x="2673298" y="589413"/>
            <a:ext cx="6511800" cy="831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</a:rPr>
              <a:t>RESULTS</a:t>
            </a:r>
            <a:endParaRPr sz="48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377000" y="2370131"/>
            <a:ext cx="6864868" cy="2110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415595-315B-4F4A-468E-7C2A0B794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41" y="1882106"/>
            <a:ext cx="11439518" cy="438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4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43E">
                <a:alpha val="57647"/>
              </a:srgbClr>
            </a:gs>
            <a:gs pos="9000">
              <a:srgbClr val="0F243E">
                <a:alpha val="57647"/>
              </a:srgbClr>
            </a:gs>
            <a:gs pos="76000">
              <a:srgbClr val="FEFBF1"/>
            </a:gs>
            <a:gs pos="100000">
              <a:srgbClr val="FFE28B"/>
            </a:gs>
          </a:gsLst>
          <a:lin ang="5400012" scaled="0"/>
        </a:gra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57357f8743_5_56"/>
          <p:cNvSpPr txBox="1"/>
          <p:nvPr/>
        </p:nvSpPr>
        <p:spPr>
          <a:xfrm>
            <a:off x="2028779" y="267338"/>
            <a:ext cx="8127591" cy="830956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ROC Curves</a:t>
            </a:r>
            <a:endParaRPr sz="48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985EEB-77BD-590F-5A9A-F520BAE16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26" y="1599225"/>
            <a:ext cx="5253484" cy="41965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F822E7-AD8A-B124-FE8A-C24A2E8F5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390" y="1433506"/>
            <a:ext cx="5253484" cy="4527962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B06014-6F10-63AF-4C1F-F215C3FA93D5}"/>
              </a:ext>
            </a:extLst>
          </p:cNvPr>
          <p:cNvSpPr/>
          <p:nvPr/>
        </p:nvSpPr>
        <p:spPr>
          <a:xfrm>
            <a:off x="623910" y="5054600"/>
            <a:ext cx="936579" cy="69959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F1E38E-0569-4180-D802-A4209EB39EC4}"/>
              </a:ext>
            </a:extLst>
          </p:cNvPr>
          <p:cNvSpPr/>
          <p:nvPr/>
        </p:nvSpPr>
        <p:spPr>
          <a:xfrm>
            <a:off x="7291410" y="5261875"/>
            <a:ext cx="1166790" cy="69959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43E">
                <a:alpha val="57647"/>
              </a:srgbClr>
            </a:gs>
            <a:gs pos="9000">
              <a:srgbClr val="0F243E">
                <a:alpha val="57647"/>
              </a:srgbClr>
            </a:gs>
            <a:gs pos="76000">
              <a:srgbClr val="FEFBF1"/>
            </a:gs>
            <a:gs pos="100000">
              <a:srgbClr val="FFE28B"/>
            </a:gs>
          </a:gsLst>
          <a:lin ang="5400012" scaled="0"/>
        </a:gradFill>
        <a:effectLst/>
      </p:bgPr>
    </p:bg>
    <p:spTree>
      <p:nvGrpSpPr>
        <p:cNvPr id="1" name="Shape 382">
          <a:extLst>
            <a:ext uri="{FF2B5EF4-FFF2-40B4-BE49-F238E27FC236}">
              <a16:creationId xmlns:a16="http://schemas.microsoft.com/office/drawing/2014/main" id="{369FCF5B-3297-CA6C-FED6-26DA04088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57357f8743_5_93">
            <a:extLst>
              <a:ext uri="{FF2B5EF4-FFF2-40B4-BE49-F238E27FC236}">
                <a16:creationId xmlns:a16="http://schemas.microsoft.com/office/drawing/2014/main" id="{090345E3-E82A-07A9-21BE-BC4FDDDF9C35}"/>
              </a:ext>
            </a:extLst>
          </p:cNvPr>
          <p:cNvSpPr txBox="1"/>
          <p:nvPr/>
        </p:nvSpPr>
        <p:spPr>
          <a:xfrm>
            <a:off x="2919845" y="308581"/>
            <a:ext cx="6511800" cy="831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48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g257357f8743_5_93">
            <a:extLst>
              <a:ext uri="{FF2B5EF4-FFF2-40B4-BE49-F238E27FC236}">
                <a16:creationId xmlns:a16="http://schemas.microsoft.com/office/drawing/2014/main" id="{C8F56513-2745-BBC2-D6FD-59415F1006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376999" y="2370131"/>
            <a:ext cx="6864867" cy="2110868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257357f8743_5_93">
            <a:extLst>
              <a:ext uri="{FF2B5EF4-FFF2-40B4-BE49-F238E27FC236}">
                <a16:creationId xmlns:a16="http://schemas.microsoft.com/office/drawing/2014/main" id="{C6C46DD5-D8E9-E521-DBEF-271E7F31D7E8}"/>
              </a:ext>
            </a:extLst>
          </p:cNvPr>
          <p:cNvSpPr/>
          <p:nvPr/>
        </p:nvSpPr>
        <p:spPr>
          <a:xfrm>
            <a:off x="2585300" y="1572800"/>
            <a:ext cx="7895858" cy="4347483"/>
          </a:xfrm>
          <a:custGeom>
            <a:avLst/>
            <a:gdLst/>
            <a:ahLst/>
            <a:cxnLst/>
            <a:rect l="l" t="t" r="r" b="b"/>
            <a:pathLst>
              <a:path w="1881086" h="3024336" extrusionOk="0">
                <a:moveTo>
                  <a:pt x="130869" y="0"/>
                </a:moveTo>
                <a:lnTo>
                  <a:pt x="1453307" y="0"/>
                </a:lnTo>
                <a:cubicBezTo>
                  <a:pt x="1525584" y="0"/>
                  <a:pt x="1584176" y="58592"/>
                  <a:pt x="1584176" y="130869"/>
                </a:cubicBezTo>
                <a:lnTo>
                  <a:pt x="1584176" y="131000"/>
                </a:lnTo>
                <a:lnTo>
                  <a:pt x="1881086" y="1538919"/>
                </a:lnTo>
                <a:lnTo>
                  <a:pt x="1574806" y="2954053"/>
                </a:lnTo>
                <a:lnTo>
                  <a:pt x="1574806" y="2939881"/>
                </a:lnTo>
                <a:cubicBezTo>
                  <a:pt x="1556783" y="2989390"/>
                  <a:pt x="1509126" y="3024336"/>
                  <a:pt x="1453307" y="3024336"/>
                </a:cubicBezTo>
                <a:lnTo>
                  <a:pt x="856139" y="3024336"/>
                </a:lnTo>
                <a:lnTo>
                  <a:pt x="0" y="2171589"/>
                </a:lnTo>
                <a:lnTo>
                  <a:pt x="0" y="130869"/>
                </a:lnTo>
                <a:cubicBezTo>
                  <a:pt x="0" y="58592"/>
                  <a:pt x="58592" y="0"/>
                  <a:pt x="1308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46100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000" b="1" dirty="0">
                <a:solidFill>
                  <a:schemeClr val="bg1"/>
                </a:solidFill>
              </a:rPr>
              <a:t>Ensemble ML models, especially </a:t>
            </a:r>
            <a:r>
              <a:rPr lang="en-US" sz="2000" b="1" dirty="0" err="1">
                <a:solidFill>
                  <a:schemeClr val="bg1"/>
                </a:solidFill>
              </a:rPr>
              <a:t>XGBoost</a:t>
            </a:r>
            <a:r>
              <a:rPr lang="en-US" sz="2000" b="1" dirty="0">
                <a:solidFill>
                  <a:schemeClr val="bg1"/>
                </a:solidFill>
              </a:rPr>
              <a:t>, </a:t>
            </a:r>
          </a:p>
          <a:p>
            <a:pPr marL="546100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000" b="1" dirty="0">
                <a:solidFill>
                  <a:schemeClr val="bg1"/>
                </a:solidFill>
              </a:rPr>
              <a:t>delivered the best performance for this task.</a:t>
            </a:r>
          </a:p>
          <a:p>
            <a:pPr marL="546100">
              <a:lnSpc>
                <a:spcPct val="150000"/>
              </a:lnSpc>
              <a:buClr>
                <a:schemeClr val="lt1"/>
              </a:buClr>
              <a:buSzPts val="2200"/>
            </a:pP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Deep Learning models showed potential with</a:t>
            </a:r>
          </a:p>
          <a:p>
            <a:pPr marL="546100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000" b="1" dirty="0">
                <a:solidFill>
                  <a:schemeClr val="bg1"/>
                </a:solidFill>
              </a:rPr>
              <a:t> high recall but were limited by dataset size.</a:t>
            </a:r>
          </a:p>
          <a:p>
            <a:pPr marL="546100">
              <a:lnSpc>
                <a:spcPct val="150000"/>
              </a:lnSpc>
              <a:buClr>
                <a:schemeClr val="lt1"/>
              </a:buClr>
              <a:buSzPts val="2200"/>
            </a:pPr>
            <a:endParaRPr lang="en-US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7153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43E">
                <a:alpha val="57647"/>
              </a:srgbClr>
            </a:gs>
            <a:gs pos="9000">
              <a:srgbClr val="0F243E">
                <a:alpha val="57647"/>
              </a:srgbClr>
            </a:gs>
            <a:gs pos="76000">
              <a:srgbClr val="FEFBF1"/>
            </a:gs>
            <a:gs pos="100000">
              <a:srgbClr val="FFE28B"/>
            </a:gs>
          </a:gsLst>
          <a:lin ang="5400012" scaled="0"/>
        </a:gra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57357f8743_5_93"/>
          <p:cNvSpPr txBox="1"/>
          <p:nvPr/>
        </p:nvSpPr>
        <p:spPr>
          <a:xfrm>
            <a:off x="2919845" y="308581"/>
            <a:ext cx="6511800" cy="831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48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g257357f8743_5_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376999" y="2370131"/>
            <a:ext cx="6864867" cy="2110868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257357f8743_5_93"/>
          <p:cNvSpPr/>
          <p:nvPr/>
        </p:nvSpPr>
        <p:spPr>
          <a:xfrm>
            <a:off x="2585300" y="1572800"/>
            <a:ext cx="7895858" cy="4347483"/>
          </a:xfrm>
          <a:custGeom>
            <a:avLst/>
            <a:gdLst/>
            <a:ahLst/>
            <a:cxnLst/>
            <a:rect l="l" t="t" r="r" b="b"/>
            <a:pathLst>
              <a:path w="1881086" h="3024336" extrusionOk="0">
                <a:moveTo>
                  <a:pt x="130869" y="0"/>
                </a:moveTo>
                <a:lnTo>
                  <a:pt x="1453307" y="0"/>
                </a:lnTo>
                <a:cubicBezTo>
                  <a:pt x="1525584" y="0"/>
                  <a:pt x="1584176" y="58592"/>
                  <a:pt x="1584176" y="130869"/>
                </a:cubicBezTo>
                <a:lnTo>
                  <a:pt x="1584176" y="131000"/>
                </a:lnTo>
                <a:lnTo>
                  <a:pt x="1881086" y="1538919"/>
                </a:lnTo>
                <a:lnTo>
                  <a:pt x="1574806" y="2954053"/>
                </a:lnTo>
                <a:lnTo>
                  <a:pt x="1574806" y="2939881"/>
                </a:lnTo>
                <a:cubicBezTo>
                  <a:pt x="1556783" y="2989390"/>
                  <a:pt x="1509126" y="3024336"/>
                  <a:pt x="1453307" y="3024336"/>
                </a:cubicBezTo>
                <a:lnTo>
                  <a:pt x="856139" y="3024336"/>
                </a:lnTo>
                <a:lnTo>
                  <a:pt x="0" y="2171589"/>
                </a:lnTo>
                <a:lnTo>
                  <a:pt x="0" y="130869"/>
                </a:lnTo>
                <a:cubicBezTo>
                  <a:pt x="0" y="58592"/>
                  <a:pt x="58592" y="0"/>
                  <a:pt x="13086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46100">
              <a:lnSpc>
                <a:spcPct val="150000"/>
              </a:lnSpc>
              <a:buClr>
                <a:schemeClr val="lt1"/>
              </a:buClr>
              <a:buSzPts val="2200"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Future work should expand the dataset and explore advanced transformer models for improvement.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43E">
                <a:alpha val="57647"/>
              </a:srgbClr>
            </a:gs>
            <a:gs pos="9000">
              <a:srgbClr val="0F243E">
                <a:alpha val="57647"/>
              </a:srgbClr>
            </a:gs>
            <a:gs pos="76000">
              <a:srgbClr val="FEFBF1"/>
            </a:gs>
            <a:gs pos="100000">
              <a:srgbClr val="FFE28B"/>
            </a:gs>
          </a:gsLst>
          <a:lin ang="5400000" scaled="0"/>
        </a:gra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2377000" y="2370131"/>
            <a:ext cx="6864868" cy="2110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3042" y="1814898"/>
            <a:ext cx="9054426" cy="3079986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4"/>
          <p:cNvSpPr txBox="1"/>
          <p:nvPr/>
        </p:nvSpPr>
        <p:spPr>
          <a:xfrm>
            <a:off x="4533363" y="3475741"/>
            <a:ext cx="305392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08_Key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494B69"/>
      </a:accent1>
      <a:accent2>
        <a:srgbClr val="695D7A"/>
      </a:accent2>
      <a:accent3>
        <a:srgbClr val="9F5B72"/>
      </a:accent3>
      <a:accent4>
        <a:srgbClr val="D8707C"/>
      </a:accent4>
      <a:accent5>
        <a:srgbClr val="FDA85A"/>
      </a:accent5>
      <a:accent6>
        <a:srgbClr val="FDCD5A"/>
      </a:accent6>
      <a:hlink>
        <a:srgbClr val="FFFFFF"/>
      </a:hlink>
      <a:folHlink>
        <a:srgbClr val="59595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efault Theme">
  <a:themeElements>
    <a:clrScheme name="08_Key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494B69"/>
      </a:accent1>
      <a:accent2>
        <a:srgbClr val="695D7A"/>
      </a:accent2>
      <a:accent3>
        <a:srgbClr val="9F5B72"/>
      </a:accent3>
      <a:accent4>
        <a:srgbClr val="D8707C"/>
      </a:accent4>
      <a:accent5>
        <a:srgbClr val="FDA85A"/>
      </a:accent5>
      <a:accent6>
        <a:srgbClr val="FDCD5A"/>
      </a:accent6>
      <a:hlink>
        <a:srgbClr val="FFFFFF"/>
      </a:hlink>
      <a:folHlink>
        <a:srgbClr val="59595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tents Slide Master">
  <a:themeElements>
    <a:clrScheme name="ALLPPT-507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44342"/>
      </a:accent1>
      <a:accent2>
        <a:srgbClr val="FFC000"/>
      </a:accent2>
      <a:accent3>
        <a:srgbClr val="444342"/>
      </a:accent3>
      <a:accent4>
        <a:srgbClr val="FFC000"/>
      </a:accent4>
      <a:accent5>
        <a:srgbClr val="444342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2094</TotalTime>
  <Words>313</Words>
  <Application>Microsoft Office PowerPoint</Application>
  <PresentationFormat>Widescreen</PresentationFormat>
  <Paragraphs>77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Noto Sans Symbols</vt:lpstr>
      <vt:lpstr>Calibri</vt:lpstr>
      <vt:lpstr>Arial</vt:lpstr>
      <vt:lpstr>Roboto</vt:lpstr>
      <vt:lpstr>Open Sans</vt:lpstr>
      <vt:lpstr>Times New Roman</vt:lpstr>
      <vt:lpstr>Default Theme</vt:lpstr>
      <vt:lpstr>1_Default Theme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Muhammad Ahmer</cp:lastModifiedBy>
  <cp:revision>51</cp:revision>
  <dcterms:created xsi:type="dcterms:W3CDTF">2023-05-17T00:06:25Z</dcterms:created>
  <dcterms:modified xsi:type="dcterms:W3CDTF">2025-12-03T10:26:21Z</dcterms:modified>
</cp:coreProperties>
</file>